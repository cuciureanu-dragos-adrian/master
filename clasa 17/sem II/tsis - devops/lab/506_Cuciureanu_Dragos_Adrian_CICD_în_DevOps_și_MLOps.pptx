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lexandria Bold" charset="1" panose="00000000000000000000"/>
      <p:regular r:id="rId25"/>
    </p:embeddedFont>
    <p:embeddedFont>
      <p:font typeface="Garet" charset="1" panose="00000000000000000000"/>
      <p:regular r:id="rId26"/>
    </p:embeddedFont>
    <p:embeddedFont>
      <p:font typeface="Garet Bold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4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evidentlyai.com/ml-in-production/model-monitoring" TargetMode="External" Type="http://schemas.openxmlformats.org/officeDocument/2006/relationships/hyperlink"/><Relationship Id="rId11" Target="https://www.kubeflow.org/docs/started/architecture/" TargetMode="External" Type="http://schemas.openxmlformats.org/officeDocument/2006/relationships/hyperlink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www.civo.com/blog/the-role-of-the-ci-cd-pipeline-in-cloud-computing" TargetMode="External" Type="http://schemas.openxmlformats.org/officeDocument/2006/relationships/hyperlink"/><Relationship Id="rId5" Target="https://expertbeacon.com/transition-from-manual-to-automation-testing/" TargetMode="External" Type="http://schemas.openxmlformats.org/officeDocument/2006/relationships/hyperlink"/><Relationship Id="rId6" Target="https://grafana.com/oss/grafana/" TargetMode="External" Type="http://schemas.openxmlformats.org/officeDocument/2006/relationships/hyperlink"/><Relationship Id="rId7" Target="https://learn.microsoft.com/en-us/azure/devops/pipelines/architectures/devops-pipelines-baseline-architecture?view=azure-devops" TargetMode="External" Type="http://schemas.openxmlformats.org/officeDocument/2006/relationships/hyperlink"/><Relationship Id="rId8" Target="https://www.evidentlyai.com/ml-in-production/data-drift" TargetMode="External" Type="http://schemas.openxmlformats.org/officeDocument/2006/relationships/hyperlink"/><Relationship Id="rId9" Target="https://mlflow.org/#core-concepts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3890343" y="551638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02180" y="1812317"/>
            <a:ext cx="13483639" cy="4013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b="true" sz="11505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CI/CD ÎN DEVOPS ȘI MLOPS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95982" y="6574095"/>
            <a:ext cx="10296035" cy="77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Cuciureanu Dragoș-Adrian 506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20959" y="2688581"/>
            <a:ext cx="11246081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CI/CD ÎN DEVOPS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43857" y="4590405"/>
            <a:ext cx="11400286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-Partea I-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13623651" y="4864863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574333">
            <a:off x="14128725" y="-1198974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14203093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619660"/>
            <a:ext cx="16230600" cy="416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Definiții: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CI 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(Continuous Integration): Integrarea automată a modificărilor de cod într-un repository,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CD 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(Continuous Delivery/Deployment): Automatizarea livrării codului în medii de test sau producție.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Importanță: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Automatizare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Integrarea și livrarea codului se fac automat, reducând erorile umane,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Calitate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Reducer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ea și detecția rapidă a potențialelor erori,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Adaptabilitate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Adaptarea rapidă la schimbările cerințelor,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Colaborare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Îmbunătățește sinergia dintre echipele de dezvoltare și operațiuni,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Rapiditate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Deploymenturile se realizează mai repede.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89388" y="6161756"/>
            <a:ext cx="9109225" cy="3871421"/>
          </a:xfrm>
          <a:custGeom>
            <a:avLst/>
            <a:gdLst/>
            <a:ahLst/>
            <a:cxnLst/>
            <a:rect r="r" b="b" t="t" l="l"/>
            <a:pathLst>
              <a:path h="3871421" w="9109225">
                <a:moveTo>
                  <a:pt x="0" y="0"/>
                </a:moveTo>
                <a:lnTo>
                  <a:pt x="9109224" y="0"/>
                </a:lnTo>
                <a:lnTo>
                  <a:pt x="9109224" y="3871420"/>
                </a:lnTo>
                <a:lnTo>
                  <a:pt x="0" y="38714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41415" y="333150"/>
            <a:ext cx="920516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CI/CD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80898"/>
            <a:ext cx="16230600" cy="416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DevOps 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este o abordare integrată care combină procesul de dezvoltare Agile (Dev) cu operațiunile IT (Ops), valorificând avantajele CI/CD. Componente cheie într-un pipeline DevOps sunt: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Automatizare (Jenkins, GitHub Actions etc.),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Testare continuă,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Containerizare (Docker, Kubernetes etc.),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Monitorizarea (Prometheus, Grafana etc.)</a:t>
            </a:r>
          </a:p>
          <a:p>
            <a:pPr algn="l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Exemplu de lifecycle în DevOps [1]: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Codul sursă → Build → Testare → Deploy → Monitorizare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351222" y="6748189"/>
            <a:ext cx="9585557" cy="3079360"/>
          </a:xfrm>
          <a:custGeom>
            <a:avLst/>
            <a:gdLst/>
            <a:ahLst/>
            <a:cxnLst/>
            <a:rect r="r" b="b" t="t" l="l"/>
            <a:pathLst>
              <a:path h="3079360" w="9585557">
                <a:moveTo>
                  <a:pt x="0" y="0"/>
                </a:moveTo>
                <a:lnTo>
                  <a:pt x="9585556" y="0"/>
                </a:lnTo>
                <a:lnTo>
                  <a:pt x="9585556" y="3079361"/>
                </a:lnTo>
                <a:lnTo>
                  <a:pt x="0" y="3079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38578" y="499745"/>
            <a:ext cx="12410844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CI/CD ÎN DEVOPS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5400000">
            <a:off x="-1189258" y="-2042091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74333">
            <a:off x="14839115" y="-1479363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0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0" y="0"/>
                </a:lnTo>
                <a:lnTo>
                  <a:pt x="4840370" y="675825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0144" y="1768518"/>
            <a:ext cx="16087713" cy="7762321"/>
          </a:xfrm>
          <a:custGeom>
            <a:avLst/>
            <a:gdLst/>
            <a:ahLst/>
            <a:cxnLst/>
            <a:rect r="r" b="b" t="t" l="l"/>
            <a:pathLst>
              <a:path h="7762321" w="16087713">
                <a:moveTo>
                  <a:pt x="0" y="0"/>
                </a:moveTo>
                <a:lnTo>
                  <a:pt x="16087712" y="0"/>
                </a:lnTo>
                <a:lnTo>
                  <a:pt x="16087712" y="7762321"/>
                </a:lnTo>
                <a:lnTo>
                  <a:pt x="0" y="77623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3143" y="242622"/>
            <a:ext cx="1586171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GITHUB ACTIONS - PIPELINE COD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4217" y="3936874"/>
            <a:ext cx="17139566" cy="4456287"/>
          </a:xfrm>
          <a:custGeom>
            <a:avLst/>
            <a:gdLst/>
            <a:ahLst/>
            <a:cxnLst/>
            <a:rect r="r" b="b" t="t" l="l"/>
            <a:pathLst>
              <a:path h="4456287" w="17139566">
                <a:moveTo>
                  <a:pt x="0" y="0"/>
                </a:moveTo>
                <a:lnTo>
                  <a:pt x="17139566" y="0"/>
                </a:lnTo>
                <a:lnTo>
                  <a:pt x="17139566" y="4456287"/>
                </a:lnTo>
                <a:lnTo>
                  <a:pt x="0" y="4456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23037" y="314776"/>
            <a:ext cx="11441926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GITHUB ACTIONS - PIPELINE CREARE TICHETE ÎN JIRA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428716"/>
            <a:ext cx="16230600" cy="752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Scopul: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Evită regresii,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Reduce costurile asociate procesului de  testare,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sigură calitatea codului.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Tipuri de teste: unit, integration, regression, negative testing și static code analysis.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Tool-uri: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Selenium (UI),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JUnit (unit testing pentru Java),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SonarQube (calitate cod).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Statistici relevante conform [2]: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Code coverage crește de la 30% la 80-90% cu testare automată.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Testarea automată îmbunătățește detectarea defectelor cu până la 90%.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66% dintre companii își reduc timpul ciclului de testare cu 50-70% prin automatizare.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984962" y="573465"/>
            <a:ext cx="12318075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TESTARE AUTOMATĂ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-825439" y="-2279167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7317" y="3387442"/>
            <a:ext cx="5875394" cy="500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Obiective: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Detectarea rapidă a bug-urilor,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Optimizarea performanței.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Tool-uri: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Prometheus (metrici),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Grafana (dashboard) [3],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ELK Stack (logs).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Exemplu: Alertă automată când 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latența depășește 500ms.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831940" y="3425542"/>
            <a:ext cx="10913810" cy="6098091"/>
          </a:xfrm>
          <a:custGeom>
            <a:avLst/>
            <a:gdLst/>
            <a:ahLst/>
            <a:cxnLst/>
            <a:rect r="r" b="b" t="t" l="l"/>
            <a:pathLst>
              <a:path h="6098091" w="10913810">
                <a:moveTo>
                  <a:pt x="0" y="0"/>
                </a:moveTo>
                <a:lnTo>
                  <a:pt x="10913810" y="0"/>
                </a:lnTo>
                <a:lnTo>
                  <a:pt x="10913810" y="6098092"/>
                </a:lnTo>
                <a:lnTo>
                  <a:pt x="0" y="6098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63348" y="923925"/>
            <a:ext cx="12761304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MONITORIZAREA APLICAȚIEI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-574333">
            <a:off x="14584476" y="-1304133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0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0" y="0"/>
                </a:lnTo>
                <a:lnTo>
                  <a:pt x="4840370" y="675825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84962" y="686849"/>
            <a:ext cx="12318075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CI/CD ARCHITECTURE - AZURE PIPELINES [4]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-574333">
            <a:off x="14584476" y="-1304133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0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0" y="0"/>
                </a:lnTo>
                <a:lnTo>
                  <a:pt x="4840370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9041" y="3714180"/>
            <a:ext cx="15909918" cy="5707683"/>
          </a:xfrm>
          <a:custGeom>
            <a:avLst/>
            <a:gdLst/>
            <a:ahLst/>
            <a:cxnLst/>
            <a:rect r="r" b="b" t="t" l="l"/>
            <a:pathLst>
              <a:path h="5707683" w="15909918">
                <a:moveTo>
                  <a:pt x="0" y="0"/>
                </a:moveTo>
                <a:lnTo>
                  <a:pt x="15909918" y="0"/>
                </a:lnTo>
                <a:lnTo>
                  <a:pt x="15909918" y="5707682"/>
                </a:lnTo>
                <a:lnTo>
                  <a:pt x="0" y="570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567748" y="-1866862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20959" y="2688581"/>
            <a:ext cx="11246081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CI/CD ÎN MLOPS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43857" y="4590405"/>
            <a:ext cx="11400286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-Partea II-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13623651" y="4864863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574333">
            <a:off x="14128725" y="-1198974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7353" y="2325209"/>
            <a:ext cx="16624640" cy="710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MLOps 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reprezintă un set de practici  și instrumente care integrează dezvoltarea de modele Machine Learning (ML) cu operațiunile IT (Ops) pentru a automatiza și optimiza întregul ciclu de viață al acestora.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Componente cheie într-un pipeline MLOps: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Data ingestion și validare,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Antrenare și evaluare model (ex: acuratețe, bias),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Versionare de date și modele, nu doar cod,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Monitorizare.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Platforme MLOps E2E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MLflow,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Kubeflow,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TenserFlow Extended (TFX).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Exemplu de lifecycle în MLOps [5]: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Date → Preprocesare → Antrenare model→ Validare → Deploy → Monitorizare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912809" y="571945"/>
            <a:ext cx="12462382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CI/CD ÎN MLOPS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-1258360" y="-1980245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1" y="0"/>
                </a:lnTo>
                <a:lnTo>
                  <a:pt x="4840371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14943028" y="5761627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40876" y="3622365"/>
            <a:ext cx="8081117" cy="4545628"/>
          </a:xfrm>
          <a:custGeom>
            <a:avLst/>
            <a:gdLst/>
            <a:ahLst/>
            <a:cxnLst/>
            <a:rect r="r" b="b" t="t" l="l"/>
            <a:pathLst>
              <a:path h="4545628" w="8081117">
                <a:moveTo>
                  <a:pt x="0" y="0"/>
                </a:moveTo>
                <a:lnTo>
                  <a:pt x="8081117" y="0"/>
                </a:lnTo>
                <a:lnTo>
                  <a:pt x="8081117" y="4545628"/>
                </a:lnTo>
                <a:lnTo>
                  <a:pt x="0" y="4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99890"/>
            <a:ext cx="15286265" cy="332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Simplifică tot procesul de MLOps pentru: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Generative AI,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Deep Learning,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Modele 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ML tradiționale,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Evaluare &amp; Monitorizare [6],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Managementul de modele [6].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579064" y="499745"/>
            <a:ext cx="15129871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MLFLOW - PLATFORMA E2E MLOPS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5400000">
            <a:off x="14943028" y="5761627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27224" y="2237990"/>
            <a:ext cx="8935989" cy="5975943"/>
          </a:xfrm>
          <a:custGeom>
            <a:avLst/>
            <a:gdLst/>
            <a:ahLst/>
            <a:cxnLst/>
            <a:rect r="r" b="b" t="t" l="l"/>
            <a:pathLst>
              <a:path h="5975943" w="8935989">
                <a:moveTo>
                  <a:pt x="0" y="0"/>
                </a:moveTo>
                <a:lnTo>
                  <a:pt x="8935990" y="0"/>
                </a:lnTo>
                <a:lnTo>
                  <a:pt x="8935990" y="5975943"/>
                </a:lnTo>
                <a:lnTo>
                  <a:pt x="0" y="59759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043490"/>
            <a:ext cx="6718932" cy="5047597"/>
          </a:xfrm>
          <a:custGeom>
            <a:avLst/>
            <a:gdLst/>
            <a:ahLst/>
            <a:cxnLst/>
            <a:rect r="r" b="b" t="t" l="l"/>
            <a:pathLst>
              <a:path h="5047597" w="6718932">
                <a:moveTo>
                  <a:pt x="0" y="0"/>
                </a:moveTo>
                <a:lnTo>
                  <a:pt x="6718932" y="0"/>
                </a:lnTo>
                <a:lnTo>
                  <a:pt x="6718932" y="5047597"/>
                </a:lnTo>
                <a:lnTo>
                  <a:pt x="0" y="5047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1624" y="2232660"/>
            <a:ext cx="16704751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DataOps 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reprezintă un set de practici și instrumente care automatizează, monitorizează și optimizează fluxurile de date, asigurând colaborarea eficientă și calitatea acestora. 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ataOps în MLOps: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Asigură fluxul continuu de date pentru antrenarea și evaluarea modelelor ML.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Automatizează colectarea, curățarea, transformarea și validarea datelor.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onitorizează calitatea datelor și detectează erorile și anomaliile.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Oferă b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aza pentru implementarea și monitorizarea modelelor ML.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912809" y="499745"/>
            <a:ext cx="12462382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DATAOPS ÎN MLOPS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-1258360" y="-1980245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1" y="0"/>
                </a:lnTo>
                <a:lnTo>
                  <a:pt x="4840371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59124" y="5143500"/>
            <a:ext cx="8369752" cy="4707985"/>
          </a:xfrm>
          <a:custGeom>
            <a:avLst/>
            <a:gdLst/>
            <a:ahLst/>
            <a:cxnLst/>
            <a:rect r="r" b="b" t="t" l="l"/>
            <a:pathLst>
              <a:path h="4707985" w="8369752">
                <a:moveTo>
                  <a:pt x="0" y="0"/>
                </a:moveTo>
                <a:lnTo>
                  <a:pt x="8369752" y="0"/>
                </a:lnTo>
                <a:lnTo>
                  <a:pt x="8369752" y="4707985"/>
                </a:lnTo>
                <a:lnTo>
                  <a:pt x="0" y="4707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50424" y="4408756"/>
            <a:ext cx="9694124" cy="5452945"/>
          </a:xfrm>
          <a:custGeom>
            <a:avLst/>
            <a:gdLst/>
            <a:ahLst/>
            <a:cxnLst/>
            <a:rect r="r" b="b" t="t" l="l"/>
            <a:pathLst>
              <a:path h="5452945" w="9694124">
                <a:moveTo>
                  <a:pt x="0" y="0"/>
                </a:moveTo>
                <a:lnTo>
                  <a:pt x="9694124" y="0"/>
                </a:lnTo>
                <a:lnTo>
                  <a:pt x="9694124" y="5452945"/>
                </a:lnTo>
                <a:lnTo>
                  <a:pt x="0" y="5452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315332"/>
            <a:ext cx="16230600" cy="374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Evaluări 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specifi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ce ML: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Validarea datelor (ex: distr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ibuție consistentă),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Teste de acuratețe/drift a modelului (ex: modelul nu </a:t>
            </a: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are bias),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Teste de inferență (ex: timp de răspuns &lt; 1s).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Alte tool-uri de evaluare: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Great Expectations (date),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Evidently AI (drift detection) [5].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984962" y="573465"/>
            <a:ext cx="12318075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EVALUARE AUTOMATĂ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74333">
            <a:off x="14396724" y="-1425742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0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0" y="0"/>
                </a:lnTo>
                <a:lnTo>
                  <a:pt x="4840370" y="675825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20909" y="5435970"/>
            <a:ext cx="7538391" cy="4240345"/>
          </a:xfrm>
          <a:custGeom>
            <a:avLst/>
            <a:gdLst/>
            <a:ahLst/>
            <a:cxnLst/>
            <a:rect r="r" b="b" t="t" l="l"/>
            <a:pathLst>
              <a:path h="4240345" w="7538391">
                <a:moveTo>
                  <a:pt x="0" y="0"/>
                </a:moveTo>
                <a:lnTo>
                  <a:pt x="7538391" y="0"/>
                </a:lnTo>
                <a:lnTo>
                  <a:pt x="7538391" y="4240345"/>
                </a:lnTo>
                <a:lnTo>
                  <a:pt x="0" y="42403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435970"/>
            <a:ext cx="7538391" cy="4240345"/>
          </a:xfrm>
          <a:custGeom>
            <a:avLst/>
            <a:gdLst/>
            <a:ahLst/>
            <a:cxnLst/>
            <a:rect r="r" b="b" t="t" l="l"/>
            <a:pathLst>
              <a:path h="4240345" w="7538391">
                <a:moveTo>
                  <a:pt x="0" y="0"/>
                </a:moveTo>
                <a:lnTo>
                  <a:pt x="7538391" y="0"/>
                </a:lnTo>
                <a:lnTo>
                  <a:pt x="7538391" y="4240345"/>
                </a:lnTo>
                <a:lnTo>
                  <a:pt x="0" y="42403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832278"/>
            <a:ext cx="8496683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Exemple de ce putem monitoriza [7]: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Performanță (ex: acuratețe în timp real),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Data/concept drift,.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Resurse (ex: consum GPU).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0048" y="842188"/>
            <a:ext cx="15327905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MONITORIZAREA MODELELOR ML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21560" y="313882"/>
            <a:ext cx="13244879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CI/CD ML ARCHITECTURE - KUBEFLOW(GOOGLE) PIPELINE [8]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-574333">
            <a:off x="14584476" y="-1304133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0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0" y="0"/>
                </a:lnTo>
                <a:lnTo>
                  <a:pt x="4840370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567748" y="-1866862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74333">
            <a:off x="-1309898" y="5962749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15458410" y="5879173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4"/>
                </a:moveTo>
                <a:lnTo>
                  <a:pt x="0" y="6758254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58158" y="2985273"/>
            <a:ext cx="14171683" cy="6660691"/>
          </a:xfrm>
          <a:custGeom>
            <a:avLst/>
            <a:gdLst/>
            <a:ahLst/>
            <a:cxnLst/>
            <a:rect r="r" b="b" t="t" l="l"/>
            <a:pathLst>
              <a:path h="6660691" w="14171683">
                <a:moveTo>
                  <a:pt x="0" y="0"/>
                </a:moveTo>
                <a:lnTo>
                  <a:pt x="14171684" y="0"/>
                </a:lnTo>
                <a:lnTo>
                  <a:pt x="14171684" y="6660691"/>
                </a:lnTo>
                <a:lnTo>
                  <a:pt x="0" y="66606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74333">
            <a:off x="13842326" y="-1159827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0" y="6758254"/>
                </a:moveTo>
                <a:lnTo>
                  <a:pt x="0" y="6758254"/>
                </a:lnTo>
                <a:lnTo>
                  <a:pt x="0" y="0"/>
                </a:lnTo>
                <a:lnTo>
                  <a:pt x="4840370" y="0"/>
                </a:lnTo>
                <a:lnTo>
                  <a:pt x="4840370" y="675825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16774" y="3294201"/>
            <a:ext cx="14654452" cy="6319732"/>
          </a:xfrm>
          <a:custGeom>
            <a:avLst/>
            <a:gdLst/>
            <a:ahLst/>
            <a:cxnLst/>
            <a:rect r="r" b="b" t="t" l="l"/>
            <a:pathLst>
              <a:path h="6319732" w="14654452">
                <a:moveTo>
                  <a:pt x="0" y="0"/>
                </a:moveTo>
                <a:lnTo>
                  <a:pt x="14654452" y="0"/>
                </a:lnTo>
                <a:lnTo>
                  <a:pt x="14654452" y="6319733"/>
                </a:lnTo>
                <a:lnTo>
                  <a:pt x="0" y="63197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41415" y="1045724"/>
            <a:ext cx="920516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DEVOPS VS MLOPS [9]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21514" y="3607184"/>
            <a:ext cx="15437786" cy="374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u="sng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  <a:hlinkClick r:id="rId4" tooltip="https://www.civo.com/blog/the-role-of-the-ci-cd-pipeline-in-cloud-computing"/>
              </a:rPr>
              <a:t>The role of the CI/CD pipeline in cloud computing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u="sng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  <a:hlinkClick r:id="rId5" tooltip="https://expertbeacon.com/transition-from-manual-to-automation-testing/"/>
              </a:rPr>
              <a:t>Transitioning from Manual to Automation Testing in 2025: An In-Depth Guide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u="sng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  <a:hlinkClick r:id="rId6" tooltip="https://grafana.com/oss/grafana/"/>
              </a:rPr>
              <a:t>Grafana - Visualize your data, optimize your performance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u="sng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  <a:hlinkClick r:id="rId7" tooltip="https://learn.microsoft.com/en-us/azure/devops/pipelines/architectures/devops-pipelines-baseline-architecture?view=azure-devops"/>
              </a:rPr>
              <a:t>CI/CD baseline architecture with Azure Pipelines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u="sng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  <a:hlinkClick r:id="rId8" tooltip="https://www.evidentlyai.com/ml-in-production/data-drift"/>
              </a:rPr>
              <a:t>What is data drift in ML, and how to detect and handle it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u="sng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  <a:hlinkClick r:id="rId9" tooltip="https://mlflow.org/#core-concepts"/>
              </a:rPr>
              <a:t>MLFlow Documentation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u="sng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  <a:hlinkClick r:id="rId10" tooltip="https://www.evidentlyai.com/ml-in-production/model-monitoring"/>
              </a:rPr>
              <a:t>Model monitoring for ML in production: a comprehensive guide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 u="sng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  <a:hlinkClick r:id="rId11" tooltip="https://www.kubeflow.org/docs/started/architecture/"/>
              </a:rPr>
              <a:t>Kubeflow Architecture</a:t>
            </a:r>
          </a:p>
          <a:p>
            <a:pPr algn="just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Curs Topici Speciale - 02 MVC vs LLM app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41415" y="875545"/>
            <a:ext cx="9205169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REFERINȚE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68325" y="3386202"/>
            <a:ext cx="12951349" cy="278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MULȚUMESC PENTRU ATENȚIE!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13623651" y="4864863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74333">
            <a:off x="14128725" y="-1198974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DAGjsF9vGS0</dc:identifier>
  <dcterms:modified xsi:type="dcterms:W3CDTF">2011-08-01T06:04:30Z</dcterms:modified>
  <cp:revision>1</cp:revision>
  <dc:title>CI/CD în DevOps și MLOps</dc:title>
</cp:coreProperties>
</file>