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DA"/>
    <a:srgbClr val="F12D2D"/>
    <a:srgbClr val="EDC9C9"/>
    <a:srgbClr val="FFB7B7"/>
    <a:srgbClr val="CDC1DB"/>
    <a:srgbClr val="CC9EFE"/>
    <a:srgbClr val="EFAEFC"/>
    <a:srgbClr val="ACF4CB"/>
    <a:srgbClr val="B7E7CD"/>
    <a:srgbClr val="9FFF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0"/>
    <p:restoredTop sz="95380" autoAdjust="0"/>
  </p:normalViewPr>
  <p:slideViewPr>
    <p:cSldViewPr>
      <p:cViewPr varScale="1">
        <p:scale>
          <a:sx n="113" d="100"/>
          <a:sy n="113" d="100"/>
        </p:scale>
        <p:origin x="155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FEF38-24CA-444D-8E5D-5C6061C6B495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C1035-22C6-4F8A-960B-5C00BC66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8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2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68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9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5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6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46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6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9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F9B37-4FC8-4EEB-BE2F-2081A19071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CCAFD-1043-42B6-864E-C32A387F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3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6679" y="98286"/>
            <a:ext cx="2291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Lean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0" y="114684"/>
            <a:ext cx="3276600" cy="4616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FinTrack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52400" y="4639985"/>
            <a:ext cx="4398041" cy="133840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Cost Structure</a:t>
            </a: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50441" y="4639985"/>
            <a:ext cx="4398041" cy="133840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Revenue Streams</a:t>
            </a: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2400" y="664125"/>
            <a:ext cx="1764792" cy="397585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Problem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Top 3 problems</a:t>
            </a: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Alternative Solutions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17192" y="664125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Solution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Top 3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7192" y="2668679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Key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4106" y="664125"/>
            <a:ext cx="1764792" cy="397585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Unique Value Proposition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18898" y="664125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Unfair Advantage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Can’t be easily copied or bought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8898" y="2652054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Channels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Path to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3690" y="664125"/>
            <a:ext cx="1764792" cy="397585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Customer Segments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Target customers</a:t>
            </a: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sz="1400" dirty="0">
                <a:solidFill>
                  <a:srgbClr val="FF0000"/>
                </a:solidFill>
                <a:cs typeface="Arial" pitchFamily="34" charset="0"/>
              </a:rPr>
              <a:t>Early adopters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" y="664125"/>
            <a:ext cx="8796082" cy="5314267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112713">
              <a:buFont typeface="Arial" pitchFamily="34" charset="0"/>
              <a:buChar char="•"/>
            </a:pPr>
            <a:endParaRPr lang="en-US" sz="2000" dirty="0"/>
          </a:p>
        </p:txBody>
      </p:sp>
      <p:sp>
        <p:nvSpPr>
          <p:cNvPr id="20" name="Rectangle 19"/>
          <p:cNvSpPr/>
          <p:nvPr/>
        </p:nvSpPr>
        <p:spPr>
          <a:xfrm rot="21540000">
            <a:off x="250027" y="1247199"/>
            <a:ext cx="1550022" cy="1485421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rgbClr val="FEF99C"/>
              </a:gs>
              <a:gs pos="0">
                <a:srgbClr val="F6E7A6"/>
              </a:gs>
              <a:gs pos="100000">
                <a:srgbClr val="FFC000">
                  <a:lumMod val="85000"/>
                  <a:lumOff val="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Lack of centralized financial management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Manual entry is inefficient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Existing solutions are limited</a:t>
            </a:r>
          </a:p>
        </p:txBody>
      </p:sp>
      <p:sp>
        <p:nvSpPr>
          <p:cNvPr id="23" name="Rectangle 19"/>
          <p:cNvSpPr/>
          <p:nvPr/>
        </p:nvSpPr>
        <p:spPr>
          <a:xfrm rot="21540000">
            <a:off x="254444" y="3179999"/>
            <a:ext cx="1530335" cy="1323816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rgbClr val="FEF99C"/>
              </a:gs>
              <a:gs pos="0">
                <a:srgbClr val="F6E7A6"/>
              </a:gs>
              <a:gs pos="100000">
                <a:srgbClr val="FFC000">
                  <a:lumMod val="85000"/>
                  <a:lumOff val="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marL="228600" indent="-228600" algn="ctr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Manual tracking using spreadsheets</a:t>
            </a:r>
          </a:p>
          <a:p>
            <a:pPr marL="228600" indent="-228600" algn="ctr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Using multiple financial apps (each with limited functionality)</a:t>
            </a:r>
          </a:p>
        </p:txBody>
      </p:sp>
      <p:sp>
        <p:nvSpPr>
          <p:cNvPr id="24" name="Rectangle 19"/>
          <p:cNvSpPr/>
          <p:nvPr/>
        </p:nvSpPr>
        <p:spPr>
          <a:xfrm rot="21540000">
            <a:off x="2014085" y="1217516"/>
            <a:ext cx="1350413" cy="335295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5000">
                <a:srgbClr val="75DBFF"/>
              </a:gs>
              <a:gs pos="0">
                <a:srgbClr val="8BD0E9"/>
              </a:gs>
              <a:gs pos="100000">
                <a:srgbClr val="75DBFF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Automated transaction import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" y="6393863"/>
            <a:ext cx="89154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prstClr val="black">
                    <a:lumMod val="75000"/>
                    <a:lumOff val="25000"/>
                  </a:prstClr>
                </a:solidFill>
                <a:cs typeface="Arial" pitchFamily="34" charset="0"/>
              </a:rPr>
              <a:t>Lean Canvas is adapted from The Business Model Canvas and is licensed under the Creative Commons Attribution-Share Alike 3.0 Un-ported License.</a:t>
            </a:r>
            <a:endParaRPr lang="en-US" sz="1600" dirty="0"/>
          </a:p>
        </p:txBody>
      </p:sp>
      <p:sp>
        <p:nvSpPr>
          <p:cNvPr id="37" name="Rectangle 36"/>
          <p:cNvSpPr/>
          <p:nvPr/>
        </p:nvSpPr>
        <p:spPr>
          <a:xfrm>
            <a:off x="1849200" y="6028996"/>
            <a:ext cx="10044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007DDA"/>
                </a:solidFill>
                <a:cs typeface="Arial" pitchFamily="34" charset="0"/>
              </a:rPr>
              <a:t>PRODUCT</a:t>
            </a:r>
            <a:endParaRPr lang="en-US" sz="2000" dirty="0">
              <a:solidFill>
                <a:srgbClr val="007DDA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60" y="6028996"/>
            <a:ext cx="8980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007DDA"/>
                </a:solidFill>
                <a:cs typeface="Arial" pitchFamily="34" charset="0"/>
              </a:rPr>
              <a:t>MARKET</a:t>
            </a:r>
            <a:endParaRPr lang="en-US" sz="2000" dirty="0">
              <a:solidFill>
                <a:srgbClr val="007DDA"/>
              </a:solidFill>
            </a:endParaRPr>
          </a:p>
        </p:txBody>
      </p:sp>
      <p:sp>
        <p:nvSpPr>
          <p:cNvPr id="40" name="Rectangle 19"/>
          <p:cNvSpPr/>
          <p:nvPr/>
        </p:nvSpPr>
        <p:spPr>
          <a:xfrm rot="21540000">
            <a:off x="2072796" y="1648047"/>
            <a:ext cx="1505335" cy="343540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5000">
                <a:srgbClr val="75DBFF"/>
              </a:gs>
              <a:gs pos="0">
                <a:srgbClr val="8BD0E9"/>
              </a:gs>
              <a:gs pos="100000">
                <a:srgbClr val="75DBFF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Multi-currency support</a:t>
            </a:r>
          </a:p>
        </p:txBody>
      </p:sp>
      <p:sp>
        <p:nvSpPr>
          <p:cNvPr id="41" name="Rectangle 19"/>
          <p:cNvSpPr/>
          <p:nvPr/>
        </p:nvSpPr>
        <p:spPr>
          <a:xfrm rot="21540000">
            <a:off x="2023241" y="2115953"/>
            <a:ext cx="1370690" cy="373367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5000">
                <a:srgbClr val="75DBFF"/>
              </a:gs>
              <a:gs pos="0">
                <a:srgbClr val="8BD0E9"/>
              </a:gs>
              <a:gs pos="100000">
                <a:srgbClr val="75DBFF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Advanced budgeting tools</a:t>
            </a:r>
          </a:p>
        </p:txBody>
      </p:sp>
      <p:sp>
        <p:nvSpPr>
          <p:cNvPr id="42" name="Rectangle 19"/>
          <p:cNvSpPr/>
          <p:nvPr/>
        </p:nvSpPr>
        <p:spPr>
          <a:xfrm rot="-60000">
            <a:off x="3702900" y="2423613"/>
            <a:ext cx="1589208" cy="679889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Combines the best features of budgeting apps and banking tools</a:t>
            </a:r>
          </a:p>
        </p:txBody>
      </p:sp>
      <p:sp>
        <p:nvSpPr>
          <p:cNvPr id="43" name="Rectangle 19"/>
          <p:cNvSpPr/>
          <p:nvPr/>
        </p:nvSpPr>
        <p:spPr>
          <a:xfrm rot="-60000">
            <a:off x="3874587" y="3247444"/>
            <a:ext cx="1497697" cy="529993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Reduces manual effort through automation</a:t>
            </a:r>
          </a:p>
        </p:txBody>
      </p:sp>
      <p:sp>
        <p:nvSpPr>
          <p:cNvPr id="45" name="Rectangle 19"/>
          <p:cNvSpPr/>
          <p:nvPr/>
        </p:nvSpPr>
        <p:spPr>
          <a:xfrm rot="-60000">
            <a:off x="3704186" y="3887707"/>
            <a:ext cx="1591809" cy="629829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Focuses on flexibility and customization for a broad user base</a:t>
            </a:r>
          </a:p>
        </p:txBody>
      </p:sp>
      <p:sp>
        <p:nvSpPr>
          <p:cNvPr id="46" name="Rectangle 19"/>
          <p:cNvSpPr/>
          <p:nvPr/>
        </p:nvSpPr>
        <p:spPr>
          <a:xfrm rot="-60000">
            <a:off x="1970868" y="2976991"/>
            <a:ext cx="1190941" cy="279279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Acquisition</a:t>
            </a:r>
          </a:p>
        </p:txBody>
      </p:sp>
      <p:sp>
        <p:nvSpPr>
          <p:cNvPr id="48" name="Rectangle 19"/>
          <p:cNvSpPr/>
          <p:nvPr/>
        </p:nvSpPr>
        <p:spPr>
          <a:xfrm rot="-60000">
            <a:off x="5594629" y="1316253"/>
            <a:ext cx="1455959" cy="617502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5000">
                <a:srgbClr val="75DBFF"/>
              </a:gs>
              <a:gs pos="0">
                <a:srgbClr val="8BD0E9"/>
              </a:gs>
              <a:gs pos="100000">
                <a:srgbClr val="75DBFF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Automated OCR-powered import of financial statements</a:t>
            </a:r>
          </a:p>
        </p:txBody>
      </p:sp>
      <p:sp>
        <p:nvSpPr>
          <p:cNvPr id="49" name="Rectangle 19"/>
          <p:cNvSpPr/>
          <p:nvPr/>
        </p:nvSpPr>
        <p:spPr>
          <a:xfrm rot="-60000">
            <a:off x="5470601" y="2003506"/>
            <a:ext cx="1573634" cy="574943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Users can track multiple accounts with multi-</a:t>
            </a:r>
            <a:r>
              <a:rPr lang="en-US" sz="1200" dirty="0" err="1">
                <a:solidFill>
                  <a:schemeClr val="tx1"/>
                </a:solidFill>
                <a:cs typeface="Arial" pitchFamily="34" charset="0"/>
              </a:rPr>
              <a:t>currenty</a:t>
            </a:r>
            <a:endParaRPr 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0" name="Rectangle 19"/>
          <p:cNvSpPr/>
          <p:nvPr/>
        </p:nvSpPr>
        <p:spPr>
          <a:xfrm rot="-60000">
            <a:off x="2091430" y="3764022"/>
            <a:ext cx="1097280" cy="274320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Retention Rate</a:t>
            </a:r>
          </a:p>
        </p:txBody>
      </p:sp>
      <p:sp>
        <p:nvSpPr>
          <p:cNvPr id="51" name="Rectangle 19"/>
          <p:cNvSpPr/>
          <p:nvPr/>
        </p:nvSpPr>
        <p:spPr>
          <a:xfrm rot="-60000">
            <a:off x="2217951" y="4117574"/>
            <a:ext cx="1271380" cy="363841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Customer Satisfaction</a:t>
            </a:r>
          </a:p>
        </p:txBody>
      </p:sp>
      <p:sp>
        <p:nvSpPr>
          <p:cNvPr id="52" name="Rectangle 19"/>
          <p:cNvSpPr/>
          <p:nvPr/>
        </p:nvSpPr>
        <p:spPr>
          <a:xfrm rot="-60000">
            <a:off x="5590604" y="3135261"/>
            <a:ext cx="1270931" cy="394068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rgbClr val="FEF99C"/>
              </a:gs>
              <a:gs pos="0">
                <a:srgbClr val="F6E7A6"/>
              </a:gs>
              <a:gs pos="100000">
                <a:srgbClr val="FFC000">
                  <a:lumMod val="85000"/>
                  <a:lumOff val="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Social media campaigns</a:t>
            </a:r>
          </a:p>
        </p:txBody>
      </p:sp>
      <p:sp>
        <p:nvSpPr>
          <p:cNvPr id="53" name="Rectangle 19"/>
          <p:cNvSpPr/>
          <p:nvPr/>
        </p:nvSpPr>
        <p:spPr>
          <a:xfrm rot="-60000">
            <a:off x="5842143" y="3704748"/>
            <a:ext cx="1097280" cy="274320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rgbClr val="FEF99C"/>
              </a:gs>
              <a:gs pos="0">
                <a:srgbClr val="F6E7A6"/>
              </a:gs>
              <a:gs pos="100000">
                <a:srgbClr val="FFC000">
                  <a:lumMod val="85000"/>
                  <a:lumOff val="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SEO website</a:t>
            </a:r>
          </a:p>
        </p:txBody>
      </p:sp>
      <p:sp>
        <p:nvSpPr>
          <p:cNvPr id="54" name="Rectangle 19"/>
          <p:cNvSpPr/>
          <p:nvPr/>
        </p:nvSpPr>
        <p:spPr>
          <a:xfrm rot="-60000">
            <a:off x="5678229" y="4087354"/>
            <a:ext cx="1097280" cy="274320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rgbClr val="FEF99C"/>
              </a:gs>
              <a:gs pos="0">
                <a:srgbClr val="F6E7A6"/>
              </a:gs>
              <a:gs pos="100000">
                <a:srgbClr val="FFC000">
                  <a:lumMod val="85000"/>
                  <a:lumOff val="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Google Ads</a:t>
            </a:r>
          </a:p>
        </p:txBody>
      </p:sp>
      <p:sp>
        <p:nvSpPr>
          <p:cNvPr id="55" name="Rectangle 19"/>
          <p:cNvSpPr/>
          <p:nvPr/>
        </p:nvSpPr>
        <p:spPr>
          <a:xfrm rot="21540000">
            <a:off x="7230886" y="1245429"/>
            <a:ext cx="1338333" cy="479021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5000">
                <a:srgbClr val="75DBFF"/>
              </a:gs>
              <a:gs pos="0">
                <a:srgbClr val="8BD0E9"/>
              </a:gs>
              <a:gs pos="100000">
                <a:srgbClr val="75DBFF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Millennials/Gen Z</a:t>
            </a:r>
          </a:p>
        </p:txBody>
      </p:sp>
      <p:sp>
        <p:nvSpPr>
          <p:cNvPr id="56" name="Rectangle 19"/>
          <p:cNvSpPr/>
          <p:nvPr/>
        </p:nvSpPr>
        <p:spPr>
          <a:xfrm rot="-60000">
            <a:off x="7275413" y="1898531"/>
            <a:ext cx="1097280" cy="274320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Freelancers</a:t>
            </a:r>
          </a:p>
        </p:txBody>
      </p:sp>
      <p:sp>
        <p:nvSpPr>
          <p:cNvPr id="57" name="Rectangle 19"/>
          <p:cNvSpPr/>
          <p:nvPr/>
        </p:nvSpPr>
        <p:spPr>
          <a:xfrm rot="-60000">
            <a:off x="7620232" y="2305590"/>
            <a:ext cx="1097280" cy="274320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rgbClr val="FEF99C"/>
              </a:gs>
              <a:gs pos="0">
                <a:srgbClr val="F6E7A6"/>
              </a:gs>
              <a:gs pos="100000">
                <a:srgbClr val="FFC000">
                  <a:lumMod val="85000"/>
                  <a:lumOff val="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Entrepreneurs </a:t>
            </a:r>
          </a:p>
        </p:txBody>
      </p:sp>
      <p:sp>
        <p:nvSpPr>
          <p:cNvPr id="58" name="Rectangle 19"/>
          <p:cNvSpPr/>
          <p:nvPr/>
        </p:nvSpPr>
        <p:spPr>
          <a:xfrm rot="-60000">
            <a:off x="7310870" y="3445700"/>
            <a:ext cx="1401010" cy="922550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5000">
                <a:srgbClr val="75DBFF"/>
              </a:gs>
              <a:gs pos="0">
                <a:srgbClr val="8BD0E9"/>
              </a:gs>
              <a:gs pos="100000">
                <a:srgbClr val="75DBFF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Tech-savvy individuals interested in financial planning</a:t>
            </a:r>
          </a:p>
        </p:txBody>
      </p:sp>
      <p:sp>
        <p:nvSpPr>
          <p:cNvPr id="59" name="Rectangle 19"/>
          <p:cNvSpPr/>
          <p:nvPr/>
        </p:nvSpPr>
        <p:spPr>
          <a:xfrm rot="-60000">
            <a:off x="332041" y="5041346"/>
            <a:ext cx="1052948" cy="529993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Initial costs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18.420 RON</a:t>
            </a:r>
          </a:p>
        </p:txBody>
      </p:sp>
      <p:sp>
        <p:nvSpPr>
          <p:cNvPr id="62" name="Rectangle 19"/>
          <p:cNvSpPr/>
          <p:nvPr/>
        </p:nvSpPr>
        <p:spPr>
          <a:xfrm rot="-60000">
            <a:off x="2023388" y="4789592"/>
            <a:ext cx="1727735" cy="393254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5000">
                <a:srgbClr val="75DBFF"/>
              </a:gs>
              <a:gs pos="0">
                <a:srgbClr val="8BD0E9"/>
              </a:gs>
              <a:gs pos="100000">
                <a:srgbClr val="75DBFF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Marketing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1500-4500 RON/2 months</a:t>
            </a:r>
          </a:p>
        </p:txBody>
      </p:sp>
      <p:sp>
        <p:nvSpPr>
          <p:cNvPr id="63" name="Rectangle 19"/>
          <p:cNvSpPr/>
          <p:nvPr/>
        </p:nvSpPr>
        <p:spPr>
          <a:xfrm rot="-60000">
            <a:off x="1570093" y="5363553"/>
            <a:ext cx="1220886" cy="433868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rgbClr val="FEF99C"/>
              </a:gs>
              <a:gs pos="0">
                <a:srgbClr val="F6E7A6"/>
              </a:gs>
              <a:gs pos="100000">
                <a:srgbClr val="FFC000">
                  <a:lumMod val="85000"/>
                  <a:lumOff val="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First year salaries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461.604 RON</a:t>
            </a:r>
          </a:p>
        </p:txBody>
      </p:sp>
      <p:sp>
        <p:nvSpPr>
          <p:cNvPr id="64" name="Rectangle 19"/>
          <p:cNvSpPr/>
          <p:nvPr/>
        </p:nvSpPr>
        <p:spPr>
          <a:xfrm rot="-60000">
            <a:off x="2965264" y="5299855"/>
            <a:ext cx="1414664" cy="529993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0">
                <a:srgbClr val="CDC1DB"/>
              </a:gs>
              <a:gs pos="27000">
                <a:srgbClr val="CC9EFE"/>
              </a:gs>
              <a:gs pos="76000">
                <a:srgbClr val="CC9EFE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Administration fees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219 RON/month</a:t>
            </a:r>
          </a:p>
        </p:txBody>
      </p:sp>
      <p:sp>
        <p:nvSpPr>
          <p:cNvPr id="65" name="Rectangle 19"/>
          <p:cNvSpPr/>
          <p:nvPr/>
        </p:nvSpPr>
        <p:spPr>
          <a:xfrm rot="-60000">
            <a:off x="4687946" y="4971371"/>
            <a:ext cx="1788815" cy="408709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5% conversion rate of free users to premium</a:t>
            </a:r>
          </a:p>
        </p:txBody>
      </p:sp>
      <p:sp>
        <p:nvSpPr>
          <p:cNvPr id="67" name="Rectangle 19"/>
          <p:cNvSpPr/>
          <p:nvPr/>
        </p:nvSpPr>
        <p:spPr>
          <a:xfrm rot="-60000">
            <a:off x="5605828" y="5467792"/>
            <a:ext cx="2142913" cy="340467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rgbClr val="FEF99C"/>
              </a:gs>
              <a:gs pos="0">
                <a:srgbClr val="F6E7A6"/>
              </a:gs>
              <a:gs pos="100000">
                <a:srgbClr val="FFC000">
                  <a:lumMod val="85000"/>
                  <a:lumOff val="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Ad revenue from free users</a:t>
            </a:r>
          </a:p>
        </p:txBody>
      </p:sp>
      <p:sp>
        <p:nvSpPr>
          <p:cNvPr id="68" name="Rectangle 19"/>
          <p:cNvSpPr/>
          <p:nvPr/>
        </p:nvSpPr>
        <p:spPr>
          <a:xfrm rot="-60000">
            <a:off x="7060544" y="4793230"/>
            <a:ext cx="1592639" cy="549965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0">
                <a:srgbClr val="CDC1DB"/>
              </a:gs>
              <a:gs pos="27000">
                <a:srgbClr val="CC9EFE"/>
              </a:gs>
              <a:gs pos="76000">
                <a:srgbClr val="CC9EFE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812.186 RON profit after the first 3 years</a:t>
            </a:r>
          </a:p>
        </p:txBody>
      </p:sp>
      <p:sp>
        <p:nvSpPr>
          <p:cNvPr id="11" name="Rectangle 19">
            <a:extLst>
              <a:ext uri="{FF2B5EF4-FFF2-40B4-BE49-F238E27FC236}">
                <a16:creationId xmlns:a16="http://schemas.microsoft.com/office/drawing/2014/main" id="{142EAAF2-E8BF-2B62-3BC2-F6907DA7EB0C}"/>
              </a:ext>
            </a:extLst>
          </p:cNvPr>
          <p:cNvSpPr/>
          <p:nvPr/>
        </p:nvSpPr>
        <p:spPr>
          <a:xfrm rot="21540000">
            <a:off x="7357521" y="2713864"/>
            <a:ext cx="1236675" cy="281634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0">
                <a:srgbClr val="CDC1DB"/>
              </a:gs>
              <a:gs pos="27000">
                <a:srgbClr val="CC9EFE"/>
              </a:gs>
              <a:gs pos="76000">
                <a:srgbClr val="CC9EFE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Small investors</a:t>
            </a: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863AAA19-46F5-6B43-5C30-320FFBB70F43}"/>
              </a:ext>
            </a:extLst>
          </p:cNvPr>
          <p:cNvSpPr/>
          <p:nvPr/>
        </p:nvSpPr>
        <p:spPr>
          <a:xfrm rot="21540000">
            <a:off x="2249181" y="3335258"/>
            <a:ext cx="1251638" cy="375412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Premium Conversion Rate</a:t>
            </a: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1EF3D399-F471-C4BA-11E0-CB1E682F22C1}"/>
              </a:ext>
            </a:extLst>
          </p:cNvPr>
          <p:cNvSpPr/>
          <p:nvPr/>
        </p:nvSpPr>
        <p:spPr>
          <a:xfrm rot="21540000">
            <a:off x="3733679" y="1280178"/>
            <a:ext cx="1646711" cy="997388"/>
          </a:xfrm>
          <a:custGeom>
            <a:avLst/>
            <a:gdLst>
              <a:gd name="connsiteX0" fmla="*/ 0 w 1339596"/>
              <a:gd name="connsiteY0" fmla="*/ 0 h 1219200"/>
              <a:gd name="connsiteX1" fmla="*/ 1339596 w 1339596"/>
              <a:gd name="connsiteY1" fmla="*/ 0 h 1219200"/>
              <a:gd name="connsiteX2" fmla="*/ 1339596 w 1339596"/>
              <a:gd name="connsiteY2" fmla="*/ 1219200 h 1219200"/>
              <a:gd name="connsiteX3" fmla="*/ 0 w 1339596"/>
              <a:gd name="connsiteY3" fmla="*/ 1219200 h 1219200"/>
              <a:gd name="connsiteX4" fmla="*/ 0 w 1339596"/>
              <a:gd name="connsiteY4" fmla="*/ 0 h 1219200"/>
              <a:gd name="connsiteX0" fmla="*/ 0 w 1339596"/>
              <a:gd name="connsiteY0" fmla="*/ 11733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0 w 1339596"/>
              <a:gd name="connsiteY4" fmla="*/ 11733 h 1230933"/>
              <a:gd name="connsiteX0" fmla="*/ 55747 w 1339596"/>
              <a:gd name="connsiteY0" fmla="*/ 12706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55747 w 1339596"/>
              <a:gd name="connsiteY4" fmla="*/ 12706 h 1230933"/>
              <a:gd name="connsiteX0" fmla="*/ 28195 w 1339596"/>
              <a:gd name="connsiteY0" fmla="*/ 12225 h 1230933"/>
              <a:gd name="connsiteX1" fmla="*/ 1306342 w 1339596"/>
              <a:gd name="connsiteY1" fmla="*/ 0 h 1230933"/>
              <a:gd name="connsiteX2" fmla="*/ 1339596 w 1339596"/>
              <a:gd name="connsiteY2" fmla="*/ 1230933 h 1230933"/>
              <a:gd name="connsiteX3" fmla="*/ 0 w 1339596"/>
              <a:gd name="connsiteY3" fmla="*/ 1230933 h 1230933"/>
              <a:gd name="connsiteX4" fmla="*/ 28195 w 1339596"/>
              <a:gd name="connsiteY4" fmla="*/ 12225 h 1230933"/>
              <a:gd name="connsiteX0" fmla="*/ 28195 w 1353846"/>
              <a:gd name="connsiteY0" fmla="*/ 6385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8195 w 1353846"/>
              <a:gd name="connsiteY4" fmla="*/ 6385 h 1225093"/>
              <a:gd name="connsiteX0" fmla="*/ 20681 w 1353846"/>
              <a:gd name="connsiteY0" fmla="*/ 6253 h 1225093"/>
              <a:gd name="connsiteX1" fmla="*/ 1353846 w 1353846"/>
              <a:gd name="connsiteY1" fmla="*/ 0 h 1225093"/>
              <a:gd name="connsiteX2" fmla="*/ 1339596 w 1353846"/>
              <a:gd name="connsiteY2" fmla="*/ 1225093 h 1225093"/>
              <a:gd name="connsiteX3" fmla="*/ 0 w 1353846"/>
              <a:gd name="connsiteY3" fmla="*/ 1225093 h 1225093"/>
              <a:gd name="connsiteX4" fmla="*/ 20681 w 1353846"/>
              <a:gd name="connsiteY4" fmla="*/ 6253 h 1225093"/>
              <a:gd name="connsiteX0" fmla="*/ 20681 w 1339596"/>
              <a:gd name="connsiteY0" fmla="*/ 6603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20681 w 1339596"/>
              <a:gd name="connsiteY4" fmla="*/ 6603 h 1225443"/>
              <a:gd name="connsiteX0" fmla="*/ 33205 w 1339596"/>
              <a:gd name="connsiteY0" fmla="*/ 682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33205 w 1339596"/>
              <a:gd name="connsiteY4" fmla="*/ 6822 h 1225443"/>
              <a:gd name="connsiteX0" fmla="*/ 13167 w 1339596"/>
              <a:gd name="connsiteY0" fmla="*/ 6472 h 1225443"/>
              <a:gd name="connsiteX1" fmla="*/ 1333808 w 1339596"/>
              <a:gd name="connsiteY1" fmla="*/ 0 h 1225443"/>
              <a:gd name="connsiteX2" fmla="*/ 1339596 w 1339596"/>
              <a:gd name="connsiteY2" fmla="*/ 1225443 h 1225443"/>
              <a:gd name="connsiteX3" fmla="*/ 0 w 1339596"/>
              <a:gd name="connsiteY3" fmla="*/ 1225443 h 1225443"/>
              <a:gd name="connsiteX4" fmla="*/ 13167 w 1339596"/>
              <a:gd name="connsiteY4" fmla="*/ 6472 h 1225443"/>
              <a:gd name="connsiteX0" fmla="*/ 13167 w 1333884"/>
              <a:gd name="connsiteY0" fmla="*/ 6472 h 1225443"/>
              <a:gd name="connsiteX1" fmla="*/ 1333808 w 1333884"/>
              <a:gd name="connsiteY1" fmla="*/ 0 h 1225443"/>
              <a:gd name="connsiteX2" fmla="*/ 1302330 w 1333884"/>
              <a:gd name="connsiteY2" fmla="*/ 1207253 h 1225443"/>
              <a:gd name="connsiteX3" fmla="*/ 0 w 1333884"/>
              <a:gd name="connsiteY3" fmla="*/ 1225443 h 1225443"/>
              <a:gd name="connsiteX4" fmla="*/ 13167 w 1333884"/>
              <a:gd name="connsiteY4" fmla="*/ 6472 h 1225443"/>
              <a:gd name="connsiteX0" fmla="*/ 13167 w 1334211"/>
              <a:gd name="connsiteY0" fmla="*/ 6472 h 1232826"/>
              <a:gd name="connsiteX1" fmla="*/ 1333808 w 1334211"/>
              <a:gd name="connsiteY1" fmla="*/ 0 h 1232826"/>
              <a:gd name="connsiteX2" fmla="*/ 1331950 w 1334211"/>
              <a:gd name="connsiteY2" fmla="*/ 1232826 h 1232826"/>
              <a:gd name="connsiteX3" fmla="*/ 0 w 1334211"/>
              <a:gd name="connsiteY3" fmla="*/ 1225443 h 1232826"/>
              <a:gd name="connsiteX4" fmla="*/ 13167 w 1334211"/>
              <a:gd name="connsiteY4" fmla="*/ 6472 h 1232826"/>
              <a:gd name="connsiteX0" fmla="*/ 13167 w 1333952"/>
              <a:gd name="connsiteY0" fmla="*/ 6472 h 1225443"/>
              <a:gd name="connsiteX1" fmla="*/ 1333808 w 1333952"/>
              <a:gd name="connsiteY1" fmla="*/ 0 h 1225443"/>
              <a:gd name="connsiteX2" fmla="*/ 1319601 w 1333952"/>
              <a:gd name="connsiteY2" fmla="*/ 1222588 h 1225443"/>
              <a:gd name="connsiteX3" fmla="*/ 0 w 1333952"/>
              <a:gd name="connsiteY3" fmla="*/ 1225443 h 1225443"/>
              <a:gd name="connsiteX4" fmla="*/ 13167 w 1333952"/>
              <a:gd name="connsiteY4" fmla="*/ 6472 h 1225443"/>
              <a:gd name="connsiteX0" fmla="*/ 30785 w 1333952"/>
              <a:gd name="connsiteY0" fmla="*/ 0 h 1235984"/>
              <a:gd name="connsiteX1" fmla="*/ 1333808 w 1333952"/>
              <a:gd name="connsiteY1" fmla="*/ 10541 h 1235984"/>
              <a:gd name="connsiteX2" fmla="*/ 1319601 w 1333952"/>
              <a:gd name="connsiteY2" fmla="*/ 1233129 h 1235984"/>
              <a:gd name="connsiteX3" fmla="*/ 0 w 1333952"/>
              <a:gd name="connsiteY3" fmla="*/ 1235984 h 1235984"/>
              <a:gd name="connsiteX4" fmla="*/ 30785 w 1333952"/>
              <a:gd name="connsiteY4" fmla="*/ 0 h 1235984"/>
              <a:gd name="connsiteX0" fmla="*/ 30785 w 1319601"/>
              <a:gd name="connsiteY0" fmla="*/ 0 h 1235984"/>
              <a:gd name="connsiteX1" fmla="*/ 1312848 w 1319601"/>
              <a:gd name="connsiteY1" fmla="*/ 20567 h 1235984"/>
              <a:gd name="connsiteX2" fmla="*/ 1319601 w 1319601"/>
              <a:gd name="connsiteY2" fmla="*/ 1233129 h 1235984"/>
              <a:gd name="connsiteX3" fmla="*/ 0 w 1319601"/>
              <a:gd name="connsiteY3" fmla="*/ 1235984 h 1235984"/>
              <a:gd name="connsiteX4" fmla="*/ 30785 w 1319601"/>
              <a:gd name="connsiteY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601" h="1235984">
                <a:moveTo>
                  <a:pt x="30785" y="0"/>
                </a:moveTo>
                <a:lnTo>
                  <a:pt x="1312848" y="20567"/>
                </a:lnTo>
                <a:cubicBezTo>
                  <a:pt x="1314777" y="429048"/>
                  <a:pt x="1317672" y="824648"/>
                  <a:pt x="1319601" y="1233129"/>
                </a:cubicBezTo>
                <a:lnTo>
                  <a:pt x="0" y="1235984"/>
                </a:lnTo>
                <a:lnTo>
                  <a:pt x="30785" y="0"/>
                </a:lnTo>
                <a:close/>
              </a:path>
            </a:pathLst>
          </a:custGeom>
          <a:gradFill flip="none" rotWithShape="1">
            <a:gsLst>
              <a:gs pos="21000">
                <a:schemeClr val="accent3">
                  <a:lumMod val="40000"/>
                  <a:lumOff val="60000"/>
                </a:schemeClr>
              </a:gs>
              <a:gs pos="0">
                <a:srgbClr val="C4D0AC"/>
              </a:gs>
              <a:gs pos="100000">
                <a:srgbClr val="94E53B"/>
              </a:gs>
            </a:gsLst>
            <a:lin ang="5400000" scaled="1"/>
            <a:tileRect/>
          </a:gra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cs typeface="Arial" pitchFamily="34" charset="0"/>
              </a:rPr>
              <a:t>A smarter way to track your money—Effortless multi-account &amp; multi-currency financial management in one app</a:t>
            </a:r>
          </a:p>
        </p:txBody>
      </p:sp>
    </p:spTree>
    <p:extLst>
      <p:ext uri="{BB962C8B-B14F-4D97-AF65-F5344CB8AC3E}">
        <p14:creationId xmlns:p14="http://schemas.microsoft.com/office/powerpoint/2010/main" val="4271403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f254e95e-62a3-40a1-932c-82337501044a">R6P5J5TEW4J4-2-114314</_dlc_DocId>
    <_dlc_DocIdUrl xmlns="f254e95e-62a3-40a1-932c-82337501044a">
      <Url>https://intranet.meta-group.com/_layouts/15/DocIdRedir.aspx?ID=R6P5J5TEW4J4-2-114314</Url>
      <Description>R6P5J5TEW4J4-2-114314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6B42942866594D81A2B9F4923872C9" ma:contentTypeVersion="1" ma:contentTypeDescription="Create a new document." ma:contentTypeScope="" ma:versionID="bedfa395339df92453a6043787b75b42">
  <xsd:schema xmlns:xsd="http://www.w3.org/2001/XMLSchema" xmlns:xs="http://www.w3.org/2001/XMLSchema" xmlns:p="http://schemas.microsoft.com/office/2006/metadata/properties" xmlns:ns2="f254e95e-62a3-40a1-932c-82337501044a" targetNamespace="http://schemas.microsoft.com/office/2006/metadata/properties" ma:root="true" ma:fieldsID="c9cf427657b3f0b98362e4eea826a043" ns2:_="">
    <xsd:import namespace="f254e95e-62a3-40a1-932c-82337501044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54e95e-62a3-40a1-932c-82337501044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20C997-50D7-4753-AEB6-391F4EAF044F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f254e95e-62a3-40a1-932c-82337501044a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CAB7C72-B2F2-401F-9064-CC4A0D6E8C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5607CD-818B-41F4-A6C3-672BBD5B92A3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563213F6-DE1F-455B-AA50-04C0844482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54e95e-62a3-40a1-932c-8233750104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227</Words>
  <Application>Microsoft Office PowerPoint</Application>
  <PresentationFormat>On-screen Show (4:3)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Dario Mazzella</dc:creator>
  <cp:lastModifiedBy>DRAGOS ADRIAN CUCIUREANU</cp:lastModifiedBy>
  <cp:revision>37</cp:revision>
  <dcterms:created xsi:type="dcterms:W3CDTF">2013-01-06T22:45:06Z</dcterms:created>
  <dcterms:modified xsi:type="dcterms:W3CDTF">2025-03-26T15:15:12Z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0x010100BA6B42942866594D81A2B9F4923872C9</vt:lpwstr>
  </property>
  <property fmtid="{D5CDD505-2E9C-101B-9397-08002B2CF9AE}" pid="3" name="_dlc_DocIdItemGuid">
    <vt:lpwstr>a5235421-9204-479f-b508-45dec6344aad</vt:lpwstr>
  </property>
</Properties>
</file>