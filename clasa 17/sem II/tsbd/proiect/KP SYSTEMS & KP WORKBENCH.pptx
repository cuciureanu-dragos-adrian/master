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</p:sldIdLst>
  <p:sldSz cx="18288000" cy="10287000"/>
  <p:notesSz cx="6858000" cy="9144000"/>
  <p:embeddedFontLst>
    <p:embeddedFont>
      <p:font typeface="Alexandria Bold" charset="1" panose="00000000000000000000"/>
      <p:regular r:id="rId37"/>
    </p:embeddedFont>
    <p:embeddedFont>
      <p:font typeface="Garet" charset="1" panose="00000000000000000000"/>
      <p:regular r:id="rId38"/>
    </p:embeddedFont>
    <p:embeddedFont>
      <p:font typeface="Garet Bold" charset="1" panose="00000000000000000000"/>
      <p:regular r:id="rId3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fonts/font37.fntdata" Type="http://schemas.openxmlformats.org/officeDocument/2006/relationships/font"/><Relationship Id="rId38" Target="fonts/font38.fntdata" Type="http://schemas.openxmlformats.org/officeDocument/2006/relationships/font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Relationship Id="rId8" Target="../media/image14.png" Type="http://schemas.openxmlformats.org/officeDocument/2006/relationships/image"/><Relationship Id="rId9" Target="../media/image15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6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7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8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9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20.png" Type="http://schemas.openxmlformats.org/officeDocument/2006/relationships/image"/><Relationship Id="rId7" Target="../media/image21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22.png" Type="http://schemas.openxmlformats.org/officeDocument/2006/relationships/image"/><Relationship Id="rId7" Target="../media/image23.png" Type="http://schemas.openxmlformats.org/officeDocument/2006/relationships/image"/><Relationship Id="rId8" Target="../media/image24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25.png" Type="http://schemas.openxmlformats.org/officeDocument/2006/relationships/image"/><Relationship Id="rId7" Target="../media/image26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27.png" Type="http://schemas.openxmlformats.org/officeDocument/2006/relationships/image"/><Relationship Id="rId7" Target="../media/image28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29.png" Type="http://schemas.openxmlformats.org/officeDocument/2006/relationships/image"/><Relationship Id="rId5" Target="../media/image30.png" Type="http://schemas.openxmlformats.org/officeDocument/2006/relationships/image"/><Relationship Id="rId6" Target="../media/image31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32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https://github.com/Kernel-P-Systems/kPWorkbench" TargetMode="External" Type="http://schemas.openxmlformats.org/officeDocument/2006/relationships/hyperlink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Relationship Id="rId3" Target="../media/image3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3809790" y="0"/>
            <a:ext cx="4478210" cy="3525572"/>
          </a:xfrm>
          <a:custGeom>
            <a:avLst/>
            <a:gdLst/>
            <a:ahLst/>
            <a:cxnLst/>
            <a:rect r="r" b="b" t="t" l="l"/>
            <a:pathLst>
              <a:path h="3525572" w="4478210">
                <a:moveTo>
                  <a:pt x="4478210" y="0"/>
                </a:moveTo>
                <a:lnTo>
                  <a:pt x="0" y="0"/>
                </a:lnTo>
                <a:lnTo>
                  <a:pt x="0" y="3525572"/>
                </a:lnTo>
                <a:lnTo>
                  <a:pt x="4478210" y="3525572"/>
                </a:lnTo>
                <a:lnTo>
                  <a:pt x="447821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3809790" y="5826116"/>
            <a:ext cx="4478210" cy="4478210"/>
          </a:xfrm>
          <a:custGeom>
            <a:avLst/>
            <a:gdLst/>
            <a:ahLst/>
            <a:cxnLst/>
            <a:rect r="r" b="b" t="t" l="l"/>
            <a:pathLst>
              <a:path h="4478210" w="4478210">
                <a:moveTo>
                  <a:pt x="4478210" y="0"/>
                </a:moveTo>
                <a:lnTo>
                  <a:pt x="0" y="0"/>
                </a:lnTo>
                <a:lnTo>
                  <a:pt x="0" y="4478210"/>
                </a:lnTo>
                <a:lnTo>
                  <a:pt x="4478210" y="4478210"/>
                </a:lnTo>
                <a:lnTo>
                  <a:pt x="447821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608093" y="3611057"/>
            <a:ext cx="10368096" cy="2396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236"/>
              </a:lnSpc>
            </a:pPr>
            <a:r>
              <a:rPr lang="en-US" b="true" sz="9236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KP SYSTEMS &amp; KP WORKBENCH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608093" y="6847612"/>
            <a:ext cx="10368096" cy="2223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Cărpineanu Alexandru</a:t>
            </a:r>
          </a:p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Cuciureanu Dragoș-Adrian</a:t>
            </a:r>
          </a:p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Vasile George-Cristian </a:t>
            </a:r>
          </a:p>
          <a:p>
            <a:pPr algn="l" marL="0" indent="0" lvl="0">
              <a:lnSpc>
                <a:spcPts val="4480"/>
              </a:lnSpc>
            </a:pPr>
            <a:r>
              <a:rPr lang="en-US" sz="32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Grupa 506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608093" y="1184301"/>
            <a:ext cx="10935840" cy="1081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24"/>
              </a:lnSpc>
              <a:spcBef>
                <a:spcPct val="0"/>
              </a:spcBef>
            </a:pPr>
            <a:r>
              <a:rPr lang="en-US" sz="316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Universitatea din București</a:t>
            </a:r>
          </a:p>
          <a:p>
            <a:pPr algn="l" marL="0" indent="0" lvl="0">
              <a:lnSpc>
                <a:spcPts val="4424"/>
              </a:lnSpc>
              <a:spcBef>
                <a:spcPct val="0"/>
              </a:spcBef>
            </a:pPr>
            <a:r>
              <a:rPr lang="en-US" sz="3160" strike="noStrike" u="none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Topici speciale în baze de date și tehnologii software</a:t>
            </a:r>
          </a:p>
        </p:txBody>
      </p:sp>
      <p:sp>
        <p:nvSpPr>
          <p:cNvPr name="AutoShape 8" id="8"/>
          <p:cNvSpPr/>
          <p:nvPr/>
        </p:nvSpPr>
        <p:spPr>
          <a:xfrm flipH="true">
            <a:off x="1939177" y="1215618"/>
            <a:ext cx="0" cy="7855765"/>
          </a:xfrm>
          <a:prstGeom prst="line">
            <a:avLst/>
          </a:prstGeom>
          <a:ln cap="flat" w="57150">
            <a:solidFill>
              <a:srgbClr val="3F3D3E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4733021" y="0"/>
            <a:ext cx="3554979" cy="2798738"/>
          </a:xfrm>
          <a:custGeom>
            <a:avLst/>
            <a:gdLst/>
            <a:ahLst/>
            <a:cxnLst/>
            <a:rect r="r" b="b" t="t" l="l"/>
            <a:pathLst>
              <a:path h="2798738" w="3554979">
                <a:moveTo>
                  <a:pt x="3554979" y="0"/>
                </a:moveTo>
                <a:lnTo>
                  <a:pt x="0" y="0"/>
                </a:lnTo>
                <a:lnTo>
                  <a:pt x="0" y="2798738"/>
                </a:lnTo>
                <a:lnTo>
                  <a:pt x="3554979" y="2798738"/>
                </a:lnTo>
                <a:lnTo>
                  <a:pt x="355497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226306" y="870414"/>
            <a:ext cx="9835389" cy="95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MEMBRANE COMPUTING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950845"/>
            <a:ext cx="16230600" cy="4204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4800"/>
              </a:lnSpc>
              <a:buFont typeface="Arial"/>
              <a:buChar char="•"/>
            </a:pP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Este o ramură a informaticii inspirată din natură.</a:t>
            </a:r>
          </a:p>
          <a:p>
            <a:pPr algn="l" marL="518160" indent="-259080" lvl="1">
              <a:lnSpc>
                <a:spcPts val="4800"/>
              </a:lnSpc>
              <a:buFont typeface="Arial"/>
              <a:buChar char="•"/>
            </a:pP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Se bazează pe modul de funcționare a celulelor.</a:t>
            </a:r>
          </a:p>
          <a:p>
            <a:pPr algn="l" marL="518160" indent="-259080" lvl="1">
              <a:lnSpc>
                <a:spcPts val="4800"/>
              </a:lnSpc>
              <a:buFont typeface="Arial"/>
              <a:buChar char="•"/>
            </a:pP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Folosesc sisteme de membrane, denumite </a:t>
            </a:r>
            <a:r>
              <a:rPr lang="en-US" b="true" sz="2400">
                <a:solidFill>
                  <a:srgbClr val="3F3D3E"/>
                </a:solidFill>
                <a:latin typeface="Garet Bold"/>
                <a:ea typeface="Garet Bold"/>
                <a:cs typeface="Garet Bold"/>
                <a:sym typeface="Garet Bold"/>
              </a:rPr>
              <a:t>P systems</a:t>
            </a: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 (definite în continuare), ca sistem central de formalizare.</a:t>
            </a:r>
          </a:p>
          <a:p>
            <a:pPr algn="l" marL="518160" indent="-259080" lvl="1">
              <a:lnSpc>
                <a:spcPts val="4800"/>
              </a:lnSpc>
              <a:buFont typeface="Arial"/>
              <a:buChar char="•"/>
            </a:pP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Are ca scop </a:t>
            </a:r>
            <a:r>
              <a:rPr lang="en-US" b="true" sz="2400">
                <a:solidFill>
                  <a:srgbClr val="3F3D3E"/>
                </a:solidFill>
                <a:latin typeface="Garet Bold"/>
                <a:ea typeface="Garet Bold"/>
                <a:cs typeface="Garet Bold"/>
                <a:sym typeface="Garet Bold"/>
              </a:rPr>
              <a:t>simularea, verificarea și rezolvarea problemelor computaționale.</a:t>
            </a:r>
          </a:p>
          <a:p>
            <a:pPr algn="l" marL="518160" indent="-259080" lvl="1">
              <a:lnSpc>
                <a:spcPts val="4800"/>
              </a:lnSpc>
              <a:buFont typeface="Arial"/>
              <a:buChar char="•"/>
            </a:pP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Se poate folosi în biologie, sisteme distribuite, optimizări, etc..</a:t>
            </a:r>
          </a:p>
          <a:p>
            <a:pPr algn="l">
              <a:lnSpc>
                <a:spcPts val="4800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false" flipV="true" rot="0">
            <a:off x="0" y="0"/>
            <a:ext cx="2798738" cy="2798738"/>
          </a:xfrm>
          <a:custGeom>
            <a:avLst/>
            <a:gdLst/>
            <a:ahLst/>
            <a:cxnLst/>
            <a:rect r="r" b="b" t="t" l="l"/>
            <a:pathLst>
              <a:path h="2798738" w="2798738">
                <a:moveTo>
                  <a:pt x="0" y="2798738"/>
                </a:moveTo>
                <a:lnTo>
                  <a:pt x="2798738" y="2798738"/>
                </a:lnTo>
                <a:lnTo>
                  <a:pt x="2798738" y="0"/>
                </a:lnTo>
                <a:lnTo>
                  <a:pt x="0" y="0"/>
                </a:lnTo>
                <a:lnTo>
                  <a:pt x="0" y="279873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358274" y="7275132"/>
            <a:ext cx="2929726" cy="3011868"/>
          </a:xfrm>
          <a:custGeom>
            <a:avLst/>
            <a:gdLst/>
            <a:ahLst/>
            <a:cxnLst/>
            <a:rect r="r" b="b" t="t" l="l"/>
            <a:pathLst>
              <a:path h="3011868" w="2929726">
                <a:moveTo>
                  <a:pt x="0" y="0"/>
                </a:moveTo>
                <a:lnTo>
                  <a:pt x="2929726" y="0"/>
                </a:lnTo>
                <a:lnTo>
                  <a:pt x="2929726" y="3011868"/>
                </a:lnTo>
                <a:lnTo>
                  <a:pt x="0" y="301186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226306" y="870414"/>
            <a:ext cx="9835389" cy="95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P SYSTEMS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3130526"/>
            <a:ext cx="16230600" cy="4204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b="true" sz="2400">
                <a:solidFill>
                  <a:srgbClr val="3F3D3E"/>
                </a:solidFill>
                <a:latin typeface="Garet Bold"/>
                <a:ea typeface="Garet Bold"/>
                <a:cs typeface="Garet Bold"/>
                <a:sym typeface="Garet Bold"/>
              </a:rPr>
              <a:t>P Systems</a:t>
            </a: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 s</a:t>
            </a: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unt un model inspirat din structura și funcționarea celulelor.</a:t>
            </a:r>
          </a:p>
          <a:p>
            <a:pPr algn="l">
              <a:lnSpc>
                <a:spcPts val="4800"/>
              </a:lnSpc>
            </a:pP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Sunt alcătuite din:</a:t>
            </a:r>
          </a:p>
          <a:p>
            <a:pPr algn="l" marL="518162" indent="-259081" lvl="1">
              <a:lnSpc>
                <a:spcPts val="4800"/>
              </a:lnSpc>
              <a:buFont typeface="Arial"/>
              <a:buChar char="•"/>
            </a:pPr>
            <a:r>
              <a:rPr lang="en-US" b="true" sz="2400">
                <a:solidFill>
                  <a:srgbClr val="3F3D3E"/>
                </a:solidFill>
                <a:latin typeface="Garet Bold"/>
                <a:ea typeface="Garet Bold"/>
                <a:cs typeface="Garet Bold"/>
                <a:sym typeface="Garet Bold"/>
              </a:rPr>
              <a:t>Membrane </a:t>
            </a: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- compartimente organizate într-o structură ierarhică, sub formă de arbore</a:t>
            </a:r>
          </a:p>
          <a:p>
            <a:pPr algn="l" marL="518162" indent="-259081" lvl="1">
              <a:lnSpc>
                <a:spcPts val="4800"/>
              </a:lnSpc>
              <a:buFont typeface="Arial"/>
              <a:buChar char="•"/>
            </a:pPr>
            <a:r>
              <a:rPr lang="en-US" b="true" sz="2400">
                <a:solidFill>
                  <a:srgbClr val="3F3D3E"/>
                </a:solidFill>
                <a:latin typeface="Garet Bold"/>
                <a:ea typeface="Garet Bold"/>
                <a:cs typeface="Garet Bold"/>
                <a:sym typeface="Garet Bold"/>
              </a:rPr>
              <a:t>Obiecte </a:t>
            </a: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- simboluri ce reprezintă entități, deținute de compartimente: S, C, V</a:t>
            </a:r>
          </a:p>
          <a:p>
            <a:pPr algn="l" marL="518162" indent="-259081" lvl="1">
              <a:lnSpc>
                <a:spcPts val="4800"/>
              </a:lnSpc>
              <a:buFont typeface="Arial"/>
              <a:buChar char="•"/>
            </a:pPr>
            <a:r>
              <a:rPr lang="en-US" b="true" sz="2400">
                <a:solidFill>
                  <a:srgbClr val="3F3D3E"/>
                </a:solidFill>
                <a:latin typeface="Garet Bold"/>
                <a:ea typeface="Garet Bold"/>
                <a:cs typeface="Garet Bold"/>
                <a:sym typeface="Garet Bold"/>
              </a:rPr>
              <a:t>Multiseturi </a:t>
            </a:r>
            <a:r>
              <a:rPr lang="en-US" b="true" sz="2400">
                <a:solidFill>
                  <a:srgbClr val="3F3D3E"/>
                </a:solidFill>
                <a:latin typeface="Garet Bold"/>
                <a:ea typeface="Garet Bold"/>
                <a:cs typeface="Garet Bold"/>
                <a:sym typeface="Garet Bold"/>
              </a:rPr>
              <a:t>de obiecte</a:t>
            </a: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 - O grupare de obiecte: {S, V}</a:t>
            </a:r>
          </a:p>
          <a:p>
            <a:pPr algn="l" marL="518162" indent="-259081" lvl="1">
              <a:lnSpc>
                <a:spcPts val="4800"/>
              </a:lnSpc>
              <a:buFont typeface="Arial"/>
              <a:buChar char="•"/>
            </a:pPr>
            <a:r>
              <a:rPr lang="en-US" b="true" sz="2400" strike="noStrike" u="none">
                <a:solidFill>
                  <a:srgbClr val="3F3D3E"/>
                </a:solidFill>
                <a:latin typeface="Garet Bold"/>
                <a:ea typeface="Garet Bold"/>
                <a:cs typeface="Garet Bold"/>
                <a:sym typeface="Garet Bold"/>
              </a:rPr>
              <a:t>Reguli </a:t>
            </a:r>
            <a:r>
              <a:rPr lang="en-US" sz="2400" strike="noStrike" u="none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- Modul în care obiectele se modifică sau se tranziționează în alt compartiment: S → V</a:t>
            </a:r>
          </a:p>
          <a:p>
            <a:pPr algn="l" marL="518162" indent="-259081" lvl="1">
              <a:lnSpc>
                <a:spcPts val="4800"/>
              </a:lnSpc>
              <a:buFont typeface="Arial"/>
              <a:buChar char="•"/>
            </a:pPr>
            <a:r>
              <a:rPr lang="en-US" b="true" sz="2400" strike="noStrike" u="none">
                <a:solidFill>
                  <a:srgbClr val="3F3D3E"/>
                </a:solidFill>
                <a:latin typeface="Garet Bold"/>
                <a:ea typeface="Garet Bold"/>
                <a:cs typeface="Garet Bold"/>
                <a:sym typeface="Garet Bold"/>
              </a:rPr>
              <a:t>Execuție </a:t>
            </a:r>
            <a:r>
              <a:rPr lang="en-US" sz="2400" strike="noStrike" u="none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- Calcul realizat prin aplicarea regulilor, utilizând paralelismul maxim</a:t>
            </a:r>
          </a:p>
        </p:txBody>
      </p:sp>
      <p:sp>
        <p:nvSpPr>
          <p:cNvPr name="Freeform 4" id="4"/>
          <p:cNvSpPr/>
          <p:nvPr/>
        </p:nvSpPr>
        <p:spPr>
          <a:xfrm flipH="true" flipV="false" rot="0">
            <a:off x="14733021" y="0"/>
            <a:ext cx="3554979" cy="2798738"/>
          </a:xfrm>
          <a:custGeom>
            <a:avLst/>
            <a:gdLst/>
            <a:ahLst/>
            <a:cxnLst/>
            <a:rect r="r" b="b" t="t" l="l"/>
            <a:pathLst>
              <a:path h="2798738" w="3554979">
                <a:moveTo>
                  <a:pt x="3554979" y="0"/>
                </a:moveTo>
                <a:lnTo>
                  <a:pt x="0" y="0"/>
                </a:lnTo>
                <a:lnTo>
                  <a:pt x="0" y="2798738"/>
                </a:lnTo>
                <a:lnTo>
                  <a:pt x="3554979" y="2798738"/>
                </a:lnTo>
                <a:lnTo>
                  <a:pt x="355497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0" y="0"/>
            <a:ext cx="2798738" cy="2798738"/>
          </a:xfrm>
          <a:custGeom>
            <a:avLst/>
            <a:gdLst/>
            <a:ahLst/>
            <a:cxnLst/>
            <a:rect r="r" b="b" t="t" l="l"/>
            <a:pathLst>
              <a:path h="2798738" w="2798738">
                <a:moveTo>
                  <a:pt x="0" y="2798738"/>
                </a:moveTo>
                <a:lnTo>
                  <a:pt x="2798738" y="2798738"/>
                </a:lnTo>
                <a:lnTo>
                  <a:pt x="2798738" y="0"/>
                </a:lnTo>
                <a:lnTo>
                  <a:pt x="0" y="0"/>
                </a:lnTo>
                <a:lnTo>
                  <a:pt x="0" y="279873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235788" y="375114"/>
            <a:ext cx="13816423" cy="1943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DEFINIȚIA FORMALĂ A UNUI P SYSTEM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3818136"/>
            <a:ext cx="16230600" cy="3594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Un </a:t>
            </a:r>
            <a:r>
              <a:rPr lang="en-US" b="true" sz="2400">
                <a:solidFill>
                  <a:srgbClr val="3F3D3E"/>
                </a:solidFill>
                <a:latin typeface="Garet Bold"/>
                <a:ea typeface="Garet Bold"/>
                <a:cs typeface="Garet Bold"/>
                <a:sym typeface="Garet Bold"/>
              </a:rPr>
              <a:t>P system</a:t>
            </a: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 se definește ca fiind un tuplu de forma </a:t>
            </a:r>
            <a:r>
              <a:rPr lang="en-US" b="true" sz="2400">
                <a:solidFill>
                  <a:srgbClr val="3F3D3E"/>
                </a:solidFill>
                <a:latin typeface="Garet Bold"/>
                <a:ea typeface="Garet Bold"/>
                <a:cs typeface="Garet Bold"/>
                <a:sym typeface="Garet Bold"/>
              </a:rPr>
              <a:t>P = (O, μ, w</a:t>
            </a:r>
            <a:r>
              <a:rPr lang="en-US" b="true" sz="2400">
                <a:solidFill>
                  <a:srgbClr val="3F3D3E"/>
                </a:solidFill>
                <a:latin typeface="Garet Bold"/>
                <a:ea typeface="Garet Bold"/>
                <a:cs typeface="Garet Bold"/>
                <a:sym typeface="Garet Bold"/>
              </a:rPr>
              <a:t>1</a:t>
            </a:r>
            <a:r>
              <a:rPr lang="en-US" b="true" sz="2400">
                <a:solidFill>
                  <a:srgbClr val="3F3D3E"/>
                </a:solidFill>
                <a:latin typeface="Garet Bold"/>
                <a:ea typeface="Garet Bold"/>
                <a:cs typeface="Garet Bold"/>
                <a:sym typeface="Garet Bold"/>
              </a:rPr>
              <a:t>, ..., w</a:t>
            </a:r>
            <a:r>
              <a:rPr lang="en-US" b="true" sz="2400">
                <a:solidFill>
                  <a:srgbClr val="3F3D3E"/>
                </a:solidFill>
                <a:latin typeface="Garet Bold"/>
                <a:ea typeface="Garet Bold"/>
                <a:cs typeface="Garet Bold"/>
                <a:sym typeface="Garet Bold"/>
              </a:rPr>
              <a:t>n</a:t>
            </a:r>
            <a:r>
              <a:rPr lang="en-US" b="true" sz="2400">
                <a:solidFill>
                  <a:srgbClr val="3F3D3E"/>
                </a:solidFill>
                <a:latin typeface="Garet Bold"/>
                <a:ea typeface="Garet Bold"/>
                <a:cs typeface="Garet Bold"/>
                <a:sym typeface="Garet Bold"/>
              </a:rPr>
              <a:t>, R</a:t>
            </a:r>
            <a:r>
              <a:rPr lang="en-US" b="true" sz="2400">
                <a:solidFill>
                  <a:srgbClr val="3F3D3E"/>
                </a:solidFill>
                <a:latin typeface="Garet Bold"/>
                <a:ea typeface="Garet Bold"/>
                <a:cs typeface="Garet Bold"/>
                <a:sym typeface="Garet Bold"/>
              </a:rPr>
              <a:t>1</a:t>
            </a:r>
            <a:r>
              <a:rPr lang="en-US" b="true" sz="2400">
                <a:solidFill>
                  <a:srgbClr val="3F3D3E"/>
                </a:solidFill>
                <a:latin typeface="Garet Bold"/>
                <a:ea typeface="Garet Bold"/>
                <a:cs typeface="Garet Bold"/>
                <a:sym typeface="Garet Bold"/>
              </a:rPr>
              <a:t>, ..., R</a:t>
            </a:r>
            <a:r>
              <a:rPr lang="en-US" b="true" sz="2400">
                <a:solidFill>
                  <a:srgbClr val="3F3D3E"/>
                </a:solidFill>
                <a:latin typeface="Garet Bold"/>
                <a:ea typeface="Garet Bold"/>
                <a:cs typeface="Garet Bold"/>
                <a:sym typeface="Garet Bold"/>
              </a:rPr>
              <a:t>n</a:t>
            </a:r>
            <a:r>
              <a:rPr lang="en-US" b="true" sz="2400">
                <a:solidFill>
                  <a:srgbClr val="3F3D3E"/>
                </a:solidFill>
                <a:latin typeface="Garet Bold"/>
                <a:ea typeface="Garet Bold"/>
                <a:cs typeface="Garet Bold"/>
                <a:sym typeface="Garet Bold"/>
              </a:rPr>
              <a:t>, i</a:t>
            </a:r>
            <a:r>
              <a:rPr lang="en-US" b="true" sz="2400">
                <a:solidFill>
                  <a:srgbClr val="3F3D3E"/>
                </a:solidFill>
                <a:latin typeface="Garet Bold"/>
                <a:ea typeface="Garet Bold"/>
                <a:cs typeface="Garet Bold"/>
                <a:sym typeface="Garet Bold"/>
              </a:rPr>
              <a:t>0</a:t>
            </a:r>
            <a:r>
              <a:rPr lang="en-US" b="true" sz="2400">
                <a:solidFill>
                  <a:srgbClr val="3F3D3E"/>
                </a:solidFill>
                <a:latin typeface="Garet Bold"/>
                <a:ea typeface="Garet Bold"/>
                <a:cs typeface="Garet Bold"/>
                <a:sym typeface="Garet Bold"/>
              </a:rPr>
              <a:t>)</a:t>
            </a: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, unde:</a:t>
            </a:r>
          </a:p>
          <a:p>
            <a:pPr algn="l" marL="518160" indent="-259080" lvl="1">
              <a:lnSpc>
                <a:spcPts val="4800"/>
              </a:lnSpc>
              <a:buFont typeface="Arial"/>
              <a:buChar char="•"/>
            </a:pPr>
            <a:r>
              <a:rPr lang="en-US" b="true" sz="2400">
                <a:solidFill>
                  <a:srgbClr val="3F3D3E"/>
                </a:solidFill>
                <a:latin typeface="Garet Bold"/>
                <a:ea typeface="Garet Bold"/>
                <a:cs typeface="Garet Bold"/>
                <a:sym typeface="Garet Bold"/>
              </a:rPr>
              <a:t>O</a:t>
            </a: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 este alfabetul (un set finit de obiecte din sistem),</a:t>
            </a:r>
          </a:p>
          <a:p>
            <a:pPr algn="l" marL="518160" indent="-259080" lvl="1">
              <a:lnSpc>
                <a:spcPts val="4800"/>
              </a:lnSpc>
              <a:buFont typeface="Arial"/>
              <a:buChar char="•"/>
            </a:pPr>
            <a:r>
              <a:rPr lang="en-US" b="true" sz="2400">
                <a:solidFill>
                  <a:srgbClr val="3F3D3E"/>
                </a:solidFill>
                <a:latin typeface="Garet Bold"/>
                <a:ea typeface="Garet Bold"/>
                <a:cs typeface="Garet Bold"/>
                <a:sym typeface="Garet Bold"/>
              </a:rPr>
              <a:t>μ</a:t>
            </a: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 este structura celor n compartimentelor,</a:t>
            </a:r>
          </a:p>
          <a:p>
            <a:pPr algn="l" marL="518160" indent="-259080" lvl="1">
              <a:lnSpc>
                <a:spcPts val="4800"/>
              </a:lnSpc>
              <a:buFont typeface="Arial"/>
              <a:buChar char="•"/>
            </a:pPr>
            <a:r>
              <a:rPr lang="en-US" b="true" sz="2400">
                <a:solidFill>
                  <a:srgbClr val="3F3D3E"/>
                </a:solidFill>
                <a:latin typeface="Garet Bold"/>
                <a:ea typeface="Garet Bold"/>
                <a:cs typeface="Garet Bold"/>
                <a:sym typeface="Garet Bold"/>
              </a:rPr>
              <a:t>w</a:t>
            </a:r>
            <a:r>
              <a:rPr lang="en-US" b="true" sz="2400">
                <a:solidFill>
                  <a:srgbClr val="3F3D3E"/>
                </a:solidFill>
                <a:latin typeface="Garet Bold"/>
                <a:ea typeface="Garet Bold"/>
                <a:cs typeface="Garet Bold"/>
                <a:sym typeface="Garet Bold"/>
              </a:rPr>
              <a:t>1</a:t>
            </a:r>
            <a:r>
              <a:rPr lang="en-US" b="true" sz="2400">
                <a:solidFill>
                  <a:srgbClr val="3F3D3E"/>
                </a:solidFill>
                <a:latin typeface="Garet Bold"/>
                <a:ea typeface="Garet Bold"/>
                <a:cs typeface="Garet Bold"/>
                <a:sym typeface="Garet Bold"/>
              </a:rPr>
              <a:t>,</a:t>
            </a:r>
            <a:r>
              <a:rPr lang="en-US" b="true" sz="2400">
                <a:solidFill>
                  <a:srgbClr val="3F3D3E"/>
                </a:solidFill>
                <a:latin typeface="Garet Bold"/>
                <a:ea typeface="Garet Bold"/>
                <a:cs typeface="Garet Bold"/>
                <a:sym typeface="Garet Bold"/>
              </a:rPr>
              <a:t> ..., w</a:t>
            </a:r>
            <a:r>
              <a:rPr lang="en-US" b="true" sz="2400">
                <a:solidFill>
                  <a:srgbClr val="3F3D3E"/>
                </a:solidFill>
                <a:latin typeface="Garet Bold"/>
                <a:ea typeface="Garet Bold"/>
                <a:cs typeface="Garet Bold"/>
                <a:sym typeface="Garet Bold"/>
              </a:rPr>
              <a:t>n</a:t>
            </a:r>
            <a:r>
              <a:rPr lang="en-US" b="true" sz="2400">
                <a:solidFill>
                  <a:srgbClr val="3F3D3E"/>
                </a:solidFill>
                <a:latin typeface="Garet Bold"/>
                <a:ea typeface="Garet Bold"/>
                <a:cs typeface="Garet Bold"/>
                <a:sym typeface="Garet Bold"/>
              </a:rPr>
              <a:t>,</a:t>
            </a: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sunt multiseturile din O, cu multisetul inițial w</a:t>
            </a: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i</a:t>
            </a: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,</a:t>
            </a:r>
          </a:p>
          <a:p>
            <a:pPr algn="l" marL="518160" indent="-259080" lvl="1">
              <a:lnSpc>
                <a:spcPts val="4800"/>
              </a:lnSpc>
              <a:buFont typeface="Arial"/>
              <a:buChar char="•"/>
            </a:pPr>
            <a:r>
              <a:rPr lang="en-US" b="true" sz="2400">
                <a:solidFill>
                  <a:srgbClr val="3F3D3E"/>
                </a:solidFill>
                <a:latin typeface="Garet Bold"/>
                <a:ea typeface="Garet Bold"/>
                <a:cs typeface="Garet Bold"/>
                <a:sym typeface="Garet Bold"/>
              </a:rPr>
              <a:t>R</a:t>
            </a:r>
            <a:r>
              <a:rPr lang="en-US" b="true" sz="2400">
                <a:solidFill>
                  <a:srgbClr val="3F3D3E"/>
                </a:solidFill>
                <a:latin typeface="Garet Bold"/>
                <a:ea typeface="Garet Bold"/>
                <a:cs typeface="Garet Bold"/>
                <a:sym typeface="Garet Bold"/>
              </a:rPr>
              <a:t>1</a:t>
            </a:r>
            <a:r>
              <a:rPr lang="en-US" b="true" sz="2400">
                <a:solidFill>
                  <a:srgbClr val="3F3D3E"/>
                </a:solidFill>
                <a:latin typeface="Garet Bold"/>
                <a:ea typeface="Garet Bold"/>
                <a:cs typeface="Garet Bold"/>
                <a:sym typeface="Garet Bold"/>
              </a:rPr>
              <a:t>, ..., R</a:t>
            </a:r>
            <a:r>
              <a:rPr lang="en-US" b="true" sz="2400">
                <a:solidFill>
                  <a:srgbClr val="3F3D3E"/>
                </a:solidFill>
                <a:latin typeface="Garet Bold"/>
                <a:ea typeface="Garet Bold"/>
                <a:cs typeface="Garet Bold"/>
                <a:sym typeface="Garet Bold"/>
              </a:rPr>
              <a:t>n</a:t>
            </a:r>
            <a:r>
              <a:rPr lang="en-US" b="true" sz="2400">
                <a:solidFill>
                  <a:srgbClr val="3F3D3E"/>
                </a:solidFill>
                <a:latin typeface="Garet Bold"/>
                <a:ea typeface="Garet Bold"/>
                <a:cs typeface="Garet Bold"/>
                <a:sym typeface="Garet Bold"/>
              </a:rPr>
              <a:t> </a:t>
            </a: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sunt setul de reguli</a:t>
            </a:r>
          </a:p>
          <a:p>
            <a:pPr algn="l" marL="518160" indent="-259080" lvl="1">
              <a:lnSpc>
                <a:spcPts val="4800"/>
              </a:lnSpc>
              <a:buFont typeface="Arial"/>
              <a:buChar char="•"/>
            </a:pPr>
            <a:r>
              <a:rPr lang="en-US" b="true" sz="2400">
                <a:solidFill>
                  <a:srgbClr val="3F3D3E"/>
                </a:solidFill>
                <a:latin typeface="Garet Bold"/>
                <a:ea typeface="Garet Bold"/>
                <a:cs typeface="Garet Bold"/>
                <a:sym typeface="Garet Bold"/>
              </a:rPr>
              <a:t>i</a:t>
            </a:r>
            <a:r>
              <a:rPr lang="en-US" b="true" sz="2400">
                <a:solidFill>
                  <a:srgbClr val="3F3D3E"/>
                </a:solidFill>
                <a:latin typeface="Garet Bold"/>
                <a:ea typeface="Garet Bold"/>
                <a:cs typeface="Garet Bold"/>
                <a:sym typeface="Garet Bold"/>
              </a:rPr>
              <a:t>0</a:t>
            </a: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 este compartimentul de output, unde se va obține rezultatul.</a:t>
            </a:r>
          </a:p>
        </p:txBody>
      </p:sp>
      <p:sp>
        <p:nvSpPr>
          <p:cNvPr name="Freeform 4" id="4"/>
          <p:cNvSpPr/>
          <p:nvPr/>
        </p:nvSpPr>
        <p:spPr>
          <a:xfrm flipH="true" flipV="false" rot="0">
            <a:off x="14733021" y="0"/>
            <a:ext cx="3554979" cy="2798738"/>
          </a:xfrm>
          <a:custGeom>
            <a:avLst/>
            <a:gdLst/>
            <a:ahLst/>
            <a:cxnLst/>
            <a:rect r="r" b="b" t="t" l="l"/>
            <a:pathLst>
              <a:path h="2798738" w="3554979">
                <a:moveTo>
                  <a:pt x="3554979" y="0"/>
                </a:moveTo>
                <a:lnTo>
                  <a:pt x="0" y="0"/>
                </a:lnTo>
                <a:lnTo>
                  <a:pt x="0" y="2798738"/>
                </a:lnTo>
                <a:lnTo>
                  <a:pt x="3554979" y="2798738"/>
                </a:lnTo>
                <a:lnTo>
                  <a:pt x="355497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0" y="0"/>
            <a:ext cx="2798738" cy="2798738"/>
          </a:xfrm>
          <a:custGeom>
            <a:avLst/>
            <a:gdLst/>
            <a:ahLst/>
            <a:cxnLst/>
            <a:rect r="r" b="b" t="t" l="l"/>
            <a:pathLst>
              <a:path h="2798738" w="2798738">
                <a:moveTo>
                  <a:pt x="0" y="2798738"/>
                </a:moveTo>
                <a:lnTo>
                  <a:pt x="2798738" y="2798738"/>
                </a:lnTo>
                <a:lnTo>
                  <a:pt x="2798738" y="0"/>
                </a:lnTo>
                <a:lnTo>
                  <a:pt x="0" y="0"/>
                </a:lnTo>
                <a:lnTo>
                  <a:pt x="0" y="279873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34710" y="870414"/>
            <a:ext cx="13218580" cy="95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KERNEL P (KP) SYSTEMS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3560445"/>
            <a:ext cx="16230600" cy="3594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00"/>
              </a:lnSpc>
            </a:pPr>
            <a:r>
              <a:rPr lang="en-US" sz="2400" b="true">
                <a:solidFill>
                  <a:srgbClr val="3F3D3E"/>
                </a:solidFill>
                <a:latin typeface="Garet Bold"/>
                <a:ea typeface="Garet Bold"/>
                <a:cs typeface="Garet Bold"/>
                <a:sym typeface="Garet Bold"/>
              </a:rPr>
              <a:t>Kernel P (kP) System </a:t>
            </a: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au următoarele proprietăți:</a:t>
            </a:r>
          </a:p>
          <a:p>
            <a:pPr algn="just" marL="518160" indent="-259080" lvl="1">
              <a:lnSpc>
                <a:spcPts val="4800"/>
              </a:lnSpc>
              <a:buFont typeface="Arial"/>
              <a:buChar char="•"/>
            </a:pP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Extind multiple sisteme P (tissue P systems, spiking neural P systems, etc.) cu scopul de a ușura modul de definire a sistemelor complexe, prin oferirea unei modalități mai structurate de a defini operațiile și procesarea datelor.</a:t>
            </a:r>
          </a:p>
          <a:p>
            <a:pPr algn="just" marL="518160" indent="-259080" lvl="1">
              <a:lnSpc>
                <a:spcPts val="4800"/>
              </a:lnSpc>
              <a:buFont typeface="Arial"/>
              <a:buChar char="•"/>
            </a:pP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Structură dinamică: Compartimente organizate sub formă de graf (vs. ierarhie fixă).</a:t>
            </a:r>
          </a:p>
          <a:p>
            <a:pPr algn="just" marL="518160" indent="-259080" lvl="1">
              <a:lnSpc>
                <a:spcPts val="4800"/>
              </a:lnSpc>
              <a:buFont typeface="Arial"/>
              <a:buChar char="•"/>
            </a:pP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Fiecare compartiment are un tip, definindu-și propriile reguli și strategii de execuție.</a:t>
            </a:r>
          </a:p>
        </p:txBody>
      </p:sp>
      <p:sp>
        <p:nvSpPr>
          <p:cNvPr name="Freeform 4" id="4"/>
          <p:cNvSpPr/>
          <p:nvPr/>
        </p:nvSpPr>
        <p:spPr>
          <a:xfrm flipH="true" flipV="false" rot="0">
            <a:off x="14733021" y="0"/>
            <a:ext cx="3554979" cy="2798738"/>
          </a:xfrm>
          <a:custGeom>
            <a:avLst/>
            <a:gdLst/>
            <a:ahLst/>
            <a:cxnLst/>
            <a:rect r="r" b="b" t="t" l="l"/>
            <a:pathLst>
              <a:path h="2798738" w="3554979">
                <a:moveTo>
                  <a:pt x="3554979" y="0"/>
                </a:moveTo>
                <a:lnTo>
                  <a:pt x="0" y="0"/>
                </a:lnTo>
                <a:lnTo>
                  <a:pt x="0" y="2798738"/>
                </a:lnTo>
                <a:lnTo>
                  <a:pt x="3554979" y="2798738"/>
                </a:lnTo>
                <a:lnTo>
                  <a:pt x="355497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0" y="0"/>
            <a:ext cx="2798738" cy="2798738"/>
          </a:xfrm>
          <a:custGeom>
            <a:avLst/>
            <a:gdLst/>
            <a:ahLst/>
            <a:cxnLst/>
            <a:rect r="r" b="b" t="t" l="l"/>
            <a:pathLst>
              <a:path h="2798738" w="2798738">
                <a:moveTo>
                  <a:pt x="0" y="2798738"/>
                </a:moveTo>
                <a:lnTo>
                  <a:pt x="2798738" y="2798738"/>
                </a:lnTo>
                <a:lnTo>
                  <a:pt x="2798738" y="0"/>
                </a:lnTo>
                <a:lnTo>
                  <a:pt x="0" y="0"/>
                </a:lnTo>
                <a:lnTo>
                  <a:pt x="0" y="279873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0">
            <a:off x="0" y="8566383"/>
            <a:ext cx="2185541" cy="1720617"/>
          </a:xfrm>
          <a:custGeom>
            <a:avLst/>
            <a:gdLst/>
            <a:ahLst/>
            <a:cxnLst/>
            <a:rect r="r" b="b" t="t" l="l"/>
            <a:pathLst>
              <a:path h="1720617" w="2185541">
                <a:moveTo>
                  <a:pt x="0" y="1720617"/>
                </a:moveTo>
                <a:lnTo>
                  <a:pt x="2185541" y="1720617"/>
                </a:lnTo>
                <a:lnTo>
                  <a:pt x="2185541" y="0"/>
                </a:lnTo>
                <a:lnTo>
                  <a:pt x="0" y="0"/>
                </a:lnTo>
                <a:lnTo>
                  <a:pt x="0" y="1720617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235788" y="375114"/>
            <a:ext cx="13816423" cy="1943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DEFINIȚIA FORMALĂ A UNUI KP SYSTEM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3818136"/>
            <a:ext cx="16230600" cy="3594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Un </a:t>
            </a:r>
            <a:r>
              <a:rPr lang="en-US" b="true" sz="2400">
                <a:solidFill>
                  <a:srgbClr val="3F3D3E"/>
                </a:solidFill>
                <a:latin typeface="Garet Bold"/>
                <a:ea typeface="Garet Bold"/>
                <a:cs typeface="Garet Bold"/>
                <a:sym typeface="Garet Bold"/>
              </a:rPr>
              <a:t>kP system de grad n</a:t>
            </a: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 se definește ca fiind un tuplu de forma </a:t>
            </a:r>
            <a:r>
              <a:rPr lang="en-US" b="true" sz="2400">
                <a:solidFill>
                  <a:srgbClr val="3F3D3E"/>
                </a:solidFill>
                <a:latin typeface="Garet Bold"/>
                <a:ea typeface="Garet Bold"/>
                <a:cs typeface="Garet Bold"/>
                <a:sym typeface="Garet Bold"/>
              </a:rPr>
              <a:t>kΠ = (A, μ, C</a:t>
            </a:r>
            <a:r>
              <a:rPr lang="en-US" b="true" sz="2400">
                <a:solidFill>
                  <a:srgbClr val="3F3D3E"/>
                </a:solidFill>
                <a:latin typeface="Garet Bold"/>
                <a:ea typeface="Garet Bold"/>
                <a:cs typeface="Garet Bold"/>
                <a:sym typeface="Garet Bold"/>
              </a:rPr>
              <a:t>1</a:t>
            </a:r>
            <a:r>
              <a:rPr lang="en-US" b="true" sz="2400">
                <a:solidFill>
                  <a:srgbClr val="3F3D3E"/>
                </a:solidFill>
                <a:latin typeface="Garet Bold"/>
                <a:ea typeface="Garet Bold"/>
                <a:cs typeface="Garet Bold"/>
                <a:sym typeface="Garet Bold"/>
              </a:rPr>
              <a:t>, ..., C</a:t>
            </a:r>
            <a:r>
              <a:rPr lang="en-US" b="true" sz="2400">
                <a:solidFill>
                  <a:srgbClr val="3F3D3E"/>
                </a:solidFill>
                <a:latin typeface="Garet Bold"/>
                <a:ea typeface="Garet Bold"/>
                <a:cs typeface="Garet Bold"/>
                <a:sym typeface="Garet Bold"/>
              </a:rPr>
              <a:t>n</a:t>
            </a:r>
            <a:r>
              <a:rPr lang="en-US" b="true" sz="2400">
                <a:solidFill>
                  <a:srgbClr val="3F3D3E"/>
                </a:solidFill>
                <a:latin typeface="Garet Bold"/>
                <a:ea typeface="Garet Bold"/>
                <a:cs typeface="Garet Bold"/>
                <a:sym typeface="Garet Bold"/>
              </a:rPr>
              <a:t>, i</a:t>
            </a:r>
            <a:r>
              <a:rPr lang="en-US" b="true" sz="2400">
                <a:solidFill>
                  <a:srgbClr val="3F3D3E"/>
                </a:solidFill>
                <a:latin typeface="Garet Bold"/>
                <a:ea typeface="Garet Bold"/>
                <a:cs typeface="Garet Bold"/>
                <a:sym typeface="Garet Bold"/>
              </a:rPr>
              <a:t>0</a:t>
            </a:r>
            <a:r>
              <a:rPr lang="en-US" b="true" sz="2400">
                <a:solidFill>
                  <a:srgbClr val="3F3D3E"/>
                </a:solidFill>
                <a:latin typeface="Garet Bold"/>
                <a:ea typeface="Garet Bold"/>
                <a:cs typeface="Garet Bold"/>
                <a:sym typeface="Garet Bold"/>
              </a:rPr>
              <a:t>)</a:t>
            </a: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, unde:</a:t>
            </a:r>
          </a:p>
          <a:p>
            <a:pPr algn="l" marL="518160" indent="-259080" lvl="1">
              <a:lnSpc>
                <a:spcPts val="4800"/>
              </a:lnSpc>
              <a:buFont typeface="Arial"/>
              <a:buChar char="•"/>
            </a:pPr>
            <a:r>
              <a:rPr lang="en-US" b="true" sz="2400">
                <a:solidFill>
                  <a:srgbClr val="3F3D3E"/>
                </a:solidFill>
                <a:latin typeface="Garet Bold"/>
                <a:ea typeface="Garet Bold"/>
                <a:cs typeface="Garet Bold"/>
                <a:sym typeface="Garet Bold"/>
              </a:rPr>
              <a:t>A</a:t>
            </a: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 este un set finit de obiecte din sistem,</a:t>
            </a:r>
          </a:p>
          <a:p>
            <a:pPr algn="l" marL="518160" indent="-259080" lvl="1">
              <a:lnSpc>
                <a:spcPts val="4800"/>
              </a:lnSpc>
              <a:buFont typeface="Arial"/>
              <a:buChar char="•"/>
            </a:pPr>
            <a:r>
              <a:rPr lang="en-US" b="true" sz="2400">
                <a:solidFill>
                  <a:srgbClr val="3F3D3E"/>
                </a:solidFill>
                <a:latin typeface="Garet Bold"/>
                <a:ea typeface="Garet Bold"/>
                <a:cs typeface="Garet Bold"/>
                <a:sym typeface="Garet Bold"/>
              </a:rPr>
              <a:t>μ</a:t>
            </a: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 este structura compartimentelor, reprezentată ca </a:t>
            </a:r>
            <a:r>
              <a:rPr lang="en-US" b="true" sz="2400">
                <a:solidFill>
                  <a:srgbClr val="3F3D3E"/>
                </a:solidFill>
                <a:latin typeface="Garet Bold"/>
                <a:ea typeface="Garet Bold"/>
                <a:cs typeface="Garet Bold"/>
                <a:sym typeface="Garet Bold"/>
              </a:rPr>
              <a:t>graf G = (V,E)</a:t>
            </a: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, unde V este mulțimea de compartimente, iar E este mulțimea de relații între compartimente,</a:t>
            </a:r>
          </a:p>
          <a:p>
            <a:pPr algn="l" marL="518160" indent="-259080" lvl="1">
              <a:lnSpc>
                <a:spcPts val="4800"/>
              </a:lnSpc>
              <a:buFont typeface="Arial"/>
              <a:buChar char="•"/>
            </a:pPr>
            <a:r>
              <a:rPr lang="en-US" b="true" sz="2400">
                <a:solidFill>
                  <a:srgbClr val="3F3D3E"/>
                </a:solidFill>
                <a:latin typeface="Garet Bold"/>
                <a:ea typeface="Garet Bold"/>
                <a:cs typeface="Garet Bold"/>
                <a:sym typeface="Garet Bold"/>
              </a:rPr>
              <a:t>C</a:t>
            </a:r>
            <a:r>
              <a:rPr lang="en-US" b="true" sz="2400">
                <a:solidFill>
                  <a:srgbClr val="3F3D3E"/>
                </a:solidFill>
                <a:latin typeface="Garet Bold"/>
                <a:ea typeface="Garet Bold"/>
                <a:cs typeface="Garet Bold"/>
                <a:sym typeface="Garet Bold"/>
              </a:rPr>
              <a:t>i</a:t>
            </a:r>
            <a:r>
              <a:rPr lang="en-US" b="true" sz="2400">
                <a:solidFill>
                  <a:srgbClr val="3F3D3E"/>
                </a:solidFill>
                <a:latin typeface="Garet Bold"/>
                <a:ea typeface="Garet Bold"/>
                <a:cs typeface="Garet Bold"/>
                <a:sym typeface="Garet Bold"/>
              </a:rPr>
              <a:t> = (t</a:t>
            </a:r>
            <a:r>
              <a:rPr lang="en-US" b="true" sz="2400">
                <a:solidFill>
                  <a:srgbClr val="3F3D3E"/>
                </a:solidFill>
                <a:latin typeface="Garet Bold"/>
                <a:ea typeface="Garet Bold"/>
                <a:cs typeface="Garet Bold"/>
                <a:sym typeface="Garet Bold"/>
              </a:rPr>
              <a:t>i</a:t>
            </a:r>
            <a:r>
              <a:rPr lang="en-US" b="true" sz="2400">
                <a:solidFill>
                  <a:srgbClr val="3F3D3E"/>
                </a:solidFill>
                <a:latin typeface="Garet Bold"/>
                <a:ea typeface="Garet Bold"/>
                <a:cs typeface="Garet Bold"/>
                <a:sym typeface="Garet Bold"/>
              </a:rPr>
              <a:t>, w</a:t>
            </a:r>
            <a:r>
              <a:rPr lang="en-US" b="true" sz="2400">
                <a:solidFill>
                  <a:srgbClr val="3F3D3E"/>
                </a:solidFill>
                <a:latin typeface="Garet Bold"/>
                <a:ea typeface="Garet Bold"/>
                <a:cs typeface="Garet Bold"/>
                <a:sym typeface="Garet Bold"/>
              </a:rPr>
              <a:t>i</a:t>
            </a:r>
            <a:r>
              <a:rPr lang="en-US" b="true" sz="2400">
                <a:solidFill>
                  <a:srgbClr val="3F3D3E"/>
                </a:solidFill>
                <a:latin typeface="Garet Bold"/>
                <a:ea typeface="Garet Bold"/>
                <a:cs typeface="Garet Bold"/>
                <a:sym typeface="Garet Bold"/>
              </a:rPr>
              <a:t>)</a:t>
            </a: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 este compartimentul de tip t</a:t>
            </a: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i</a:t>
            </a: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 (și cu regulile aferente) cu multisetul inițial w</a:t>
            </a: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i</a:t>
            </a: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,</a:t>
            </a:r>
          </a:p>
          <a:p>
            <a:pPr algn="l" marL="518160" indent="-259080" lvl="1">
              <a:lnSpc>
                <a:spcPts val="4800"/>
              </a:lnSpc>
              <a:buFont typeface="Arial"/>
              <a:buChar char="•"/>
            </a:pPr>
            <a:r>
              <a:rPr lang="en-US" b="true" sz="2400">
                <a:solidFill>
                  <a:srgbClr val="3F3D3E"/>
                </a:solidFill>
                <a:latin typeface="Garet Bold"/>
                <a:ea typeface="Garet Bold"/>
                <a:cs typeface="Garet Bold"/>
                <a:sym typeface="Garet Bold"/>
              </a:rPr>
              <a:t>i</a:t>
            </a:r>
            <a:r>
              <a:rPr lang="en-US" b="true" sz="2400">
                <a:solidFill>
                  <a:srgbClr val="3F3D3E"/>
                </a:solidFill>
                <a:latin typeface="Garet Bold"/>
                <a:ea typeface="Garet Bold"/>
                <a:cs typeface="Garet Bold"/>
                <a:sym typeface="Garet Bold"/>
              </a:rPr>
              <a:t>0</a:t>
            </a: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 este compartimentul de output, unde se va obține rezultatul.</a:t>
            </a:r>
          </a:p>
        </p:txBody>
      </p:sp>
      <p:sp>
        <p:nvSpPr>
          <p:cNvPr name="Freeform 4" id="4"/>
          <p:cNvSpPr/>
          <p:nvPr/>
        </p:nvSpPr>
        <p:spPr>
          <a:xfrm flipH="true" flipV="false" rot="0">
            <a:off x="14733021" y="0"/>
            <a:ext cx="3554979" cy="2798738"/>
          </a:xfrm>
          <a:custGeom>
            <a:avLst/>
            <a:gdLst/>
            <a:ahLst/>
            <a:cxnLst/>
            <a:rect r="r" b="b" t="t" l="l"/>
            <a:pathLst>
              <a:path h="2798738" w="3554979">
                <a:moveTo>
                  <a:pt x="3554979" y="0"/>
                </a:moveTo>
                <a:lnTo>
                  <a:pt x="0" y="0"/>
                </a:lnTo>
                <a:lnTo>
                  <a:pt x="0" y="2798738"/>
                </a:lnTo>
                <a:lnTo>
                  <a:pt x="3554979" y="2798738"/>
                </a:lnTo>
                <a:lnTo>
                  <a:pt x="355497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0" y="0"/>
            <a:ext cx="2798738" cy="2798738"/>
          </a:xfrm>
          <a:custGeom>
            <a:avLst/>
            <a:gdLst/>
            <a:ahLst/>
            <a:cxnLst/>
            <a:rect r="r" b="b" t="t" l="l"/>
            <a:pathLst>
              <a:path h="2798738" w="2798738">
                <a:moveTo>
                  <a:pt x="0" y="2798738"/>
                </a:moveTo>
                <a:lnTo>
                  <a:pt x="2798738" y="2798738"/>
                </a:lnTo>
                <a:lnTo>
                  <a:pt x="2798738" y="0"/>
                </a:lnTo>
                <a:lnTo>
                  <a:pt x="0" y="0"/>
                </a:lnTo>
                <a:lnTo>
                  <a:pt x="0" y="279873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771785" y="870414"/>
            <a:ext cx="12744429" cy="95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REGULI DE PROCESARE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617763"/>
            <a:ext cx="16230600" cy="6642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Fiecare compartiment al unui kP system poate conține </a:t>
            </a:r>
            <a:r>
              <a:rPr lang="en-US" sz="2400" b="true">
                <a:solidFill>
                  <a:srgbClr val="3F3D3E"/>
                </a:solidFill>
                <a:latin typeface="Garet Bold"/>
                <a:ea typeface="Garet Bold"/>
                <a:cs typeface="Garet Bold"/>
                <a:sym typeface="Garet Bold"/>
              </a:rPr>
              <a:t>reguli de procesare</a:t>
            </a: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. </a:t>
            </a: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Regulile definesc </a:t>
            </a:r>
            <a:r>
              <a:rPr lang="en-US" b="true" sz="2400">
                <a:solidFill>
                  <a:srgbClr val="3F3D3E"/>
                </a:solidFill>
                <a:latin typeface="Garet Bold"/>
                <a:ea typeface="Garet Bold"/>
                <a:cs typeface="Garet Bold"/>
                <a:sym typeface="Garet Bold"/>
              </a:rPr>
              <a:t>transformarea obiectelor </a:t>
            </a: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și/sau </a:t>
            </a:r>
            <a:r>
              <a:rPr lang="en-US" b="true" sz="2400">
                <a:solidFill>
                  <a:srgbClr val="3F3D3E"/>
                </a:solidFill>
                <a:latin typeface="Garet Bold"/>
                <a:ea typeface="Garet Bold"/>
                <a:cs typeface="Garet Bold"/>
                <a:sym typeface="Garet Bold"/>
              </a:rPr>
              <a:t>modificarea structurii</a:t>
            </a: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. </a:t>
            </a:r>
          </a:p>
          <a:p>
            <a:pPr algn="l">
              <a:lnSpc>
                <a:spcPts val="4800"/>
              </a:lnSpc>
            </a:pP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În toate definițiile următoare, </a:t>
            </a:r>
            <a:r>
              <a:rPr lang="en-US" b="true" sz="2400">
                <a:solidFill>
                  <a:srgbClr val="3F3D3E"/>
                </a:solidFill>
                <a:latin typeface="Garet Bold"/>
                <a:ea typeface="Garet Bold"/>
                <a:cs typeface="Garet Bold"/>
                <a:sym typeface="Garet Bold"/>
              </a:rPr>
              <a:t>{g} este o condiție</a:t>
            </a: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 (gardă) ce trebuie satisfăcuta ca regula să se aplice.</a:t>
            </a:r>
          </a:p>
          <a:p>
            <a:pPr algn="l">
              <a:lnSpc>
                <a:spcPts val="4800"/>
              </a:lnSpc>
            </a:pPr>
          </a:p>
          <a:p>
            <a:pPr algn="l">
              <a:lnSpc>
                <a:spcPts val="4800"/>
              </a:lnSpc>
            </a:pP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Regulile sunt de următoarele tipuri:</a:t>
            </a:r>
          </a:p>
          <a:p>
            <a:pPr algn="l" marL="518160" indent="-259080" lvl="1">
              <a:lnSpc>
                <a:spcPts val="4800"/>
              </a:lnSpc>
              <a:buFont typeface="Arial"/>
              <a:buChar char="•"/>
            </a:pP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Reguli de rescriere și comunicare</a:t>
            </a:r>
          </a:p>
          <a:p>
            <a:pPr algn="l" marL="518160" indent="-259080" lvl="1">
              <a:lnSpc>
                <a:spcPts val="4800"/>
              </a:lnSpc>
              <a:buFont typeface="Arial"/>
              <a:buChar char="•"/>
            </a:pP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Reguli de modificare a structurii:</a:t>
            </a:r>
          </a:p>
          <a:p>
            <a:pPr algn="l" marL="1036320" indent="-345440" lvl="2">
              <a:lnSpc>
                <a:spcPts val="4800"/>
              </a:lnSpc>
              <a:buFont typeface="Arial"/>
              <a:buChar char="⚬"/>
            </a:pP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Regula de diviziune a compartimentelor</a:t>
            </a:r>
          </a:p>
          <a:p>
            <a:pPr algn="l" marL="1036320" indent="-345440" lvl="2">
              <a:lnSpc>
                <a:spcPts val="4800"/>
              </a:lnSpc>
              <a:buFont typeface="Arial"/>
              <a:buChar char="⚬"/>
            </a:pP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Regula de dizolvare a compartimentului</a:t>
            </a:r>
          </a:p>
          <a:p>
            <a:pPr algn="l" marL="1036320" indent="-345440" lvl="2">
              <a:lnSpc>
                <a:spcPts val="4800"/>
              </a:lnSpc>
              <a:buFont typeface="Arial"/>
              <a:buChar char="⚬"/>
            </a:pP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Regula de creare a relațiilor între compartimente</a:t>
            </a:r>
          </a:p>
          <a:p>
            <a:pPr algn="l" marL="1036320" indent="-345440" lvl="2">
              <a:lnSpc>
                <a:spcPts val="4800"/>
              </a:lnSpc>
              <a:buFont typeface="Arial"/>
              <a:buChar char="⚬"/>
            </a:pP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Regula de ștergere a relațiilor dintre compartimente</a:t>
            </a:r>
          </a:p>
        </p:txBody>
      </p:sp>
      <p:sp>
        <p:nvSpPr>
          <p:cNvPr name="Freeform 4" id="4"/>
          <p:cNvSpPr/>
          <p:nvPr/>
        </p:nvSpPr>
        <p:spPr>
          <a:xfrm flipH="true" flipV="false" rot="0">
            <a:off x="14733021" y="0"/>
            <a:ext cx="3554979" cy="2798738"/>
          </a:xfrm>
          <a:custGeom>
            <a:avLst/>
            <a:gdLst/>
            <a:ahLst/>
            <a:cxnLst/>
            <a:rect r="r" b="b" t="t" l="l"/>
            <a:pathLst>
              <a:path h="2798738" w="3554979">
                <a:moveTo>
                  <a:pt x="3554979" y="0"/>
                </a:moveTo>
                <a:lnTo>
                  <a:pt x="0" y="0"/>
                </a:lnTo>
                <a:lnTo>
                  <a:pt x="0" y="2798738"/>
                </a:lnTo>
                <a:lnTo>
                  <a:pt x="3554979" y="2798738"/>
                </a:lnTo>
                <a:lnTo>
                  <a:pt x="355497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0" y="0"/>
            <a:ext cx="2798738" cy="2798738"/>
          </a:xfrm>
          <a:custGeom>
            <a:avLst/>
            <a:gdLst/>
            <a:ahLst/>
            <a:cxnLst/>
            <a:rect r="r" b="b" t="t" l="l"/>
            <a:pathLst>
              <a:path h="2798738" w="2798738">
                <a:moveTo>
                  <a:pt x="0" y="2798738"/>
                </a:moveTo>
                <a:lnTo>
                  <a:pt x="2798738" y="2798738"/>
                </a:lnTo>
                <a:lnTo>
                  <a:pt x="2798738" y="0"/>
                </a:lnTo>
                <a:lnTo>
                  <a:pt x="0" y="0"/>
                </a:lnTo>
                <a:lnTo>
                  <a:pt x="0" y="279873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771785" y="375114"/>
            <a:ext cx="12744429" cy="1943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R</a:t>
            </a:r>
            <a:r>
              <a:rPr lang="en-US" b="true" sz="5600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EGULI DE RESCRIERE ȘI COMUNICARE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916684"/>
            <a:ext cx="16230600" cy="6642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Regulile de rescriere și comunicare</a:t>
            </a: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 modifică obiectel</a:t>
            </a: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e</a:t>
            </a: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 di</a:t>
            </a: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n</a:t>
            </a: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tr</a:t>
            </a: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-</a:t>
            </a: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un compartiment sau le mută în </a:t>
            </a: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al</a:t>
            </a: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t co</a:t>
            </a: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mp</a:t>
            </a: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artiment.</a:t>
            </a:r>
          </a:p>
          <a:p>
            <a:pPr algn="l">
              <a:lnSpc>
                <a:spcPts val="4800"/>
              </a:lnSpc>
            </a:pPr>
          </a:p>
          <a:p>
            <a:pPr algn="l">
              <a:lnSpc>
                <a:spcPts val="4800"/>
              </a:lnSpc>
            </a:pPr>
            <a:r>
              <a:rPr lang="en-US" b="true" sz="2400">
                <a:solidFill>
                  <a:srgbClr val="3F3D3E"/>
                </a:solidFill>
                <a:latin typeface="Garet Bold"/>
                <a:ea typeface="Garet Bold"/>
                <a:cs typeface="Garet Bold"/>
                <a:sym typeface="Garet Bold"/>
              </a:rPr>
              <a:t>Formal</a:t>
            </a: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: x → y {g}, unde: </a:t>
            </a:r>
          </a:p>
          <a:p>
            <a:pPr algn="l" marL="518160" indent="-259080" lvl="1">
              <a:lnSpc>
                <a:spcPts val="4800"/>
              </a:lnSpc>
              <a:buFont typeface="Arial"/>
              <a:buChar char="•"/>
            </a:pP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x este obiectul/multisetul de obiecte de intrare</a:t>
            </a:r>
          </a:p>
          <a:p>
            <a:pPr algn="l" marL="518160" indent="-259080" lvl="1">
              <a:lnSpc>
                <a:spcPts val="4800"/>
              </a:lnSpc>
              <a:buFont typeface="Arial"/>
              <a:buChar char="•"/>
            </a:pP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y este obiectul/multisetul de obiecte rezultate</a:t>
            </a:r>
          </a:p>
          <a:p>
            <a:pPr algn="l">
              <a:lnSpc>
                <a:spcPts val="4800"/>
              </a:lnSpc>
            </a:pPr>
          </a:p>
          <a:p>
            <a:pPr algn="l">
              <a:lnSpc>
                <a:spcPts val="4800"/>
              </a:lnSpc>
            </a:pPr>
            <a:r>
              <a:rPr lang="en-US" b="true" sz="2400">
                <a:solidFill>
                  <a:srgbClr val="3F3D3E"/>
                </a:solidFill>
                <a:latin typeface="Garet Bold"/>
                <a:ea typeface="Garet Bold"/>
                <a:cs typeface="Garet Bold"/>
                <a:sym typeface="Garet Bold"/>
              </a:rPr>
              <a:t>Informal</a:t>
            </a: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: x devine y.</a:t>
            </a:r>
          </a:p>
          <a:p>
            <a:pPr algn="l">
              <a:lnSpc>
                <a:spcPts val="4800"/>
              </a:lnSpc>
            </a:pPr>
          </a:p>
          <a:p>
            <a:pPr algn="l">
              <a:lnSpc>
                <a:spcPts val="4800"/>
              </a:lnSpc>
            </a:pPr>
            <a:r>
              <a:rPr lang="en-US" b="true" sz="2400">
                <a:solidFill>
                  <a:srgbClr val="3F3D3E"/>
                </a:solidFill>
                <a:latin typeface="Garet Bold"/>
                <a:ea typeface="Garet Bold"/>
                <a:cs typeface="Garet Bold"/>
                <a:sym typeface="Garet Bold"/>
              </a:rPr>
              <a:t>Exemplu</a:t>
            </a: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: a → b {≥ c}</a:t>
            </a:r>
          </a:p>
          <a:p>
            <a:pPr algn="l">
              <a:lnSpc>
                <a:spcPts val="4800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true" flipV="false" rot="0">
            <a:off x="14733021" y="0"/>
            <a:ext cx="3554979" cy="2798738"/>
          </a:xfrm>
          <a:custGeom>
            <a:avLst/>
            <a:gdLst/>
            <a:ahLst/>
            <a:cxnLst/>
            <a:rect r="r" b="b" t="t" l="l"/>
            <a:pathLst>
              <a:path h="2798738" w="3554979">
                <a:moveTo>
                  <a:pt x="3554979" y="0"/>
                </a:moveTo>
                <a:lnTo>
                  <a:pt x="0" y="0"/>
                </a:lnTo>
                <a:lnTo>
                  <a:pt x="0" y="2798738"/>
                </a:lnTo>
                <a:lnTo>
                  <a:pt x="3554979" y="2798738"/>
                </a:lnTo>
                <a:lnTo>
                  <a:pt x="355497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0" y="0"/>
            <a:ext cx="2798738" cy="2798738"/>
          </a:xfrm>
          <a:custGeom>
            <a:avLst/>
            <a:gdLst/>
            <a:ahLst/>
            <a:cxnLst/>
            <a:rect r="r" b="b" t="t" l="l"/>
            <a:pathLst>
              <a:path h="2798738" w="2798738">
                <a:moveTo>
                  <a:pt x="0" y="2798738"/>
                </a:moveTo>
                <a:lnTo>
                  <a:pt x="2798738" y="2798738"/>
                </a:lnTo>
                <a:lnTo>
                  <a:pt x="2798738" y="0"/>
                </a:lnTo>
                <a:lnTo>
                  <a:pt x="0" y="0"/>
                </a:lnTo>
                <a:lnTo>
                  <a:pt x="0" y="279873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771785" y="375114"/>
            <a:ext cx="12744429" cy="1943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R</a:t>
            </a:r>
            <a:r>
              <a:rPr lang="en-US" b="true" sz="5600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EGULA DE DIVIZIUNE A COMPARTIMENTELOR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947607"/>
            <a:ext cx="16230600" cy="5423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Regula de diviziune a compartimentelor împarte un compartiment în</a:t>
            </a: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 mai multe subcompartimente. Toate relațiil</a:t>
            </a: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e</a:t>
            </a: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 compartime</a:t>
            </a: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n</a:t>
            </a: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tului original sunt moștenite de către subcompartimente.</a:t>
            </a:r>
          </a:p>
          <a:p>
            <a:pPr algn="l">
              <a:lnSpc>
                <a:spcPts val="4800"/>
              </a:lnSpc>
            </a:pPr>
          </a:p>
          <a:p>
            <a:pPr algn="l">
              <a:lnSpc>
                <a:spcPts val="4800"/>
              </a:lnSpc>
            </a:pPr>
            <a:r>
              <a:rPr lang="en-US" b="true" sz="2400">
                <a:solidFill>
                  <a:srgbClr val="3F3D3E"/>
                </a:solidFill>
                <a:latin typeface="Garet Bold"/>
                <a:ea typeface="Garet Bold"/>
                <a:cs typeface="Garet Bold"/>
                <a:sym typeface="Garet Bold"/>
              </a:rPr>
              <a:t>Formal</a:t>
            </a: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: [x]t</a:t>
            </a: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li</a:t>
            </a: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 → [y</a:t>
            </a: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1</a:t>
            </a: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]t</a:t>
            </a: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i1</a:t>
            </a: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 .... [y</a:t>
            </a: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p</a:t>
            </a: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]t</a:t>
            </a: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ip</a:t>
            </a: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 {g}</a:t>
            </a:r>
          </a:p>
          <a:p>
            <a:pPr algn="l">
              <a:lnSpc>
                <a:spcPts val="4800"/>
              </a:lnSpc>
            </a:pPr>
          </a:p>
          <a:p>
            <a:pPr algn="l">
              <a:lnSpc>
                <a:spcPts val="4800"/>
              </a:lnSpc>
            </a:pPr>
            <a:r>
              <a:rPr lang="en-US" b="true" sz="2400">
                <a:solidFill>
                  <a:srgbClr val="3F3D3E"/>
                </a:solidFill>
                <a:latin typeface="Garet Bold"/>
                <a:ea typeface="Garet Bold"/>
                <a:cs typeface="Garet Bold"/>
                <a:sym typeface="Garet Bold"/>
              </a:rPr>
              <a:t>Informal</a:t>
            </a: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: Compartimentul l</a:t>
            </a: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i</a:t>
            </a: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 se împarte în p subcompartimente.</a:t>
            </a:r>
          </a:p>
          <a:p>
            <a:pPr algn="l">
              <a:lnSpc>
                <a:spcPts val="4800"/>
              </a:lnSpc>
            </a:pPr>
          </a:p>
          <a:p>
            <a:pPr algn="l">
              <a:lnSpc>
                <a:spcPts val="4800"/>
              </a:lnSpc>
            </a:pPr>
            <a:r>
              <a:rPr lang="en-US" b="true" sz="2400">
                <a:solidFill>
                  <a:srgbClr val="3F3D3E"/>
                </a:solidFill>
                <a:latin typeface="Garet Bold"/>
                <a:ea typeface="Garet Bold"/>
                <a:cs typeface="Garet Bold"/>
                <a:sym typeface="Garet Bold"/>
              </a:rPr>
              <a:t>Exemplu</a:t>
            </a: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: [a] → [b], [c] {≥ 2d}</a:t>
            </a:r>
          </a:p>
          <a:p>
            <a:pPr algn="l">
              <a:lnSpc>
                <a:spcPts val="4800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true" flipV="false" rot="0">
            <a:off x="14733021" y="0"/>
            <a:ext cx="3554979" cy="2798738"/>
          </a:xfrm>
          <a:custGeom>
            <a:avLst/>
            <a:gdLst/>
            <a:ahLst/>
            <a:cxnLst/>
            <a:rect r="r" b="b" t="t" l="l"/>
            <a:pathLst>
              <a:path h="2798738" w="3554979">
                <a:moveTo>
                  <a:pt x="3554979" y="0"/>
                </a:moveTo>
                <a:lnTo>
                  <a:pt x="0" y="0"/>
                </a:lnTo>
                <a:lnTo>
                  <a:pt x="0" y="2798738"/>
                </a:lnTo>
                <a:lnTo>
                  <a:pt x="3554979" y="2798738"/>
                </a:lnTo>
                <a:lnTo>
                  <a:pt x="355497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0" y="0"/>
            <a:ext cx="2798738" cy="2798738"/>
          </a:xfrm>
          <a:custGeom>
            <a:avLst/>
            <a:gdLst/>
            <a:ahLst/>
            <a:cxnLst/>
            <a:rect r="r" b="b" t="t" l="l"/>
            <a:pathLst>
              <a:path h="2798738" w="2798738">
                <a:moveTo>
                  <a:pt x="0" y="2798738"/>
                </a:moveTo>
                <a:lnTo>
                  <a:pt x="2798738" y="2798738"/>
                </a:lnTo>
                <a:lnTo>
                  <a:pt x="2798738" y="0"/>
                </a:lnTo>
                <a:lnTo>
                  <a:pt x="0" y="0"/>
                </a:lnTo>
                <a:lnTo>
                  <a:pt x="0" y="279873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358274" y="7275132"/>
            <a:ext cx="2929726" cy="3011868"/>
          </a:xfrm>
          <a:custGeom>
            <a:avLst/>
            <a:gdLst/>
            <a:ahLst/>
            <a:cxnLst/>
            <a:rect r="r" b="b" t="t" l="l"/>
            <a:pathLst>
              <a:path h="3011868" w="2929726">
                <a:moveTo>
                  <a:pt x="0" y="0"/>
                </a:moveTo>
                <a:lnTo>
                  <a:pt x="2929726" y="0"/>
                </a:lnTo>
                <a:lnTo>
                  <a:pt x="2929726" y="3011868"/>
                </a:lnTo>
                <a:lnTo>
                  <a:pt x="0" y="301186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771785" y="375114"/>
            <a:ext cx="12744429" cy="1943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R</a:t>
            </a:r>
            <a:r>
              <a:rPr lang="en-US" b="true" sz="5600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EGULA DE DIZOLVARE A COMPARTIMENTULUI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3205298"/>
            <a:ext cx="16230600" cy="4813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Regula de dizolvare a compartimentului distruge un compartiment</a:t>
            </a: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, împreună cu obiectele conținute.</a:t>
            </a:r>
          </a:p>
          <a:p>
            <a:pPr algn="l">
              <a:lnSpc>
                <a:spcPts val="4800"/>
              </a:lnSpc>
            </a:pPr>
          </a:p>
          <a:p>
            <a:pPr algn="l">
              <a:lnSpc>
                <a:spcPts val="4800"/>
              </a:lnSpc>
            </a:pPr>
            <a:r>
              <a:rPr lang="en-US" b="true" sz="2400">
                <a:solidFill>
                  <a:srgbClr val="3F3D3E"/>
                </a:solidFill>
                <a:latin typeface="Garet Bold"/>
                <a:ea typeface="Garet Bold"/>
                <a:cs typeface="Garet Bold"/>
                <a:sym typeface="Garet Bold"/>
              </a:rPr>
              <a:t>Formal</a:t>
            </a: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: [x]t</a:t>
            </a: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i</a:t>
            </a: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 → λ {g} </a:t>
            </a:r>
          </a:p>
          <a:p>
            <a:pPr algn="l">
              <a:lnSpc>
                <a:spcPts val="4800"/>
              </a:lnSpc>
            </a:pPr>
          </a:p>
          <a:p>
            <a:pPr algn="l">
              <a:lnSpc>
                <a:spcPts val="4800"/>
              </a:lnSpc>
            </a:pPr>
            <a:r>
              <a:rPr lang="en-US" b="true" sz="2400">
                <a:solidFill>
                  <a:srgbClr val="3F3D3E"/>
                </a:solidFill>
                <a:latin typeface="Garet Bold"/>
                <a:ea typeface="Garet Bold"/>
                <a:cs typeface="Garet Bold"/>
                <a:sym typeface="Garet Bold"/>
              </a:rPr>
              <a:t>Informal</a:t>
            </a: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: Compartimentul t</a:t>
            </a: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i</a:t>
            </a: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 este distrus iar obiectele x sunt șterse.</a:t>
            </a:r>
          </a:p>
          <a:p>
            <a:pPr algn="l">
              <a:lnSpc>
                <a:spcPts val="4800"/>
              </a:lnSpc>
            </a:pPr>
          </a:p>
          <a:p>
            <a:pPr algn="l">
              <a:lnSpc>
                <a:spcPts val="4800"/>
              </a:lnSpc>
            </a:pPr>
            <a:r>
              <a:rPr lang="en-US" b="true" sz="2400">
                <a:solidFill>
                  <a:srgbClr val="3F3D3E"/>
                </a:solidFill>
                <a:latin typeface="Garet Bold"/>
                <a:ea typeface="Garet Bold"/>
                <a:cs typeface="Garet Bold"/>
                <a:sym typeface="Garet Bold"/>
              </a:rPr>
              <a:t>Exemplu</a:t>
            </a: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: [a] → λ {≥ 3c}</a:t>
            </a:r>
          </a:p>
          <a:p>
            <a:pPr algn="l">
              <a:lnSpc>
                <a:spcPts val="4800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true" flipV="false" rot="0">
            <a:off x="14733021" y="0"/>
            <a:ext cx="3554979" cy="2798738"/>
          </a:xfrm>
          <a:custGeom>
            <a:avLst/>
            <a:gdLst/>
            <a:ahLst/>
            <a:cxnLst/>
            <a:rect r="r" b="b" t="t" l="l"/>
            <a:pathLst>
              <a:path h="2798738" w="3554979">
                <a:moveTo>
                  <a:pt x="3554979" y="0"/>
                </a:moveTo>
                <a:lnTo>
                  <a:pt x="0" y="0"/>
                </a:lnTo>
                <a:lnTo>
                  <a:pt x="0" y="2798738"/>
                </a:lnTo>
                <a:lnTo>
                  <a:pt x="3554979" y="2798738"/>
                </a:lnTo>
                <a:lnTo>
                  <a:pt x="355497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0" y="0"/>
            <a:ext cx="2798738" cy="2798738"/>
          </a:xfrm>
          <a:custGeom>
            <a:avLst/>
            <a:gdLst/>
            <a:ahLst/>
            <a:cxnLst/>
            <a:rect r="r" b="b" t="t" l="l"/>
            <a:pathLst>
              <a:path h="2798738" w="2798738">
                <a:moveTo>
                  <a:pt x="0" y="2798738"/>
                </a:moveTo>
                <a:lnTo>
                  <a:pt x="2798738" y="2798738"/>
                </a:lnTo>
                <a:lnTo>
                  <a:pt x="2798738" y="0"/>
                </a:lnTo>
                <a:lnTo>
                  <a:pt x="0" y="0"/>
                </a:lnTo>
                <a:lnTo>
                  <a:pt x="0" y="279873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358274" y="7275132"/>
            <a:ext cx="2929726" cy="3011868"/>
          </a:xfrm>
          <a:custGeom>
            <a:avLst/>
            <a:gdLst/>
            <a:ahLst/>
            <a:cxnLst/>
            <a:rect r="r" b="b" t="t" l="l"/>
            <a:pathLst>
              <a:path h="3011868" w="2929726">
                <a:moveTo>
                  <a:pt x="0" y="0"/>
                </a:moveTo>
                <a:lnTo>
                  <a:pt x="2929726" y="0"/>
                </a:lnTo>
                <a:lnTo>
                  <a:pt x="2929726" y="3011868"/>
                </a:lnTo>
                <a:lnTo>
                  <a:pt x="0" y="301186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0" y="8325164"/>
            <a:ext cx="2491939" cy="1961836"/>
          </a:xfrm>
          <a:custGeom>
            <a:avLst/>
            <a:gdLst/>
            <a:ahLst/>
            <a:cxnLst/>
            <a:rect r="r" b="b" t="t" l="l"/>
            <a:pathLst>
              <a:path h="1961836" w="2491939">
                <a:moveTo>
                  <a:pt x="0" y="1961836"/>
                </a:moveTo>
                <a:lnTo>
                  <a:pt x="2491939" y="1961836"/>
                </a:lnTo>
                <a:lnTo>
                  <a:pt x="2491939" y="0"/>
                </a:lnTo>
                <a:lnTo>
                  <a:pt x="0" y="0"/>
                </a:lnTo>
                <a:lnTo>
                  <a:pt x="0" y="1961836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771785" y="375114"/>
            <a:ext cx="12744429" cy="1943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R</a:t>
            </a:r>
            <a:r>
              <a:rPr lang="en-US" b="true" sz="5600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EGULA DE CREARE A RELAȚIILOR ÎNTRE COMPARTIMENTE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3205298"/>
            <a:ext cx="16230600" cy="6642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Regula de creare a relațiilor între compartimente creează o relație nouă între două compartimente, permițând schimbul de obiecte.</a:t>
            </a:r>
          </a:p>
          <a:p>
            <a:pPr algn="l">
              <a:lnSpc>
                <a:spcPts val="4800"/>
              </a:lnSpc>
            </a:pPr>
          </a:p>
          <a:p>
            <a:pPr algn="l">
              <a:lnSpc>
                <a:spcPts val="4800"/>
              </a:lnSpc>
            </a:pPr>
            <a:r>
              <a:rPr lang="en-US" b="true" sz="2400">
                <a:solidFill>
                  <a:srgbClr val="3F3D3E"/>
                </a:solidFill>
                <a:latin typeface="Garet Bold"/>
                <a:ea typeface="Garet Bold"/>
                <a:cs typeface="Garet Bold"/>
                <a:sym typeface="Garet Bold"/>
              </a:rPr>
              <a:t>Formal</a:t>
            </a: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: [x]t</a:t>
            </a: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li</a:t>
            </a: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 ; []t</a:t>
            </a: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lj</a:t>
            </a: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 → [y]t</a:t>
            </a: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li</a:t>
            </a: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 - []t</a:t>
            </a: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lj</a:t>
            </a: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 {g} </a:t>
            </a:r>
          </a:p>
          <a:p>
            <a:pPr algn="l">
              <a:lnSpc>
                <a:spcPts val="4800"/>
              </a:lnSpc>
            </a:pPr>
          </a:p>
          <a:p>
            <a:pPr algn="l">
              <a:lnSpc>
                <a:spcPts val="4800"/>
              </a:lnSpc>
            </a:pPr>
            <a:r>
              <a:rPr lang="en-US" b="true" sz="2400">
                <a:solidFill>
                  <a:srgbClr val="3F3D3E"/>
                </a:solidFill>
                <a:latin typeface="Garet Bold"/>
                <a:ea typeface="Garet Bold"/>
                <a:cs typeface="Garet Bold"/>
                <a:sym typeface="Garet Bold"/>
              </a:rPr>
              <a:t>Informal</a:t>
            </a: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: Unui compartiment de tip t</a:t>
            </a: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li</a:t>
            </a: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 i se creează o relație cu un compartiment de tip t</a:t>
            </a: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lj</a:t>
            </a: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; Obiectele x din t</a:t>
            </a: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li</a:t>
            </a: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 se transforma in y. Dacă există mai multe compartimente de tip t</a:t>
            </a: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lj</a:t>
            </a: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 se alege unul în mod nedeterminist. </a:t>
            </a:r>
          </a:p>
          <a:p>
            <a:pPr algn="l">
              <a:lnSpc>
                <a:spcPts val="4800"/>
              </a:lnSpc>
            </a:pPr>
          </a:p>
          <a:p>
            <a:pPr algn="l">
              <a:lnSpc>
                <a:spcPts val="4800"/>
              </a:lnSpc>
            </a:pPr>
            <a:r>
              <a:rPr lang="en-US" b="true" sz="2400">
                <a:solidFill>
                  <a:srgbClr val="3F3D3E"/>
                </a:solidFill>
                <a:latin typeface="Garet Bold"/>
                <a:ea typeface="Garet Bold"/>
                <a:cs typeface="Garet Bold"/>
                <a:sym typeface="Garet Bold"/>
              </a:rPr>
              <a:t>Exemplu</a:t>
            </a: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: [a] ; [] → [b] - [] {≥ 4c}</a:t>
            </a:r>
          </a:p>
          <a:p>
            <a:pPr algn="l">
              <a:lnSpc>
                <a:spcPts val="4800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true" rot="0">
            <a:off x="0" y="0"/>
            <a:ext cx="2798738" cy="2798738"/>
          </a:xfrm>
          <a:custGeom>
            <a:avLst/>
            <a:gdLst/>
            <a:ahLst/>
            <a:cxnLst/>
            <a:rect r="r" b="b" t="t" l="l"/>
            <a:pathLst>
              <a:path h="2798738" w="2798738">
                <a:moveTo>
                  <a:pt x="0" y="2798738"/>
                </a:moveTo>
                <a:lnTo>
                  <a:pt x="2798738" y="2798738"/>
                </a:lnTo>
                <a:lnTo>
                  <a:pt x="2798738" y="0"/>
                </a:lnTo>
                <a:lnTo>
                  <a:pt x="0" y="0"/>
                </a:lnTo>
                <a:lnTo>
                  <a:pt x="0" y="2798738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117251" y="365212"/>
            <a:ext cx="14053499" cy="1943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R</a:t>
            </a:r>
            <a:r>
              <a:rPr lang="en-US" b="true" sz="5600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EGULA DE ȘTERGERE A RELAȚIILOR DINTRE COMPARTIMENTE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3205298"/>
            <a:ext cx="16230600" cy="5423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Regula de ștergere a relațiilor dintre compartimente distruge o relație între două compartimente.</a:t>
            </a:r>
          </a:p>
          <a:p>
            <a:pPr algn="l">
              <a:lnSpc>
                <a:spcPts val="4800"/>
              </a:lnSpc>
            </a:pPr>
          </a:p>
          <a:p>
            <a:pPr algn="l">
              <a:lnSpc>
                <a:spcPts val="4800"/>
              </a:lnSpc>
            </a:pPr>
            <a:r>
              <a:rPr lang="en-US" b="true" sz="2400">
                <a:solidFill>
                  <a:srgbClr val="3F3D3E"/>
                </a:solidFill>
                <a:latin typeface="Garet Bold"/>
                <a:ea typeface="Garet Bold"/>
                <a:cs typeface="Garet Bold"/>
                <a:sym typeface="Garet Bold"/>
              </a:rPr>
              <a:t>Formal</a:t>
            </a: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: [x]t</a:t>
            </a: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li</a:t>
            </a: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 - []t</a:t>
            </a: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lj</a:t>
            </a: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 → [y]t</a:t>
            </a: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li</a:t>
            </a: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 ; []t</a:t>
            </a: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lj</a:t>
            </a: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 {g} </a:t>
            </a:r>
          </a:p>
          <a:p>
            <a:pPr algn="l">
              <a:lnSpc>
                <a:spcPts val="4800"/>
              </a:lnSpc>
            </a:pPr>
          </a:p>
          <a:p>
            <a:pPr algn="l">
              <a:lnSpc>
                <a:spcPts val="4800"/>
              </a:lnSpc>
            </a:pPr>
            <a:r>
              <a:rPr lang="en-US" b="true" sz="2400">
                <a:solidFill>
                  <a:srgbClr val="3F3D3E"/>
                </a:solidFill>
                <a:latin typeface="Garet Bold"/>
                <a:ea typeface="Garet Bold"/>
                <a:cs typeface="Garet Bold"/>
                <a:sym typeface="Garet Bold"/>
              </a:rPr>
              <a:t>Informal</a:t>
            </a: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: Opusul relației de creare. Dacă există mai multe compartimente de tip t</a:t>
            </a: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lj</a:t>
            </a: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 se alege unul în mod nedeterminist. </a:t>
            </a:r>
          </a:p>
          <a:p>
            <a:pPr algn="l">
              <a:lnSpc>
                <a:spcPts val="4800"/>
              </a:lnSpc>
            </a:pPr>
          </a:p>
          <a:p>
            <a:pPr algn="l">
              <a:lnSpc>
                <a:spcPts val="4800"/>
              </a:lnSpc>
            </a:pPr>
            <a:r>
              <a:rPr lang="en-US" b="true" sz="2400">
                <a:solidFill>
                  <a:srgbClr val="3F3D3E"/>
                </a:solidFill>
                <a:latin typeface="Garet Bold"/>
                <a:ea typeface="Garet Bold"/>
                <a:cs typeface="Garet Bold"/>
                <a:sym typeface="Garet Bold"/>
              </a:rPr>
              <a:t>Exemplu</a:t>
            </a: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: [a] - [] → [b] ; [] {≥ 5c}</a:t>
            </a:r>
          </a:p>
          <a:p>
            <a:pPr algn="l">
              <a:lnSpc>
                <a:spcPts val="4800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5358274" y="7275132"/>
            <a:ext cx="2929726" cy="3011868"/>
          </a:xfrm>
          <a:custGeom>
            <a:avLst/>
            <a:gdLst/>
            <a:ahLst/>
            <a:cxnLst/>
            <a:rect r="r" b="b" t="t" l="l"/>
            <a:pathLst>
              <a:path h="3011868" w="2929726">
                <a:moveTo>
                  <a:pt x="0" y="0"/>
                </a:moveTo>
                <a:lnTo>
                  <a:pt x="2929726" y="0"/>
                </a:lnTo>
                <a:lnTo>
                  <a:pt x="2929726" y="3011868"/>
                </a:lnTo>
                <a:lnTo>
                  <a:pt x="0" y="30118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798738" y="870414"/>
            <a:ext cx="12744429" cy="95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STRATEGII DE EXECUȚIE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617763"/>
            <a:ext cx="16230600" cy="603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Fiecare compartiment iși definește propriile strategii de execuție.</a:t>
            </a:r>
          </a:p>
          <a:p>
            <a:pPr algn="l">
              <a:lnSpc>
                <a:spcPts val="4800"/>
              </a:lnSpc>
            </a:pP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Strategiile de execuție sunt de forma </a:t>
            </a:r>
            <a:r>
              <a:rPr lang="en-US" b="true" sz="2400">
                <a:solidFill>
                  <a:srgbClr val="3F3D3E"/>
                </a:solidFill>
                <a:latin typeface="Garet Bold"/>
                <a:ea typeface="Garet Bold"/>
                <a:cs typeface="Garet Bold"/>
                <a:sym typeface="Garet Bold"/>
              </a:rPr>
              <a:t>σ = σ</a:t>
            </a:r>
            <a:r>
              <a:rPr lang="en-US" b="true" sz="2400">
                <a:solidFill>
                  <a:srgbClr val="3F3D3E"/>
                </a:solidFill>
                <a:latin typeface="Garet Bold"/>
                <a:ea typeface="Garet Bold"/>
                <a:cs typeface="Garet Bold"/>
                <a:sym typeface="Garet Bold"/>
              </a:rPr>
              <a:t>1</a:t>
            </a:r>
            <a:r>
              <a:rPr lang="en-US" b="true" sz="2400">
                <a:solidFill>
                  <a:srgbClr val="3F3D3E"/>
                </a:solidFill>
                <a:latin typeface="Garet Bold"/>
                <a:ea typeface="Garet Bold"/>
                <a:cs typeface="Garet Bold"/>
                <a:sym typeface="Garet Bold"/>
              </a:rPr>
              <a:t> &amp; σ</a:t>
            </a:r>
            <a:r>
              <a:rPr lang="en-US" b="true" sz="2400">
                <a:solidFill>
                  <a:srgbClr val="3F3D3E"/>
                </a:solidFill>
                <a:latin typeface="Garet Bold"/>
                <a:ea typeface="Garet Bold"/>
                <a:cs typeface="Garet Bold"/>
                <a:sym typeface="Garet Bold"/>
              </a:rPr>
              <a:t>2</a:t>
            </a:r>
            <a:r>
              <a:rPr lang="en-US" b="true" sz="2400">
                <a:solidFill>
                  <a:srgbClr val="3F3D3E"/>
                </a:solidFill>
                <a:latin typeface="Garet Bold"/>
                <a:ea typeface="Garet Bold"/>
                <a:cs typeface="Garet Bold"/>
                <a:sym typeface="Garet Bold"/>
              </a:rPr>
              <a:t> &amp; ... &amp; σ</a:t>
            </a:r>
            <a:r>
              <a:rPr lang="en-US" b="true" sz="2400">
                <a:solidFill>
                  <a:srgbClr val="3F3D3E"/>
                </a:solidFill>
                <a:latin typeface="Garet Bold"/>
                <a:ea typeface="Garet Bold"/>
                <a:cs typeface="Garet Bold"/>
                <a:sym typeface="Garet Bold"/>
              </a:rPr>
              <a:t>n</a:t>
            </a: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 , unde σ</a:t>
            </a: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i</a:t>
            </a: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 este o componentă atomică de forma:</a:t>
            </a:r>
          </a:p>
          <a:p>
            <a:pPr algn="l" marL="518160" indent="-259080" lvl="1">
              <a:lnSpc>
                <a:spcPts val="4800"/>
              </a:lnSpc>
              <a:buFont typeface="Arial"/>
              <a:buChar char="•"/>
            </a:pPr>
            <a:r>
              <a:rPr lang="en-US" b="true" sz="2400">
                <a:solidFill>
                  <a:srgbClr val="3F3D3E"/>
                </a:solidFill>
                <a:latin typeface="Garet Bold"/>
                <a:ea typeface="Garet Bold"/>
                <a:cs typeface="Garet Bold"/>
                <a:sym typeface="Garet Bold"/>
              </a:rPr>
              <a:t>Șiruri de execuție goale</a:t>
            </a: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: ε.</a:t>
            </a:r>
          </a:p>
          <a:p>
            <a:pPr algn="l" marL="518160" indent="-259080" lvl="1">
              <a:lnSpc>
                <a:spcPts val="4800"/>
              </a:lnSpc>
              <a:buFont typeface="Arial"/>
              <a:buChar char="•"/>
            </a:pPr>
            <a:r>
              <a:rPr lang="en-US" b="true" sz="2400">
                <a:solidFill>
                  <a:srgbClr val="3F3D3E"/>
                </a:solidFill>
                <a:latin typeface="Garet Bold"/>
                <a:ea typeface="Garet Bold"/>
                <a:cs typeface="Garet Bold"/>
                <a:sym typeface="Garet Bold"/>
              </a:rPr>
              <a:t>Secvențiale</a:t>
            </a: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: r, se execută prima regulă aplicabilă, după care se trece la următoarea.</a:t>
            </a:r>
          </a:p>
          <a:p>
            <a:pPr algn="l" marL="518160" indent="-259080" lvl="1">
              <a:lnSpc>
                <a:spcPts val="4800"/>
              </a:lnSpc>
              <a:buFont typeface="Arial"/>
              <a:buChar char="•"/>
            </a:pPr>
            <a:r>
              <a:rPr lang="en-US" b="true" sz="2400">
                <a:solidFill>
                  <a:srgbClr val="3F3D3E"/>
                </a:solidFill>
                <a:latin typeface="Garet Bold"/>
                <a:ea typeface="Garet Bold"/>
                <a:cs typeface="Garet Bold"/>
                <a:sym typeface="Garet Bold"/>
              </a:rPr>
              <a:t>Alegere/choice</a:t>
            </a: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: (r</a:t>
            </a: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1</a:t>
            </a: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, .... , r</a:t>
            </a: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n</a:t>
            </a: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) - se alege nedeterminitic</a:t>
            </a:r>
            <a:r>
              <a:rPr lang="en-US" b="true" sz="2400">
                <a:solidFill>
                  <a:srgbClr val="3F3D3E"/>
                </a:solidFill>
                <a:latin typeface="Garet Bold"/>
                <a:ea typeface="Garet Bold"/>
                <a:cs typeface="Garet Bold"/>
                <a:sym typeface="Garet Bold"/>
              </a:rPr>
              <a:t> doar </a:t>
            </a: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o regulă aplicabilă din setul dat, dacă aceasta există. </a:t>
            </a:r>
          </a:p>
          <a:p>
            <a:pPr algn="l" marL="518160" indent="-259080" lvl="1">
              <a:lnSpc>
                <a:spcPts val="4800"/>
              </a:lnSpc>
              <a:buFont typeface="Arial"/>
              <a:buChar char="•"/>
            </a:pPr>
            <a:r>
              <a:rPr lang="en-US" b="true" sz="2400">
                <a:solidFill>
                  <a:srgbClr val="3F3D3E"/>
                </a:solidFill>
                <a:latin typeface="Garet Bold"/>
                <a:ea typeface="Garet Bold"/>
                <a:cs typeface="Garet Bold"/>
                <a:sym typeface="Garet Bold"/>
              </a:rPr>
              <a:t>Arbitrare</a:t>
            </a: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: (r</a:t>
            </a: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1</a:t>
            </a: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, .... , r</a:t>
            </a: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n</a:t>
            </a: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)* - se alege un numar aleator de reguli aplicabile (inclusiv zero) si se aplică, fără o ordine fixă.</a:t>
            </a:r>
          </a:p>
          <a:p>
            <a:pPr algn="l" marL="518160" indent="-259080" lvl="1">
              <a:lnSpc>
                <a:spcPts val="4800"/>
              </a:lnSpc>
              <a:buFont typeface="Arial"/>
              <a:buChar char="•"/>
            </a:pPr>
            <a:r>
              <a:rPr lang="en-US" b="true" sz="2400">
                <a:solidFill>
                  <a:srgbClr val="3F3D3E"/>
                </a:solidFill>
                <a:latin typeface="Garet Bold"/>
                <a:ea typeface="Garet Bold"/>
                <a:cs typeface="Garet Bold"/>
                <a:sym typeface="Garet Bold"/>
              </a:rPr>
              <a:t>Paralelism</a:t>
            </a: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b="true" sz="2400">
                <a:solidFill>
                  <a:srgbClr val="3F3D3E"/>
                </a:solidFill>
                <a:latin typeface="Garet Bold"/>
                <a:ea typeface="Garet Bold"/>
                <a:cs typeface="Garet Bold"/>
                <a:sym typeface="Garet Bold"/>
              </a:rPr>
              <a:t>maxim/maximally parallel</a:t>
            </a: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: (r</a:t>
            </a: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1</a:t>
            </a: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, .... , r</a:t>
            </a: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n</a:t>
            </a: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)</a:t>
            </a: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T</a:t>
            </a: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 - toate regulile aplicabile se execută simultan.</a:t>
            </a:r>
          </a:p>
          <a:p>
            <a:pPr algn="l">
              <a:lnSpc>
                <a:spcPts val="4800"/>
              </a:lnSpc>
            </a:pP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</a:p>
        </p:txBody>
      </p:sp>
      <p:sp>
        <p:nvSpPr>
          <p:cNvPr name="Freeform 4" id="4"/>
          <p:cNvSpPr/>
          <p:nvPr/>
        </p:nvSpPr>
        <p:spPr>
          <a:xfrm flipH="true" flipV="false" rot="0">
            <a:off x="14733021" y="0"/>
            <a:ext cx="3554979" cy="2798738"/>
          </a:xfrm>
          <a:custGeom>
            <a:avLst/>
            <a:gdLst/>
            <a:ahLst/>
            <a:cxnLst/>
            <a:rect r="r" b="b" t="t" l="l"/>
            <a:pathLst>
              <a:path h="2798738" w="3554979">
                <a:moveTo>
                  <a:pt x="3554979" y="0"/>
                </a:moveTo>
                <a:lnTo>
                  <a:pt x="0" y="0"/>
                </a:lnTo>
                <a:lnTo>
                  <a:pt x="0" y="2798738"/>
                </a:lnTo>
                <a:lnTo>
                  <a:pt x="3554979" y="2798738"/>
                </a:lnTo>
                <a:lnTo>
                  <a:pt x="355497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0" y="0"/>
            <a:ext cx="2798738" cy="2798738"/>
          </a:xfrm>
          <a:custGeom>
            <a:avLst/>
            <a:gdLst/>
            <a:ahLst/>
            <a:cxnLst/>
            <a:rect r="r" b="b" t="t" l="l"/>
            <a:pathLst>
              <a:path h="2798738" w="2798738">
                <a:moveTo>
                  <a:pt x="0" y="2798738"/>
                </a:moveTo>
                <a:lnTo>
                  <a:pt x="2798738" y="2798738"/>
                </a:lnTo>
                <a:lnTo>
                  <a:pt x="2798738" y="0"/>
                </a:lnTo>
                <a:lnTo>
                  <a:pt x="0" y="0"/>
                </a:lnTo>
                <a:lnTo>
                  <a:pt x="0" y="279873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4733021" y="0"/>
            <a:ext cx="3554979" cy="2798738"/>
          </a:xfrm>
          <a:custGeom>
            <a:avLst/>
            <a:gdLst/>
            <a:ahLst/>
            <a:cxnLst/>
            <a:rect r="r" b="b" t="t" l="l"/>
            <a:pathLst>
              <a:path h="2798738" w="3554979">
                <a:moveTo>
                  <a:pt x="3554979" y="0"/>
                </a:moveTo>
                <a:lnTo>
                  <a:pt x="0" y="0"/>
                </a:lnTo>
                <a:lnTo>
                  <a:pt x="0" y="2798738"/>
                </a:lnTo>
                <a:lnTo>
                  <a:pt x="3554979" y="2798738"/>
                </a:lnTo>
                <a:lnTo>
                  <a:pt x="355497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0" y="0"/>
            <a:ext cx="2798738" cy="2798738"/>
          </a:xfrm>
          <a:custGeom>
            <a:avLst/>
            <a:gdLst/>
            <a:ahLst/>
            <a:cxnLst/>
            <a:rect r="r" b="b" t="t" l="l"/>
            <a:pathLst>
              <a:path h="2798738" w="2798738">
                <a:moveTo>
                  <a:pt x="0" y="2798738"/>
                </a:moveTo>
                <a:lnTo>
                  <a:pt x="2798738" y="2798738"/>
                </a:lnTo>
                <a:lnTo>
                  <a:pt x="2798738" y="0"/>
                </a:lnTo>
                <a:lnTo>
                  <a:pt x="0" y="0"/>
                </a:lnTo>
                <a:lnTo>
                  <a:pt x="0" y="279873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771785" y="923925"/>
            <a:ext cx="12744429" cy="95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KP WORKBENCH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2477643" y="2798738"/>
            <a:ext cx="13332714" cy="6899680"/>
          </a:xfrm>
          <a:custGeom>
            <a:avLst/>
            <a:gdLst/>
            <a:ahLst/>
            <a:cxnLst/>
            <a:rect r="r" b="b" t="t" l="l"/>
            <a:pathLst>
              <a:path h="6899680" w="13332714">
                <a:moveTo>
                  <a:pt x="0" y="0"/>
                </a:moveTo>
                <a:lnTo>
                  <a:pt x="13332714" y="0"/>
                </a:lnTo>
                <a:lnTo>
                  <a:pt x="13332714" y="6899679"/>
                </a:lnTo>
                <a:lnTo>
                  <a:pt x="0" y="689967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771785" y="923925"/>
            <a:ext cx="12744429" cy="95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KP WORKBENCH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617763"/>
            <a:ext cx="16230600" cy="6642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2400" b="true">
                <a:solidFill>
                  <a:srgbClr val="3F3D3E"/>
                </a:solidFill>
                <a:latin typeface="Garet Bold"/>
                <a:ea typeface="Garet Bold"/>
                <a:cs typeface="Garet Bold"/>
                <a:sym typeface="Garet Bold"/>
              </a:rPr>
              <a:t>KP Workbench</a:t>
            </a: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 este un </a:t>
            </a: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Framework cross-platform ce are ca scop analiza computatională a kP systems. Utilitatea platformei kPWorkbench a fost prezentată în diverse studii de la sisteme la biologie sintetică la diverse probleme (precum probleme NP-complete).</a:t>
            </a:r>
          </a:p>
          <a:p>
            <a:pPr algn="l">
              <a:lnSpc>
                <a:spcPts val="4800"/>
              </a:lnSpc>
            </a:pPr>
          </a:p>
          <a:p>
            <a:pPr algn="l">
              <a:lnSpc>
                <a:spcPts val="4800"/>
              </a:lnSpc>
            </a:pP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Funcționalitățile principale a kP Workbench sunt:</a:t>
            </a:r>
          </a:p>
          <a:p>
            <a:pPr algn="l" marL="518160" indent="-259080" lvl="1">
              <a:lnSpc>
                <a:spcPts val="4800"/>
              </a:lnSpc>
              <a:buFont typeface="Arial"/>
              <a:buChar char="•"/>
            </a:pPr>
            <a:r>
              <a:rPr lang="en-US" b="true" sz="2400">
                <a:solidFill>
                  <a:srgbClr val="3F3D3E"/>
                </a:solidFill>
                <a:latin typeface="Garet Bold"/>
                <a:ea typeface="Garet Bold"/>
                <a:cs typeface="Garet Bold"/>
                <a:sym typeface="Garet Bold"/>
              </a:rPr>
              <a:t>Modelarea: </a:t>
            </a: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Permite descrierea sistemelor kP folosind limbajul kP–Lingua.</a:t>
            </a:r>
          </a:p>
          <a:p>
            <a:pPr algn="l" marL="518160" indent="-259080" lvl="1">
              <a:lnSpc>
                <a:spcPts val="4800"/>
              </a:lnSpc>
              <a:buFont typeface="Arial"/>
              <a:buChar char="•"/>
            </a:pPr>
            <a:r>
              <a:rPr lang="en-US" b="true" sz="2400">
                <a:solidFill>
                  <a:srgbClr val="3F3D3E"/>
                </a:solidFill>
                <a:latin typeface="Garet Bold"/>
                <a:ea typeface="Garet Bold"/>
                <a:cs typeface="Garet Bold"/>
                <a:sym typeface="Garet Bold"/>
              </a:rPr>
              <a:t>Simularea</a:t>
            </a: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: Include un simulator propriu (secvențial) pentru rularea modelelor kP și analiza acestora şi suport pentru integrarea cu FLAME pentru performanță ridicată (paralelă) a modelelor complexe.</a:t>
            </a:r>
          </a:p>
          <a:p>
            <a:pPr algn="l" marL="518160" indent="-259080" lvl="1">
              <a:lnSpc>
                <a:spcPts val="4800"/>
              </a:lnSpc>
              <a:buFont typeface="Arial"/>
              <a:buChar char="•"/>
            </a:pPr>
            <a:r>
              <a:rPr lang="en-US" b="true" sz="2400">
                <a:solidFill>
                  <a:srgbClr val="3F3D3E"/>
                </a:solidFill>
                <a:latin typeface="Garet Bold"/>
                <a:ea typeface="Garet Bold"/>
                <a:cs typeface="Garet Bold"/>
                <a:sym typeface="Garet Bold"/>
              </a:rPr>
              <a:t>Verificarea</a:t>
            </a: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: Asigură verificarea formală (model checking) a modelelor cu ajutorul instrumentelor Spin şi NuSMV, împreună cu un limbaj simplificat (kP–Queries) pentru specificarea proprietăţilor ce urmează a fi verificate.</a:t>
            </a:r>
          </a:p>
        </p:txBody>
      </p:sp>
      <p:sp>
        <p:nvSpPr>
          <p:cNvPr name="Freeform 4" id="4"/>
          <p:cNvSpPr/>
          <p:nvPr/>
        </p:nvSpPr>
        <p:spPr>
          <a:xfrm flipH="true" flipV="false" rot="0">
            <a:off x="14733021" y="0"/>
            <a:ext cx="3554979" cy="2798738"/>
          </a:xfrm>
          <a:custGeom>
            <a:avLst/>
            <a:gdLst/>
            <a:ahLst/>
            <a:cxnLst/>
            <a:rect r="r" b="b" t="t" l="l"/>
            <a:pathLst>
              <a:path h="2798738" w="3554979">
                <a:moveTo>
                  <a:pt x="3554979" y="0"/>
                </a:moveTo>
                <a:lnTo>
                  <a:pt x="0" y="0"/>
                </a:lnTo>
                <a:lnTo>
                  <a:pt x="0" y="2798738"/>
                </a:lnTo>
                <a:lnTo>
                  <a:pt x="3554979" y="2798738"/>
                </a:lnTo>
                <a:lnTo>
                  <a:pt x="355497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0" y="0"/>
            <a:ext cx="2798738" cy="2798738"/>
          </a:xfrm>
          <a:custGeom>
            <a:avLst/>
            <a:gdLst/>
            <a:ahLst/>
            <a:cxnLst/>
            <a:rect r="r" b="b" t="t" l="l"/>
            <a:pathLst>
              <a:path h="2798738" w="2798738">
                <a:moveTo>
                  <a:pt x="0" y="2798738"/>
                </a:moveTo>
                <a:lnTo>
                  <a:pt x="2798738" y="2798738"/>
                </a:lnTo>
                <a:lnTo>
                  <a:pt x="2798738" y="0"/>
                </a:lnTo>
                <a:lnTo>
                  <a:pt x="0" y="0"/>
                </a:lnTo>
                <a:lnTo>
                  <a:pt x="0" y="279873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771785" y="870414"/>
            <a:ext cx="12744429" cy="95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 ARHITECTURA KP WORKBENCH</a:t>
            </a:r>
          </a:p>
        </p:txBody>
      </p:sp>
      <p:sp>
        <p:nvSpPr>
          <p:cNvPr name="Freeform 3" id="3"/>
          <p:cNvSpPr/>
          <p:nvPr/>
        </p:nvSpPr>
        <p:spPr>
          <a:xfrm flipH="true" flipV="false" rot="0">
            <a:off x="14733021" y="0"/>
            <a:ext cx="3554979" cy="2798738"/>
          </a:xfrm>
          <a:custGeom>
            <a:avLst/>
            <a:gdLst/>
            <a:ahLst/>
            <a:cxnLst/>
            <a:rect r="r" b="b" t="t" l="l"/>
            <a:pathLst>
              <a:path h="2798738" w="3554979">
                <a:moveTo>
                  <a:pt x="3554979" y="0"/>
                </a:moveTo>
                <a:lnTo>
                  <a:pt x="0" y="0"/>
                </a:lnTo>
                <a:lnTo>
                  <a:pt x="0" y="2798738"/>
                </a:lnTo>
                <a:lnTo>
                  <a:pt x="3554979" y="2798738"/>
                </a:lnTo>
                <a:lnTo>
                  <a:pt x="355497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0" y="0"/>
            <a:ext cx="2798738" cy="2798738"/>
          </a:xfrm>
          <a:custGeom>
            <a:avLst/>
            <a:gdLst/>
            <a:ahLst/>
            <a:cxnLst/>
            <a:rect r="r" b="b" t="t" l="l"/>
            <a:pathLst>
              <a:path h="2798738" w="2798738">
                <a:moveTo>
                  <a:pt x="0" y="2798738"/>
                </a:moveTo>
                <a:lnTo>
                  <a:pt x="2798738" y="2798738"/>
                </a:lnTo>
                <a:lnTo>
                  <a:pt x="2798738" y="0"/>
                </a:lnTo>
                <a:lnTo>
                  <a:pt x="0" y="0"/>
                </a:lnTo>
                <a:lnTo>
                  <a:pt x="0" y="279873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036351" y="2798738"/>
            <a:ext cx="14215298" cy="7018803"/>
          </a:xfrm>
          <a:custGeom>
            <a:avLst/>
            <a:gdLst/>
            <a:ahLst/>
            <a:cxnLst/>
            <a:rect r="r" b="b" t="t" l="l"/>
            <a:pathLst>
              <a:path h="7018803" w="14215298">
                <a:moveTo>
                  <a:pt x="0" y="0"/>
                </a:moveTo>
                <a:lnTo>
                  <a:pt x="14215298" y="0"/>
                </a:lnTo>
                <a:lnTo>
                  <a:pt x="14215298" y="7018803"/>
                </a:lnTo>
                <a:lnTo>
                  <a:pt x="0" y="701880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3245097"/>
            <a:ext cx="16230600" cy="4168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Din punct de vedere arhitectural, </a:t>
            </a:r>
            <a:r>
              <a:rPr lang="en-US" sz="2400" b="true">
                <a:solidFill>
                  <a:srgbClr val="3F3D3E"/>
                </a:solidFill>
                <a:latin typeface="Garet Bold"/>
                <a:ea typeface="Garet Bold"/>
                <a:cs typeface="Garet Bold"/>
                <a:sym typeface="Garet Bold"/>
              </a:rPr>
              <a:t>kP Workbench </a:t>
            </a: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se structurează în trei module principale: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3F3D3E"/>
                </a:solidFill>
                <a:latin typeface="Garet Bold"/>
                <a:ea typeface="Garet Bold"/>
                <a:cs typeface="Garet Bold"/>
                <a:sym typeface="Garet Bold"/>
              </a:rPr>
              <a:t>Modulul kP</a:t>
            </a: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: </a:t>
            </a: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Parsează și validează modelele kP-Lingua folosind ANTLR, generând obiectul intern de model (DTO).</a:t>
            </a:r>
          </a:p>
          <a:p>
            <a:pPr algn="l">
              <a:lnSpc>
                <a:spcPts val="3359"/>
              </a:lnSpc>
            </a:pP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3F3D3E"/>
                </a:solidFill>
                <a:latin typeface="Garet Bold"/>
                <a:ea typeface="Garet Bold"/>
                <a:cs typeface="Garet Bold"/>
                <a:sym typeface="Garet Bold"/>
              </a:rPr>
              <a:t>Modulul de simulare</a:t>
            </a: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: Inc</a:t>
            </a: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lude Simulatorul nativ secvențial și FLAME Translator, care convertește modelul în specificații FLAME (agenți, funcții C).</a:t>
            </a:r>
          </a:p>
          <a:p>
            <a:pPr algn="l">
              <a:lnSpc>
                <a:spcPts val="3359"/>
              </a:lnSpc>
            </a:pP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3F3D3E"/>
                </a:solidFill>
                <a:latin typeface="Garet Bold"/>
                <a:ea typeface="Garet Bold"/>
                <a:cs typeface="Garet Bold"/>
                <a:sym typeface="Garet Bold"/>
              </a:rPr>
              <a:t>Modulul de verificare</a:t>
            </a: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: Traduce DTO-ul în Promela (pentru SPIN) și SMV (pentru NuSMV) și utilizează </a:t>
            </a: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kP-Queries pentru a transforma proprietățile în formule LTL/CTL.</a:t>
            </a:r>
          </a:p>
          <a:p>
            <a:pPr algn="l">
              <a:lnSpc>
                <a:spcPts val="3359"/>
              </a:lnSpc>
            </a:pPr>
          </a:p>
        </p:txBody>
      </p:sp>
      <p:sp>
        <p:nvSpPr>
          <p:cNvPr name="Freeform 3" id="3"/>
          <p:cNvSpPr/>
          <p:nvPr/>
        </p:nvSpPr>
        <p:spPr>
          <a:xfrm flipH="true" flipV="false" rot="0">
            <a:off x="14733021" y="0"/>
            <a:ext cx="3554979" cy="2798738"/>
          </a:xfrm>
          <a:custGeom>
            <a:avLst/>
            <a:gdLst/>
            <a:ahLst/>
            <a:cxnLst/>
            <a:rect r="r" b="b" t="t" l="l"/>
            <a:pathLst>
              <a:path h="2798738" w="3554979">
                <a:moveTo>
                  <a:pt x="3554979" y="0"/>
                </a:moveTo>
                <a:lnTo>
                  <a:pt x="0" y="0"/>
                </a:lnTo>
                <a:lnTo>
                  <a:pt x="0" y="2798738"/>
                </a:lnTo>
                <a:lnTo>
                  <a:pt x="3554979" y="2798738"/>
                </a:lnTo>
                <a:lnTo>
                  <a:pt x="355497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0" y="0"/>
            <a:ext cx="2798738" cy="2798738"/>
          </a:xfrm>
          <a:custGeom>
            <a:avLst/>
            <a:gdLst/>
            <a:ahLst/>
            <a:cxnLst/>
            <a:rect r="r" b="b" t="t" l="l"/>
            <a:pathLst>
              <a:path h="2798738" w="2798738">
                <a:moveTo>
                  <a:pt x="0" y="2798738"/>
                </a:moveTo>
                <a:lnTo>
                  <a:pt x="2798738" y="2798738"/>
                </a:lnTo>
                <a:lnTo>
                  <a:pt x="2798738" y="0"/>
                </a:lnTo>
                <a:lnTo>
                  <a:pt x="0" y="0"/>
                </a:lnTo>
                <a:lnTo>
                  <a:pt x="0" y="279873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771785" y="870414"/>
            <a:ext cx="12744429" cy="95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 ARHITECTURA KP WORKBENCH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4733021" y="0"/>
            <a:ext cx="3554979" cy="2798738"/>
          </a:xfrm>
          <a:custGeom>
            <a:avLst/>
            <a:gdLst/>
            <a:ahLst/>
            <a:cxnLst/>
            <a:rect r="r" b="b" t="t" l="l"/>
            <a:pathLst>
              <a:path h="2798738" w="3554979">
                <a:moveTo>
                  <a:pt x="3554979" y="0"/>
                </a:moveTo>
                <a:lnTo>
                  <a:pt x="0" y="0"/>
                </a:lnTo>
                <a:lnTo>
                  <a:pt x="0" y="2798738"/>
                </a:lnTo>
                <a:lnTo>
                  <a:pt x="3554979" y="2798738"/>
                </a:lnTo>
                <a:lnTo>
                  <a:pt x="355497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0" y="0"/>
            <a:ext cx="2798738" cy="2798738"/>
          </a:xfrm>
          <a:custGeom>
            <a:avLst/>
            <a:gdLst/>
            <a:ahLst/>
            <a:cxnLst/>
            <a:rect r="r" b="b" t="t" l="l"/>
            <a:pathLst>
              <a:path h="2798738" w="2798738">
                <a:moveTo>
                  <a:pt x="0" y="2798738"/>
                </a:moveTo>
                <a:lnTo>
                  <a:pt x="2798738" y="2798738"/>
                </a:lnTo>
                <a:lnTo>
                  <a:pt x="2798738" y="0"/>
                </a:lnTo>
                <a:lnTo>
                  <a:pt x="0" y="0"/>
                </a:lnTo>
                <a:lnTo>
                  <a:pt x="0" y="279873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771785" y="870414"/>
            <a:ext cx="12744429" cy="95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MODUL</a:t>
            </a:r>
            <a:r>
              <a:rPr lang="en-US" b="true" sz="5600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UL KP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760638"/>
            <a:ext cx="16230600" cy="458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400">
                <a:solidFill>
                  <a:srgbClr val="3F3D3E"/>
                </a:solidFill>
                <a:latin typeface="Garet Bold"/>
                <a:ea typeface="Garet Bold"/>
                <a:cs typeface="Garet Bold"/>
                <a:sym typeface="Garet Bold"/>
              </a:rPr>
              <a:t>Scop</a:t>
            </a: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: Acceptă și prelucrează modele kernel P (kP) definite în limbajul kP–Lingua.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Funcționalități cheie ale modulului kP: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3F3D3E"/>
                </a:solidFill>
                <a:latin typeface="Garet Bold"/>
                <a:ea typeface="Garet Bold"/>
                <a:cs typeface="Garet Bold"/>
                <a:sym typeface="Garet Bold"/>
              </a:rPr>
              <a:t>Parsare &amp; Validare</a:t>
            </a: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: Utilizează ANTLR (ANother Tool for Language Recognition) pentru analiza sintactică și semantică a modelelor.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3F3D3E"/>
                </a:solidFill>
                <a:latin typeface="Garet Bold"/>
                <a:ea typeface="Garet Bold"/>
                <a:cs typeface="Garet Bold"/>
                <a:sym typeface="Garet Bold"/>
              </a:rPr>
              <a:t>Generarea AST</a:t>
            </a: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: Construiește automat arborele de sintaxă abstractă (AST) al modelului.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3F3D3E"/>
                </a:solidFill>
                <a:latin typeface="Garet Bold"/>
                <a:ea typeface="Garet Bold"/>
                <a:cs typeface="Garet Bold"/>
                <a:sym typeface="Garet Bold"/>
              </a:rPr>
              <a:t>Crearea kP–Model</a:t>
            </a: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: Mapare a AST-ului într-un obiect DTO care cuprinde:</a:t>
            </a:r>
          </a:p>
          <a:p>
            <a:pPr algn="l" marL="1036320" indent="-345440" lvl="2">
              <a:lnSpc>
                <a:spcPts val="3359"/>
              </a:lnSpc>
              <a:buFont typeface="Arial"/>
              <a:buChar char="⚬"/>
            </a:pP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Tipurile compartimentelor</a:t>
            </a:r>
          </a:p>
          <a:p>
            <a:pPr algn="l" marL="1036320" indent="-345440" lvl="2">
              <a:lnSpc>
                <a:spcPts val="3359"/>
              </a:lnSpc>
              <a:buFont typeface="Arial"/>
              <a:buChar char="⚬"/>
            </a:pP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Relațiile între compartimente</a:t>
            </a:r>
          </a:p>
          <a:p>
            <a:pPr algn="l" marL="1036320" indent="-345440" lvl="2">
              <a:lnSpc>
                <a:spcPts val="3359"/>
              </a:lnSpc>
              <a:buFont typeface="Arial"/>
              <a:buChar char="⚬"/>
            </a:pP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Reguli și multiseturi de obiecte</a:t>
            </a:r>
          </a:p>
          <a:p>
            <a:pPr algn="l" marL="1036320" indent="-345440" lvl="2">
              <a:lnSpc>
                <a:spcPts val="3359"/>
              </a:lnSpc>
              <a:buFont typeface="Arial"/>
              <a:buChar char="⚬"/>
            </a:pP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Strategiile de execuție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771785" y="870414"/>
            <a:ext cx="12744429" cy="95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M</a:t>
            </a:r>
            <a:r>
              <a:rPr lang="en-US" b="true" sz="5600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ODULUL DE SIMULARE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760638"/>
            <a:ext cx="16230600" cy="5006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E</a:t>
            </a: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xistă două abordări disponibile: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3F3D3E"/>
                </a:solidFill>
                <a:latin typeface="Garet Bold"/>
                <a:ea typeface="Garet Bold"/>
                <a:cs typeface="Garet Bold"/>
                <a:sym typeface="Garet Bold"/>
              </a:rPr>
              <a:t>KPWorkbench Simulator</a:t>
            </a: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 (simulatorul nativ):</a:t>
            </a:r>
          </a:p>
          <a:p>
            <a:pPr algn="l" marL="1036320" indent="-345440" lvl="2">
              <a:lnSpc>
                <a:spcPts val="3359"/>
              </a:lnSpc>
              <a:buFont typeface="Arial"/>
              <a:buChar char="⚬"/>
            </a:pP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Execută direct regulile și strategiile definite în kP-Lingua.</a:t>
            </a:r>
          </a:p>
          <a:p>
            <a:pPr algn="l" marL="1036320" indent="-345440" lvl="2">
              <a:lnSpc>
                <a:spcPts val="3359"/>
              </a:lnSpc>
              <a:buFont typeface="Arial"/>
              <a:buChar char="⚬"/>
            </a:pP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Procesare </a:t>
            </a:r>
            <a:r>
              <a:rPr lang="en-US" b="true" sz="2400">
                <a:solidFill>
                  <a:srgbClr val="3F3D3E"/>
                </a:solidFill>
                <a:latin typeface="Garet Bold"/>
                <a:ea typeface="Garet Bold"/>
                <a:cs typeface="Garet Bold"/>
                <a:sym typeface="Garet Bold"/>
              </a:rPr>
              <a:t>secvențială</a:t>
            </a: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.</a:t>
            </a:r>
          </a:p>
          <a:p>
            <a:pPr algn="l" marL="1036320" indent="-345440" lvl="2">
              <a:lnSpc>
                <a:spcPts val="3359"/>
              </a:lnSpc>
              <a:buFont typeface="Arial"/>
              <a:buChar char="⚬"/>
            </a:pP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Potrivit pentru modele de dimensiuni mici sau medii.</a:t>
            </a:r>
          </a:p>
          <a:p>
            <a:pPr algn="l">
              <a:lnSpc>
                <a:spcPts val="3359"/>
              </a:lnSpc>
            </a:pP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3F3D3E"/>
                </a:solidFill>
                <a:latin typeface="Garet Bold"/>
                <a:ea typeface="Garet Bold"/>
                <a:cs typeface="Garet Bold"/>
                <a:sym typeface="Garet Bold"/>
              </a:rPr>
              <a:t>Simulare bazată pe FLAME</a:t>
            </a: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 (Flexible Large-Scale Agent Modelling Environment)</a:t>
            </a: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:</a:t>
            </a:r>
          </a:p>
          <a:p>
            <a:pPr algn="l" marL="1036320" indent="-345440" lvl="2">
              <a:lnSpc>
                <a:spcPts val="3359"/>
              </a:lnSpc>
              <a:buFont typeface="Arial"/>
              <a:buChar char="⚬"/>
            </a:pP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Modelul kP este compilat într-un model bazat pe agenți (X-machines) cu state machines.</a:t>
            </a:r>
          </a:p>
          <a:p>
            <a:pPr algn="l" marL="1036320" indent="-345440" lvl="2">
              <a:lnSpc>
                <a:spcPts val="3359"/>
              </a:lnSpc>
              <a:buFont typeface="Arial"/>
              <a:buChar char="⚬"/>
            </a:pP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Fiecare compartiment devine un agent.</a:t>
            </a:r>
          </a:p>
          <a:p>
            <a:pPr algn="l" marL="1036320" indent="-345440" lvl="2">
              <a:lnSpc>
                <a:spcPts val="3359"/>
              </a:lnSpc>
              <a:buFont typeface="Arial"/>
              <a:buChar char="⚬"/>
            </a:pP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Regulile devin funcții de tranziție/comunicare între agenți. </a:t>
            </a:r>
          </a:p>
          <a:p>
            <a:pPr algn="l" marL="1036320" indent="-345440" lvl="2">
              <a:lnSpc>
                <a:spcPts val="3359"/>
              </a:lnSpc>
              <a:buFont typeface="Arial"/>
              <a:buChar char="⚬"/>
            </a:pP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Execuție </a:t>
            </a:r>
            <a:r>
              <a:rPr lang="en-US" b="true" sz="2400">
                <a:solidFill>
                  <a:srgbClr val="3F3D3E"/>
                </a:solidFill>
                <a:latin typeface="Garet Bold"/>
                <a:ea typeface="Garet Bold"/>
                <a:cs typeface="Garet Bold"/>
                <a:sym typeface="Garet Bold"/>
              </a:rPr>
              <a:t>paralelă</a:t>
            </a: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, folosind medii high-performance.</a:t>
            </a:r>
          </a:p>
          <a:p>
            <a:pPr algn="l" marL="1036320" indent="-345440" lvl="2">
              <a:lnSpc>
                <a:spcPts val="3359"/>
              </a:lnSpc>
              <a:buFont typeface="Arial"/>
              <a:buChar char="⚬"/>
            </a:pPr>
            <a:r>
              <a:rPr lang="en-US" b="true" sz="2400">
                <a:solidFill>
                  <a:srgbClr val="3F3D3E"/>
                </a:solidFill>
                <a:latin typeface="Garet Bold"/>
                <a:ea typeface="Garet Bold"/>
                <a:cs typeface="Garet Bold"/>
                <a:sym typeface="Garet Bold"/>
              </a:rPr>
              <a:t>Scalabilă </a:t>
            </a: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și </a:t>
            </a:r>
            <a:r>
              <a:rPr lang="en-US" b="true" sz="2400">
                <a:solidFill>
                  <a:srgbClr val="3F3D3E"/>
                </a:solidFill>
                <a:latin typeface="Garet Bold"/>
                <a:ea typeface="Garet Bold"/>
                <a:cs typeface="Garet Bold"/>
                <a:sym typeface="Garet Bold"/>
              </a:rPr>
              <a:t>eficientă </a:t>
            </a: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pentru simulări mari și complexe.</a:t>
            </a:r>
          </a:p>
        </p:txBody>
      </p:sp>
      <p:sp>
        <p:nvSpPr>
          <p:cNvPr name="Freeform 4" id="4"/>
          <p:cNvSpPr/>
          <p:nvPr/>
        </p:nvSpPr>
        <p:spPr>
          <a:xfrm flipH="true" flipV="false" rot="0">
            <a:off x="14733021" y="0"/>
            <a:ext cx="3554979" cy="2798738"/>
          </a:xfrm>
          <a:custGeom>
            <a:avLst/>
            <a:gdLst/>
            <a:ahLst/>
            <a:cxnLst/>
            <a:rect r="r" b="b" t="t" l="l"/>
            <a:pathLst>
              <a:path h="2798738" w="3554979">
                <a:moveTo>
                  <a:pt x="3554979" y="0"/>
                </a:moveTo>
                <a:lnTo>
                  <a:pt x="0" y="0"/>
                </a:lnTo>
                <a:lnTo>
                  <a:pt x="0" y="2798738"/>
                </a:lnTo>
                <a:lnTo>
                  <a:pt x="3554979" y="2798738"/>
                </a:lnTo>
                <a:lnTo>
                  <a:pt x="355497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0" y="0"/>
            <a:ext cx="2798738" cy="2798738"/>
          </a:xfrm>
          <a:custGeom>
            <a:avLst/>
            <a:gdLst/>
            <a:ahLst/>
            <a:cxnLst/>
            <a:rect r="r" b="b" t="t" l="l"/>
            <a:pathLst>
              <a:path h="2798738" w="2798738">
                <a:moveTo>
                  <a:pt x="0" y="2798738"/>
                </a:moveTo>
                <a:lnTo>
                  <a:pt x="2798738" y="2798738"/>
                </a:lnTo>
                <a:lnTo>
                  <a:pt x="2798738" y="0"/>
                </a:lnTo>
                <a:lnTo>
                  <a:pt x="0" y="0"/>
                </a:lnTo>
                <a:lnTo>
                  <a:pt x="0" y="279873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771785" y="870414"/>
            <a:ext cx="12744429" cy="95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PERFORMANȚĂ</a:t>
            </a:r>
            <a:r>
              <a:rPr lang="en-US" b="true" sz="5600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 SIMULARE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760638"/>
            <a:ext cx="16230600" cy="1234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Diferența de performanță dintre </a:t>
            </a:r>
            <a:r>
              <a:rPr lang="en-US" b="true" sz="2400">
                <a:solidFill>
                  <a:srgbClr val="3F3D3E"/>
                </a:solidFill>
                <a:latin typeface="Garet Bold"/>
                <a:ea typeface="Garet Bold"/>
                <a:cs typeface="Garet Bold"/>
                <a:sym typeface="Garet Bold"/>
              </a:rPr>
              <a:t>KPWorkbench Simulator</a:t>
            </a: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 (simulatorul nativ) VS </a:t>
            </a:r>
            <a:r>
              <a:rPr lang="en-US" b="true" sz="2400">
                <a:solidFill>
                  <a:srgbClr val="3F3D3E"/>
                </a:solidFill>
                <a:latin typeface="Garet Bold"/>
                <a:ea typeface="Garet Bold"/>
                <a:cs typeface="Garet Bold"/>
                <a:sym typeface="Garet Bold"/>
              </a:rPr>
              <a:t>FLAME </a:t>
            </a: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(Flexible Large-Scale Agent Modelling Environment).</a:t>
            </a:r>
          </a:p>
          <a:p>
            <a:pPr algn="l">
              <a:lnSpc>
                <a:spcPts val="3359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true" flipV="false" rot="0">
            <a:off x="14733021" y="0"/>
            <a:ext cx="3554979" cy="2798738"/>
          </a:xfrm>
          <a:custGeom>
            <a:avLst/>
            <a:gdLst/>
            <a:ahLst/>
            <a:cxnLst/>
            <a:rect r="r" b="b" t="t" l="l"/>
            <a:pathLst>
              <a:path h="2798738" w="3554979">
                <a:moveTo>
                  <a:pt x="3554979" y="0"/>
                </a:moveTo>
                <a:lnTo>
                  <a:pt x="0" y="0"/>
                </a:lnTo>
                <a:lnTo>
                  <a:pt x="0" y="2798738"/>
                </a:lnTo>
                <a:lnTo>
                  <a:pt x="3554979" y="2798738"/>
                </a:lnTo>
                <a:lnTo>
                  <a:pt x="355497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0" y="0"/>
            <a:ext cx="2798738" cy="2798738"/>
          </a:xfrm>
          <a:custGeom>
            <a:avLst/>
            <a:gdLst/>
            <a:ahLst/>
            <a:cxnLst/>
            <a:rect r="r" b="b" t="t" l="l"/>
            <a:pathLst>
              <a:path h="2798738" w="2798738">
                <a:moveTo>
                  <a:pt x="0" y="2798738"/>
                </a:moveTo>
                <a:lnTo>
                  <a:pt x="2798738" y="2798738"/>
                </a:lnTo>
                <a:lnTo>
                  <a:pt x="2798738" y="0"/>
                </a:lnTo>
                <a:lnTo>
                  <a:pt x="0" y="0"/>
                </a:lnTo>
                <a:lnTo>
                  <a:pt x="0" y="279873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876532" y="4442581"/>
            <a:ext cx="10534937" cy="5149098"/>
          </a:xfrm>
          <a:custGeom>
            <a:avLst/>
            <a:gdLst/>
            <a:ahLst/>
            <a:cxnLst/>
            <a:rect r="r" b="b" t="t" l="l"/>
            <a:pathLst>
              <a:path h="5149098" w="10534937">
                <a:moveTo>
                  <a:pt x="0" y="0"/>
                </a:moveTo>
                <a:lnTo>
                  <a:pt x="10534936" y="0"/>
                </a:lnTo>
                <a:lnTo>
                  <a:pt x="10534936" y="5149098"/>
                </a:lnTo>
                <a:lnTo>
                  <a:pt x="0" y="514909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83431" y="870414"/>
            <a:ext cx="13121139" cy="95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MODULUL DE V</a:t>
            </a:r>
            <a:r>
              <a:rPr lang="en-US" b="true" sz="5600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ERIFICARE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760638"/>
            <a:ext cx="16230600" cy="6263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400">
                <a:solidFill>
                  <a:srgbClr val="3F3D3E"/>
                </a:solidFill>
                <a:latin typeface="Garet Bold"/>
                <a:ea typeface="Garet Bold"/>
                <a:cs typeface="Garet Bold"/>
                <a:sym typeface="Garet Bold"/>
              </a:rPr>
              <a:t>Scop</a:t>
            </a: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: Asigurarea unei validări riguroase a comportamentului sistemului kP, pentru a confirma conformitatea modelului cu proprietățile și cerințele specificate.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  <a:r>
              <a:rPr lang="en-US" b="true" sz="2400">
                <a:solidFill>
                  <a:srgbClr val="3F3D3E"/>
                </a:solidFill>
                <a:latin typeface="Garet Bold"/>
                <a:ea typeface="Garet Bold"/>
                <a:cs typeface="Garet Bold"/>
                <a:sym typeface="Garet Bold"/>
              </a:rPr>
              <a:t>Metodă</a:t>
            </a: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: Se aplică tehnica de </a:t>
            </a:r>
            <a:r>
              <a:rPr lang="en-US" b="true" sz="2400">
                <a:solidFill>
                  <a:srgbClr val="3F3D3E"/>
                </a:solidFill>
                <a:latin typeface="Garet Bold"/>
                <a:ea typeface="Garet Bold"/>
                <a:cs typeface="Garet Bold"/>
                <a:sym typeface="Garet Bold"/>
              </a:rPr>
              <a:t>Model Checking</a:t>
            </a: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, care constă într-o analiză exhaustivă a stărilor și tranzițiilor sistemu</a:t>
            </a: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lui.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  <a:r>
              <a:rPr lang="en-US" b="true" sz="2400">
                <a:solidFill>
                  <a:srgbClr val="3F3D3E"/>
                </a:solidFill>
                <a:latin typeface="Garet Bold"/>
                <a:ea typeface="Garet Bold"/>
                <a:cs typeface="Garet Bold"/>
                <a:sym typeface="Garet Bold"/>
              </a:rPr>
              <a:t>Proces</a:t>
            </a: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: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Modelul formulat în kP-Lingua este tradus automat în limbajul specific al fiecărui tool de verificare. Pentru </a:t>
            </a:r>
            <a:r>
              <a:rPr lang="en-US" b="true" sz="2400">
                <a:solidFill>
                  <a:srgbClr val="3F3D3E"/>
                </a:solidFill>
                <a:latin typeface="Garet Bold"/>
                <a:ea typeface="Garet Bold"/>
                <a:cs typeface="Garet Bold"/>
                <a:sym typeface="Garet Bold"/>
              </a:rPr>
              <a:t>SPIN</a:t>
            </a: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, modelul este convertit în </a:t>
            </a:r>
            <a:r>
              <a:rPr lang="en-US" b="true" sz="2400">
                <a:solidFill>
                  <a:srgbClr val="3F3D3E"/>
                </a:solidFill>
                <a:latin typeface="Garet Bold"/>
                <a:ea typeface="Garet Bold"/>
                <a:cs typeface="Garet Bold"/>
                <a:sym typeface="Garet Bold"/>
              </a:rPr>
              <a:t>Promela</a:t>
            </a: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, iar pentru </a:t>
            </a:r>
            <a:r>
              <a:rPr lang="en-US" b="true" sz="2400">
                <a:solidFill>
                  <a:srgbClr val="3F3D3E"/>
                </a:solidFill>
                <a:latin typeface="Garet Bold"/>
                <a:ea typeface="Garet Bold"/>
                <a:cs typeface="Garet Bold"/>
                <a:sym typeface="Garet Bold"/>
              </a:rPr>
              <a:t>NuSMV </a:t>
            </a: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se generează o specificație compatibilă cu sintaxa </a:t>
            </a:r>
            <a:r>
              <a:rPr lang="en-US" b="true" sz="2400">
                <a:solidFill>
                  <a:srgbClr val="3F3D3E"/>
                </a:solidFill>
                <a:latin typeface="Garet Bold"/>
                <a:ea typeface="Garet Bold"/>
                <a:cs typeface="Garet Bold"/>
                <a:sym typeface="Garet Bold"/>
              </a:rPr>
              <a:t>SMV</a:t>
            </a: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.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Proprietățile sunt formulate folosind </a:t>
            </a:r>
            <a:r>
              <a:rPr lang="en-US" b="true" sz="2400">
                <a:solidFill>
                  <a:srgbClr val="3F3D3E"/>
                </a:solidFill>
                <a:latin typeface="Garet Bold"/>
                <a:ea typeface="Garet Bold"/>
                <a:cs typeface="Garet Bold"/>
                <a:sym typeface="Garet Bold"/>
              </a:rPr>
              <a:t>kP-Queries</a:t>
            </a: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, un limbaj intuitiv și prietenos pentru utilizatori.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kP-Queries convertește aceste proprietăți în logica temporală adecvată (</a:t>
            </a:r>
            <a:r>
              <a:rPr lang="en-US" b="true" sz="2400">
                <a:solidFill>
                  <a:srgbClr val="3F3D3E"/>
                </a:solidFill>
                <a:latin typeface="Garet Bold"/>
                <a:ea typeface="Garet Bold"/>
                <a:cs typeface="Garet Bold"/>
                <a:sym typeface="Garet Bold"/>
              </a:rPr>
              <a:t>LTL </a:t>
            </a: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pentru </a:t>
            </a:r>
            <a:r>
              <a:rPr lang="en-US" b="true" sz="2400">
                <a:solidFill>
                  <a:srgbClr val="3F3D3E"/>
                </a:solidFill>
                <a:latin typeface="Garet Bold"/>
                <a:ea typeface="Garet Bold"/>
                <a:cs typeface="Garet Bold"/>
                <a:sym typeface="Garet Bold"/>
              </a:rPr>
              <a:t>SPIN </a:t>
            </a: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și </a:t>
            </a:r>
            <a:r>
              <a:rPr lang="en-US" b="true" sz="2400">
                <a:solidFill>
                  <a:srgbClr val="3F3D3E"/>
                </a:solidFill>
                <a:latin typeface="Garet Bold"/>
                <a:ea typeface="Garet Bold"/>
                <a:cs typeface="Garet Bold"/>
                <a:sym typeface="Garet Bold"/>
              </a:rPr>
              <a:t>LTL/CTL </a:t>
            </a: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pentru </a:t>
            </a:r>
            <a:r>
              <a:rPr lang="en-US" b="true" sz="2400">
                <a:solidFill>
                  <a:srgbClr val="3F3D3E"/>
                </a:solidFill>
                <a:latin typeface="Garet Bold"/>
                <a:ea typeface="Garet Bold"/>
                <a:cs typeface="Garet Bold"/>
                <a:sym typeface="Garet Bold"/>
              </a:rPr>
              <a:t>NuSMV</a:t>
            </a: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).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Instrumentul de model checking (SPIN/NuSMV) verifică dacă modelul tradus satisface proprietățile specificate.</a:t>
            </a:r>
          </a:p>
        </p:txBody>
      </p:sp>
      <p:sp>
        <p:nvSpPr>
          <p:cNvPr name="Freeform 4" id="4"/>
          <p:cNvSpPr/>
          <p:nvPr/>
        </p:nvSpPr>
        <p:spPr>
          <a:xfrm flipH="true" flipV="false" rot="0">
            <a:off x="14733021" y="0"/>
            <a:ext cx="3554979" cy="2798738"/>
          </a:xfrm>
          <a:custGeom>
            <a:avLst/>
            <a:gdLst/>
            <a:ahLst/>
            <a:cxnLst/>
            <a:rect r="r" b="b" t="t" l="l"/>
            <a:pathLst>
              <a:path h="2798738" w="3554979">
                <a:moveTo>
                  <a:pt x="3554979" y="0"/>
                </a:moveTo>
                <a:lnTo>
                  <a:pt x="0" y="0"/>
                </a:lnTo>
                <a:lnTo>
                  <a:pt x="0" y="2798738"/>
                </a:lnTo>
                <a:lnTo>
                  <a:pt x="3554979" y="2798738"/>
                </a:lnTo>
                <a:lnTo>
                  <a:pt x="355497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0" y="0"/>
            <a:ext cx="2798738" cy="2798738"/>
          </a:xfrm>
          <a:custGeom>
            <a:avLst/>
            <a:gdLst/>
            <a:ahLst/>
            <a:cxnLst/>
            <a:rect r="r" b="b" t="t" l="l"/>
            <a:pathLst>
              <a:path h="2798738" w="2798738">
                <a:moveTo>
                  <a:pt x="0" y="2798738"/>
                </a:moveTo>
                <a:lnTo>
                  <a:pt x="2798738" y="2798738"/>
                </a:lnTo>
                <a:lnTo>
                  <a:pt x="2798738" y="0"/>
                </a:lnTo>
                <a:lnTo>
                  <a:pt x="0" y="0"/>
                </a:lnTo>
                <a:lnTo>
                  <a:pt x="0" y="279873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771785" y="870414"/>
            <a:ext cx="12744429" cy="95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MODEL BICAS 2020 PI_1</a:t>
            </a:r>
          </a:p>
        </p:txBody>
      </p:sp>
      <p:sp>
        <p:nvSpPr>
          <p:cNvPr name="Freeform 3" id="3"/>
          <p:cNvSpPr/>
          <p:nvPr/>
        </p:nvSpPr>
        <p:spPr>
          <a:xfrm flipH="true" flipV="false" rot="0">
            <a:off x="14733021" y="0"/>
            <a:ext cx="3554979" cy="2798738"/>
          </a:xfrm>
          <a:custGeom>
            <a:avLst/>
            <a:gdLst/>
            <a:ahLst/>
            <a:cxnLst/>
            <a:rect r="r" b="b" t="t" l="l"/>
            <a:pathLst>
              <a:path h="2798738" w="3554979">
                <a:moveTo>
                  <a:pt x="3554979" y="0"/>
                </a:moveTo>
                <a:lnTo>
                  <a:pt x="0" y="0"/>
                </a:lnTo>
                <a:lnTo>
                  <a:pt x="0" y="2798738"/>
                </a:lnTo>
                <a:lnTo>
                  <a:pt x="3554979" y="2798738"/>
                </a:lnTo>
                <a:lnTo>
                  <a:pt x="355497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0" y="0"/>
            <a:ext cx="2798738" cy="2798738"/>
          </a:xfrm>
          <a:custGeom>
            <a:avLst/>
            <a:gdLst/>
            <a:ahLst/>
            <a:cxnLst/>
            <a:rect r="r" b="b" t="t" l="l"/>
            <a:pathLst>
              <a:path h="2798738" w="2798738">
                <a:moveTo>
                  <a:pt x="0" y="2798738"/>
                </a:moveTo>
                <a:lnTo>
                  <a:pt x="2798738" y="2798738"/>
                </a:lnTo>
                <a:lnTo>
                  <a:pt x="2798738" y="0"/>
                </a:lnTo>
                <a:lnTo>
                  <a:pt x="0" y="0"/>
                </a:lnTo>
                <a:lnTo>
                  <a:pt x="0" y="279873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542522" y="2798738"/>
            <a:ext cx="4967989" cy="7008583"/>
          </a:xfrm>
          <a:custGeom>
            <a:avLst/>
            <a:gdLst/>
            <a:ahLst/>
            <a:cxnLst/>
            <a:rect r="r" b="b" t="t" l="l"/>
            <a:pathLst>
              <a:path h="7008583" w="4967989">
                <a:moveTo>
                  <a:pt x="0" y="0"/>
                </a:moveTo>
                <a:lnTo>
                  <a:pt x="4967989" y="0"/>
                </a:lnTo>
                <a:lnTo>
                  <a:pt x="4967989" y="7008583"/>
                </a:lnTo>
                <a:lnTo>
                  <a:pt x="0" y="700858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2760638"/>
            <a:ext cx="9582175" cy="291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Codul descrie un circuit simplu în care trei </a:t>
            </a:r>
            <a:r>
              <a:rPr lang="en-US" sz="2400" b="true">
                <a:solidFill>
                  <a:srgbClr val="3F3D3E"/>
                </a:solidFill>
                <a:latin typeface="Garet Bold"/>
                <a:ea typeface="Garet Bold"/>
                <a:cs typeface="Garet Bold"/>
                <a:sym typeface="Garet Bold"/>
              </a:rPr>
              <a:t>compartimente NC1, NC2 și NC3 </a:t>
            </a: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de </a:t>
            </a:r>
            <a:r>
              <a:rPr lang="en-US" sz="2400" b="true">
                <a:solidFill>
                  <a:srgbClr val="3F3D3E"/>
                </a:solidFill>
                <a:latin typeface="Garet Bold"/>
                <a:ea typeface="Garet Bold"/>
                <a:cs typeface="Garet Bold"/>
                <a:sym typeface="Garet Bold"/>
              </a:rPr>
              <a:t>tip C1, C2 și C3</a:t>
            </a: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 comunică mesaje “a”. 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Fiecare tip specifică trimiterea și primirea unei valori “a”, ce va funționa în următorul mod pentru compartimentele noastre: </a:t>
            </a: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NC1 → NC2 -&gt;NC3 → NC1.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771785" y="870414"/>
            <a:ext cx="12744429" cy="95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SIMULARE BICAS 2020 PI_1</a:t>
            </a:r>
          </a:p>
        </p:txBody>
      </p:sp>
      <p:sp>
        <p:nvSpPr>
          <p:cNvPr name="Freeform 3" id="3"/>
          <p:cNvSpPr/>
          <p:nvPr/>
        </p:nvSpPr>
        <p:spPr>
          <a:xfrm flipH="true" flipV="false" rot="0">
            <a:off x="14733021" y="0"/>
            <a:ext cx="3554979" cy="2798738"/>
          </a:xfrm>
          <a:custGeom>
            <a:avLst/>
            <a:gdLst/>
            <a:ahLst/>
            <a:cxnLst/>
            <a:rect r="r" b="b" t="t" l="l"/>
            <a:pathLst>
              <a:path h="2798738" w="3554979">
                <a:moveTo>
                  <a:pt x="3554979" y="0"/>
                </a:moveTo>
                <a:lnTo>
                  <a:pt x="0" y="0"/>
                </a:lnTo>
                <a:lnTo>
                  <a:pt x="0" y="2798738"/>
                </a:lnTo>
                <a:lnTo>
                  <a:pt x="3554979" y="2798738"/>
                </a:lnTo>
                <a:lnTo>
                  <a:pt x="355497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0" y="0"/>
            <a:ext cx="2798738" cy="2798738"/>
          </a:xfrm>
          <a:custGeom>
            <a:avLst/>
            <a:gdLst/>
            <a:ahLst/>
            <a:cxnLst/>
            <a:rect r="r" b="b" t="t" l="l"/>
            <a:pathLst>
              <a:path h="2798738" w="2798738">
                <a:moveTo>
                  <a:pt x="0" y="2798738"/>
                </a:moveTo>
                <a:lnTo>
                  <a:pt x="2798738" y="2798738"/>
                </a:lnTo>
                <a:lnTo>
                  <a:pt x="2798738" y="0"/>
                </a:lnTo>
                <a:lnTo>
                  <a:pt x="0" y="0"/>
                </a:lnTo>
                <a:lnTo>
                  <a:pt x="0" y="279873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99369" y="2802488"/>
            <a:ext cx="5873217" cy="6829322"/>
          </a:xfrm>
          <a:custGeom>
            <a:avLst/>
            <a:gdLst/>
            <a:ahLst/>
            <a:cxnLst/>
            <a:rect r="r" b="b" t="t" l="l"/>
            <a:pathLst>
              <a:path h="6829322" w="5873217">
                <a:moveTo>
                  <a:pt x="0" y="0"/>
                </a:moveTo>
                <a:lnTo>
                  <a:pt x="5873217" y="0"/>
                </a:lnTo>
                <a:lnTo>
                  <a:pt x="5873217" y="6829322"/>
                </a:lnTo>
                <a:lnTo>
                  <a:pt x="0" y="682932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448485" y="2877190"/>
            <a:ext cx="6062026" cy="6679918"/>
          </a:xfrm>
          <a:custGeom>
            <a:avLst/>
            <a:gdLst/>
            <a:ahLst/>
            <a:cxnLst/>
            <a:rect r="r" b="b" t="t" l="l"/>
            <a:pathLst>
              <a:path h="6679918" w="6062026">
                <a:moveTo>
                  <a:pt x="0" y="0"/>
                </a:moveTo>
                <a:lnTo>
                  <a:pt x="6062026" y="0"/>
                </a:lnTo>
                <a:lnTo>
                  <a:pt x="6062026" y="6679918"/>
                </a:lnTo>
                <a:lnTo>
                  <a:pt x="0" y="667991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771785" y="870414"/>
            <a:ext cx="12744429" cy="95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VERIFICARE BICAS 2020 PI_1</a:t>
            </a:r>
          </a:p>
        </p:txBody>
      </p:sp>
      <p:sp>
        <p:nvSpPr>
          <p:cNvPr name="Freeform 3" id="3"/>
          <p:cNvSpPr/>
          <p:nvPr/>
        </p:nvSpPr>
        <p:spPr>
          <a:xfrm flipH="true" flipV="false" rot="0">
            <a:off x="14733021" y="0"/>
            <a:ext cx="3554979" cy="2798738"/>
          </a:xfrm>
          <a:custGeom>
            <a:avLst/>
            <a:gdLst/>
            <a:ahLst/>
            <a:cxnLst/>
            <a:rect r="r" b="b" t="t" l="l"/>
            <a:pathLst>
              <a:path h="2798738" w="3554979">
                <a:moveTo>
                  <a:pt x="3554979" y="0"/>
                </a:moveTo>
                <a:lnTo>
                  <a:pt x="0" y="0"/>
                </a:lnTo>
                <a:lnTo>
                  <a:pt x="0" y="2798738"/>
                </a:lnTo>
                <a:lnTo>
                  <a:pt x="3554979" y="2798738"/>
                </a:lnTo>
                <a:lnTo>
                  <a:pt x="355497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0" y="0"/>
            <a:ext cx="2798738" cy="2798738"/>
          </a:xfrm>
          <a:custGeom>
            <a:avLst/>
            <a:gdLst/>
            <a:ahLst/>
            <a:cxnLst/>
            <a:rect r="r" b="b" t="t" l="l"/>
            <a:pathLst>
              <a:path h="2798738" w="2798738">
                <a:moveTo>
                  <a:pt x="0" y="2798738"/>
                </a:moveTo>
                <a:lnTo>
                  <a:pt x="2798738" y="2798738"/>
                </a:lnTo>
                <a:lnTo>
                  <a:pt x="2798738" y="0"/>
                </a:lnTo>
                <a:lnTo>
                  <a:pt x="0" y="0"/>
                </a:lnTo>
                <a:lnTo>
                  <a:pt x="0" y="279873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3276767"/>
            <a:ext cx="7332091" cy="1365602"/>
          </a:xfrm>
          <a:custGeom>
            <a:avLst/>
            <a:gdLst/>
            <a:ahLst/>
            <a:cxnLst/>
            <a:rect r="r" b="b" t="t" l="l"/>
            <a:pathLst>
              <a:path h="1365602" w="7332091">
                <a:moveTo>
                  <a:pt x="0" y="0"/>
                </a:moveTo>
                <a:lnTo>
                  <a:pt x="7332091" y="0"/>
                </a:lnTo>
                <a:lnTo>
                  <a:pt x="7332091" y="1365602"/>
                </a:lnTo>
                <a:lnTo>
                  <a:pt x="0" y="136560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28700" y="5949694"/>
            <a:ext cx="7332091" cy="3308606"/>
          </a:xfrm>
          <a:custGeom>
            <a:avLst/>
            <a:gdLst/>
            <a:ahLst/>
            <a:cxnLst/>
            <a:rect r="r" b="b" t="t" l="l"/>
            <a:pathLst>
              <a:path h="3308606" w="7332091">
                <a:moveTo>
                  <a:pt x="0" y="0"/>
                </a:moveTo>
                <a:lnTo>
                  <a:pt x="7332091" y="0"/>
                </a:lnTo>
                <a:lnTo>
                  <a:pt x="7332091" y="3308606"/>
                </a:lnTo>
                <a:lnTo>
                  <a:pt x="0" y="330860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784028" y="3276767"/>
            <a:ext cx="6475272" cy="5981533"/>
          </a:xfrm>
          <a:custGeom>
            <a:avLst/>
            <a:gdLst/>
            <a:ahLst/>
            <a:cxnLst/>
            <a:rect r="r" b="b" t="t" l="l"/>
            <a:pathLst>
              <a:path h="5981533" w="6475272">
                <a:moveTo>
                  <a:pt x="0" y="0"/>
                </a:moveTo>
                <a:lnTo>
                  <a:pt x="6475272" y="0"/>
                </a:lnTo>
                <a:lnTo>
                  <a:pt x="6475272" y="5981533"/>
                </a:lnTo>
                <a:lnTo>
                  <a:pt x="0" y="598153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771785" y="870414"/>
            <a:ext cx="12744429" cy="95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EXEMPLUL NOSTRU - VIRUS</a:t>
            </a:r>
          </a:p>
        </p:txBody>
      </p:sp>
      <p:sp>
        <p:nvSpPr>
          <p:cNvPr name="Freeform 3" id="3"/>
          <p:cNvSpPr/>
          <p:nvPr/>
        </p:nvSpPr>
        <p:spPr>
          <a:xfrm flipH="true" flipV="false" rot="0">
            <a:off x="14733021" y="0"/>
            <a:ext cx="3554979" cy="2798738"/>
          </a:xfrm>
          <a:custGeom>
            <a:avLst/>
            <a:gdLst/>
            <a:ahLst/>
            <a:cxnLst/>
            <a:rect r="r" b="b" t="t" l="l"/>
            <a:pathLst>
              <a:path h="2798738" w="3554979">
                <a:moveTo>
                  <a:pt x="3554979" y="0"/>
                </a:moveTo>
                <a:lnTo>
                  <a:pt x="0" y="0"/>
                </a:lnTo>
                <a:lnTo>
                  <a:pt x="0" y="2798738"/>
                </a:lnTo>
                <a:lnTo>
                  <a:pt x="3554979" y="2798738"/>
                </a:lnTo>
                <a:lnTo>
                  <a:pt x="355497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0" y="0"/>
            <a:ext cx="2798738" cy="2798738"/>
          </a:xfrm>
          <a:custGeom>
            <a:avLst/>
            <a:gdLst/>
            <a:ahLst/>
            <a:cxnLst/>
            <a:rect r="r" b="b" t="t" l="l"/>
            <a:pathLst>
              <a:path h="2798738" w="2798738">
                <a:moveTo>
                  <a:pt x="0" y="2798738"/>
                </a:moveTo>
                <a:lnTo>
                  <a:pt x="2798738" y="2798738"/>
                </a:lnTo>
                <a:lnTo>
                  <a:pt x="2798738" y="0"/>
                </a:lnTo>
                <a:lnTo>
                  <a:pt x="0" y="0"/>
                </a:lnTo>
                <a:lnTo>
                  <a:pt x="0" y="279873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2760638"/>
            <a:ext cx="16230600" cy="5425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Pentru această demo am creat un sistem compus din mai multe Computere și un Server. În termeni informali, avem </a:t>
            </a:r>
            <a:r>
              <a:rPr lang="en-US" sz="2400" b="true">
                <a:solidFill>
                  <a:srgbClr val="3F3D3E"/>
                </a:solidFill>
                <a:latin typeface="Garet Bold"/>
                <a:ea typeface="Garet Bold"/>
                <a:cs typeface="Garet Bold"/>
                <a:sym typeface="Garet Bold"/>
              </a:rPr>
              <a:t>10 compartimente de tip Computer</a:t>
            </a: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, interconectate (graful este conex), care dețin fișiere normale (</a:t>
            </a:r>
            <a:r>
              <a:rPr lang="en-US" sz="2400" b="true">
                <a:solidFill>
                  <a:srgbClr val="3F3D3E"/>
                </a:solidFill>
                <a:latin typeface="Garet Bold"/>
                <a:ea typeface="Garet Bold"/>
                <a:cs typeface="Garet Bold"/>
                <a:sym typeface="Garet Bold"/>
              </a:rPr>
              <a:t>FILE</a:t>
            </a: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) și fișiere infectate (</a:t>
            </a:r>
            <a:r>
              <a:rPr lang="en-US" sz="2400" b="true">
                <a:solidFill>
                  <a:srgbClr val="3F3D3E"/>
                </a:solidFill>
                <a:latin typeface="Garet Bold"/>
                <a:ea typeface="Garet Bold"/>
                <a:cs typeface="Garet Bold"/>
                <a:sym typeface="Garet Bold"/>
              </a:rPr>
              <a:t>VIRUS</a:t>
            </a: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). Alături de ele, </a:t>
            </a:r>
            <a:r>
              <a:rPr lang="en-US" sz="2400" b="true">
                <a:solidFill>
                  <a:srgbClr val="3F3D3E"/>
                </a:solidFill>
                <a:latin typeface="Garet Bold"/>
                <a:ea typeface="Garet Bold"/>
                <a:cs typeface="Garet Bold"/>
                <a:sym typeface="Garet Bold"/>
              </a:rPr>
              <a:t>un compartiment de tip Server</a:t>
            </a: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 poate trimite un </a:t>
            </a:r>
            <a:r>
              <a:rPr lang="en-US" sz="2400" b="true">
                <a:solidFill>
                  <a:srgbClr val="3F3D3E"/>
                </a:solidFill>
                <a:latin typeface="Garet Bold"/>
                <a:ea typeface="Garet Bold"/>
                <a:cs typeface="Garet Bold"/>
                <a:sym typeface="Garet Bold"/>
              </a:rPr>
              <a:t>PATCH </a:t>
            </a: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oricărui Computer pentru a curăța fișierele virusate.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3F3D3E"/>
                </a:solidFill>
                <a:latin typeface="Garet Bold"/>
                <a:ea typeface="Garet Bold"/>
                <a:cs typeface="Garet Bold"/>
                <a:sym typeface="Garet Bold"/>
              </a:rPr>
              <a:t>Computerele </a:t>
            </a: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pot: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Infect</a:t>
            </a: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a un fișier normal dacă au deja un fișier virusat în compartiment.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Transmite virusul către un alt Computer din rețea.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Utiliza un patch pentru a transforma un fișier virusat într-un fișier normal.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Dacă dețin un patch, dar nu mai există viruși, pot elimina patch-ul respectiv.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3F3D3E"/>
                </a:solidFill>
                <a:latin typeface="Garet Bold"/>
                <a:ea typeface="Garet Bold"/>
                <a:cs typeface="Garet Bold"/>
                <a:sym typeface="Garet Bold"/>
              </a:rPr>
              <a:t>Serverul </a:t>
            </a: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poate: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Transmite la un Computer aleator un patch (oferind posibilitatea de a curăța fișierele virusate).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771785" y="870414"/>
            <a:ext cx="12744429" cy="95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MODEL VIRUS</a:t>
            </a:r>
          </a:p>
        </p:txBody>
      </p:sp>
      <p:sp>
        <p:nvSpPr>
          <p:cNvPr name="Freeform 3" id="3"/>
          <p:cNvSpPr/>
          <p:nvPr/>
        </p:nvSpPr>
        <p:spPr>
          <a:xfrm flipH="true" flipV="false" rot="0">
            <a:off x="14733021" y="0"/>
            <a:ext cx="3554979" cy="2798738"/>
          </a:xfrm>
          <a:custGeom>
            <a:avLst/>
            <a:gdLst/>
            <a:ahLst/>
            <a:cxnLst/>
            <a:rect r="r" b="b" t="t" l="l"/>
            <a:pathLst>
              <a:path h="2798738" w="3554979">
                <a:moveTo>
                  <a:pt x="3554979" y="0"/>
                </a:moveTo>
                <a:lnTo>
                  <a:pt x="0" y="0"/>
                </a:lnTo>
                <a:lnTo>
                  <a:pt x="0" y="2798738"/>
                </a:lnTo>
                <a:lnTo>
                  <a:pt x="3554979" y="2798738"/>
                </a:lnTo>
                <a:lnTo>
                  <a:pt x="355497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0" y="0"/>
            <a:ext cx="2798738" cy="2798738"/>
          </a:xfrm>
          <a:custGeom>
            <a:avLst/>
            <a:gdLst/>
            <a:ahLst/>
            <a:cxnLst/>
            <a:rect r="r" b="b" t="t" l="l"/>
            <a:pathLst>
              <a:path h="2798738" w="2798738">
                <a:moveTo>
                  <a:pt x="0" y="2798738"/>
                </a:moveTo>
                <a:lnTo>
                  <a:pt x="2798738" y="2798738"/>
                </a:lnTo>
                <a:lnTo>
                  <a:pt x="2798738" y="0"/>
                </a:lnTo>
                <a:lnTo>
                  <a:pt x="0" y="0"/>
                </a:lnTo>
                <a:lnTo>
                  <a:pt x="0" y="279873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842597" y="2346403"/>
            <a:ext cx="5485643" cy="7413031"/>
          </a:xfrm>
          <a:custGeom>
            <a:avLst/>
            <a:gdLst/>
            <a:ahLst/>
            <a:cxnLst/>
            <a:rect r="r" b="b" t="t" l="l"/>
            <a:pathLst>
              <a:path h="7413031" w="5485643">
                <a:moveTo>
                  <a:pt x="0" y="0"/>
                </a:moveTo>
                <a:lnTo>
                  <a:pt x="5485643" y="0"/>
                </a:lnTo>
                <a:lnTo>
                  <a:pt x="5485643" y="7413032"/>
                </a:lnTo>
                <a:lnTo>
                  <a:pt x="0" y="741303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633953" y="2346403"/>
            <a:ext cx="4833212" cy="7413031"/>
          </a:xfrm>
          <a:custGeom>
            <a:avLst/>
            <a:gdLst/>
            <a:ahLst/>
            <a:cxnLst/>
            <a:rect r="r" b="b" t="t" l="l"/>
            <a:pathLst>
              <a:path h="7413031" w="4833212">
                <a:moveTo>
                  <a:pt x="0" y="0"/>
                </a:moveTo>
                <a:lnTo>
                  <a:pt x="4833212" y="0"/>
                </a:lnTo>
                <a:lnTo>
                  <a:pt x="4833212" y="7413032"/>
                </a:lnTo>
                <a:lnTo>
                  <a:pt x="0" y="741303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771785" y="870414"/>
            <a:ext cx="12744429" cy="95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SIMULARE VIRUS</a:t>
            </a:r>
          </a:p>
        </p:txBody>
      </p:sp>
      <p:sp>
        <p:nvSpPr>
          <p:cNvPr name="Freeform 3" id="3"/>
          <p:cNvSpPr/>
          <p:nvPr/>
        </p:nvSpPr>
        <p:spPr>
          <a:xfrm flipH="true" flipV="false" rot="0">
            <a:off x="14733021" y="0"/>
            <a:ext cx="3554979" cy="2798738"/>
          </a:xfrm>
          <a:custGeom>
            <a:avLst/>
            <a:gdLst/>
            <a:ahLst/>
            <a:cxnLst/>
            <a:rect r="r" b="b" t="t" l="l"/>
            <a:pathLst>
              <a:path h="2798738" w="3554979">
                <a:moveTo>
                  <a:pt x="3554979" y="0"/>
                </a:moveTo>
                <a:lnTo>
                  <a:pt x="0" y="0"/>
                </a:lnTo>
                <a:lnTo>
                  <a:pt x="0" y="2798738"/>
                </a:lnTo>
                <a:lnTo>
                  <a:pt x="3554979" y="2798738"/>
                </a:lnTo>
                <a:lnTo>
                  <a:pt x="355497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0" y="0"/>
            <a:ext cx="2798738" cy="2798738"/>
          </a:xfrm>
          <a:custGeom>
            <a:avLst/>
            <a:gdLst/>
            <a:ahLst/>
            <a:cxnLst/>
            <a:rect r="r" b="b" t="t" l="l"/>
            <a:pathLst>
              <a:path h="2798738" w="2798738">
                <a:moveTo>
                  <a:pt x="0" y="2798738"/>
                </a:moveTo>
                <a:lnTo>
                  <a:pt x="2798738" y="2798738"/>
                </a:lnTo>
                <a:lnTo>
                  <a:pt x="2798738" y="0"/>
                </a:lnTo>
                <a:lnTo>
                  <a:pt x="0" y="0"/>
                </a:lnTo>
                <a:lnTo>
                  <a:pt x="0" y="279873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57799" y="3396327"/>
            <a:ext cx="8278989" cy="5205414"/>
          </a:xfrm>
          <a:custGeom>
            <a:avLst/>
            <a:gdLst/>
            <a:ahLst/>
            <a:cxnLst/>
            <a:rect r="r" b="b" t="t" l="l"/>
            <a:pathLst>
              <a:path h="5205414" w="8278989">
                <a:moveTo>
                  <a:pt x="0" y="0"/>
                </a:moveTo>
                <a:lnTo>
                  <a:pt x="8278989" y="0"/>
                </a:lnTo>
                <a:lnTo>
                  <a:pt x="8278989" y="5205414"/>
                </a:lnTo>
                <a:lnTo>
                  <a:pt x="0" y="520541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352207" y="2820555"/>
            <a:ext cx="6158303" cy="6356958"/>
          </a:xfrm>
          <a:custGeom>
            <a:avLst/>
            <a:gdLst/>
            <a:ahLst/>
            <a:cxnLst/>
            <a:rect r="r" b="b" t="t" l="l"/>
            <a:pathLst>
              <a:path h="6356958" w="6158303">
                <a:moveTo>
                  <a:pt x="0" y="0"/>
                </a:moveTo>
                <a:lnTo>
                  <a:pt x="6158304" y="0"/>
                </a:lnTo>
                <a:lnTo>
                  <a:pt x="6158304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771785" y="499745"/>
            <a:ext cx="12744429" cy="95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VERIFICARE VIRUS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0" y="0"/>
            <a:ext cx="2798738" cy="2798738"/>
          </a:xfrm>
          <a:custGeom>
            <a:avLst/>
            <a:gdLst/>
            <a:ahLst/>
            <a:cxnLst/>
            <a:rect r="r" b="b" t="t" l="l"/>
            <a:pathLst>
              <a:path h="2798738" w="2798738">
                <a:moveTo>
                  <a:pt x="0" y="2798738"/>
                </a:moveTo>
                <a:lnTo>
                  <a:pt x="2798738" y="2798738"/>
                </a:lnTo>
                <a:lnTo>
                  <a:pt x="2798738" y="0"/>
                </a:lnTo>
                <a:lnTo>
                  <a:pt x="0" y="0"/>
                </a:lnTo>
                <a:lnTo>
                  <a:pt x="0" y="2798738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855458" y="6156054"/>
            <a:ext cx="8759372" cy="3726359"/>
          </a:xfrm>
          <a:custGeom>
            <a:avLst/>
            <a:gdLst/>
            <a:ahLst/>
            <a:cxnLst/>
            <a:rect r="r" b="b" t="t" l="l"/>
            <a:pathLst>
              <a:path h="3726359" w="8759372">
                <a:moveTo>
                  <a:pt x="0" y="0"/>
                </a:moveTo>
                <a:lnTo>
                  <a:pt x="8759373" y="0"/>
                </a:lnTo>
                <a:lnTo>
                  <a:pt x="8759373" y="3726358"/>
                </a:lnTo>
                <a:lnTo>
                  <a:pt x="0" y="37263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8886" r="-22301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99369" y="1951866"/>
            <a:ext cx="5366792" cy="7930546"/>
          </a:xfrm>
          <a:custGeom>
            <a:avLst/>
            <a:gdLst/>
            <a:ahLst/>
            <a:cxnLst/>
            <a:rect r="r" b="b" t="t" l="l"/>
            <a:pathLst>
              <a:path h="7930546" w="5366792">
                <a:moveTo>
                  <a:pt x="0" y="0"/>
                </a:moveTo>
                <a:lnTo>
                  <a:pt x="5366792" y="0"/>
                </a:lnTo>
                <a:lnTo>
                  <a:pt x="5366792" y="7930546"/>
                </a:lnTo>
                <a:lnTo>
                  <a:pt x="0" y="793054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855458" y="2063015"/>
            <a:ext cx="8759372" cy="3854124"/>
          </a:xfrm>
          <a:custGeom>
            <a:avLst/>
            <a:gdLst/>
            <a:ahLst/>
            <a:cxnLst/>
            <a:rect r="r" b="b" t="t" l="l"/>
            <a:pathLst>
              <a:path h="3854124" w="8759372">
                <a:moveTo>
                  <a:pt x="0" y="0"/>
                </a:moveTo>
                <a:lnTo>
                  <a:pt x="8759373" y="0"/>
                </a:lnTo>
                <a:lnTo>
                  <a:pt x="8759373" y="3854124"/>
                </a:lnTo>
                <a:lnTo>
                  <a:pt x="0" y="385412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771785" y="499745"/>
            <a:ext cx="12744429" cy="95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VERIFICARE VIRUS - KP QUERIES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0" y="0"/>
            <a:ext cx="2798738" cy="2798738"/>
          </a:xfrm>
          <a:custGeom>
            <a:avLst/>
            <a:gdLst/>
            <a:ahLst/>
            <a:cxnLst/>
            <a:rect r="r" b="b" t="t" l="l"/>
            <a:pathLst>
              <a:path h="2798738" w="2798738">
                <a:moveTo>
                  <a:pt x="0" y="2798738"/>
                </a:moveTo>
                <a:lnTo>
                  <a:pt x="2798738" y="2798738"/>
                </a:lnTo>
                <a:lnTo>
                  <a:pt x="2798738" y="0"/>
                </a:lnTo>
                <a:lnTo>
                  <a:pt x="0" y="0"/>
                </a:lnTo>
                <a:lnTo>
                  <a:pt x="0" y="2798738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354300" y="1721995"/>
            <a:ext cx="9579401" cy="8190388"/>
          </a:xfrm>
          <a:custGeom>
            <a:avLst/>
            <a:gdLst/>
            <a:ahLst/>
            <a:cxnLst/>
            <a:rect r="r" b="b" t="t" l="l"/>
            <a:pathLst>
              <a:path h="8190388" w="9579401">
                <a:moveTo>
                  <a:pt x="0" y="0"/>
                </a:moveTo>
                <a:lnTo>
                  <a:pt x="9579400" y="0"/>
                </a:lnTo>
                <a:lnTo>
                  <a:pt x="9579400" y="8190387"/>
                </a:lnTo>
                <a:lnTo>
                  <a:pt x="0" y="81903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0" y="7060746"/>
            <a:ext cx="4098013" cy="3226254"/>
          </a:xfrm>
          <a:custGeom>
            <a:avLst/>
            <a:gdLst/>
            <a:ahLst/>
            <a:cxnLst/>
            <a:rect r="r" b="b" t="t" l="l"/>
            <a:pathLst>
              <a:path h="3226254" w="4098013">
                <a:moveTo>
                  <a:pt x="0" y="3226254"/>
                </a:moveTo>
                <a:lnTo>
                  <a:pt x="4098013" y="3226254"/>
                </a:lnTo>
                <a:lnTo>
                  <a:pt x="4098013" y="0"/>
                </a:lnTo>
                <a:lnTo>
                  <a:pt x="0" y="0"/>
                </a:lnTo>
                <a:lnTo>
                  <a:pt x="0" y="322625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358274" y="7275132"/>
            <a:ext cx="2929726" cy="3011868"/>
          </a:xfrm>
          <a:custGeom>
            <a:avLst/>
            <a:gdLst/>
            <a:ahLst/>
            <a:cxnLst/>
            <a:rect r="r" b="b" t="t" l="l"/>
            <a:pathLst>
              <a:path h="3011868" w="2929726">
                <a:moveTo>
                  <a:pt x="0" y="0"/>
                </a:moveTo>
                <a:lnTo>
                  <a:pt x="2929726" y="0"/>
                </a:lnTo>
                <a:lnTo>
                  <a:pt x="2929726" y="3011868"/>
                </a:lnTo>
                <a:lnTo>
                  <a:pt x="0" y="30118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786379" y="348615"/>
            <a:ext cx="12715243" cy="1226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080"/>
              </a:lnSpc>
              <a:spcBef>
                <a:spcPct val="0"/>
              </a:spcBef>
            </a:pPr>
            <a:r>
              <a:rPr lang="en-US" b="true" sz="7200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BIBLIOGRAFIE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770270" y="2065644"/>
            <a:ext cx="842787" cy="842787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F3D3E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20"/>
                </a:lnSpc>
              </a:pPr>
              <a:r>
                <a:rPr lang="en-US" sz="2800">
                  <a:solidFill>
                    <a:srgbClr val="E9E9E9"/>
                  </a:solidFill>
                  <a:latin typeface="Garet"/>
                  <a:ea typeface="Garet"/>
                  <a:cs typeface="Garet"/>
                  <a:sym typeface="Garet"/>
                </a:rPr>
                <a:t>01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2826151" y="2201287"/>
            <a:ext cx="13691579" cy="2004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0"/>
              </a:lnSpc>
            </a:pPr>
            <a:r>
              <a:rPr lang="en-US" sz="285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S. Konur, L. Mierla, F. Ipate, M. Gheorghe: kpworkbench: A software suit for membrane systems, SoftwareX, 11: 100407, 2020. </a:t>
            </a:r>
          </a:p>
          <a:p>
            <a:pPr algn="l">
              <a:lnSpc>
                <a:spcPts val="3990"/>
              </a:lnSpc>
            </a:pPr>
            <a:r>
              <a:rPr lang="en-US" sz="2850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https://www.ifsoft.ro/~florentin.ipate/publications/SoftwarexKMIG.pdf</a:t>
            </a:r>
          </a:p>
          <a:p>
            <a:pPr algn="l">
              <a:lnSpc>
                <a:spcPts val="3990"/>
              </a:lnSpc>
            </a:pPr>
          </a:p>
        </p:txBody>
      </p:sp>
      <p:grpSp>
        <p:nvGrpSpPr>
          <p:cNvPr name="Group 9" id="9"/>
          <p:cNvGrpSpPr/>
          <p:nvPr/>
        </p:nvGrpSpPr>
        <p:grpSpPr>
          <a:xfrm rot="0">
            <a:off x="1770270" y="4123629"/>
            <a:ext cx="842787" cy="842787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F3D3E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20"/>
                </a:lnSpc>
              </a:pPr>
              <a:r>
                <a:rPr lang="en-US" sz="2800">
                  <a:solidFill>
                    <a:srgbClr val="E9E9E9"/>
                  </a:solidFill>
                  <a:latin typeface="Garet"/>
                  <a:ea typeface="Garet"/>
                  <a:cs typeface="Garet"/>
                  <a:sym typeface="Garet"/>
                </a:rPr>
                <a:t>02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2826151" y="4188199"/>
            <a:ext cx="13691579" cy="1635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81"/>
              </a:lnSpc>
            </a:pPr>
            <a:r>
              <a:rPr lang="en-US" sz="3129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M. Gheorghe, F. Ipate, L. Mierla, S. Konur: kPWorkbench: A Software Framework for Kernel P Systems, BWMC 2015, 179-194, 2015. </a:t>
            </a:r>
          </a:p>
          <a:p>
            <a:pPr algn="l">
              <a:lnSpc>
                <a:spcPts val="4381"/>
              </a:lnSpc>
            </a:pPr>
            <a:r>
              <a:rPr lang="en-US" sz="3129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http://www.gcn.us.es/files/13bwmc/179_bwmc15.pdf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770270" y="6011259"/>
            <a:ext cx="842787" cy="842787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F3D3E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20"/>
                </a:lnSpc>
              </a:pPr>
              <a:r>
                <a:rPr lang="en-US" sz="2800">
                  <a:solidFill>
                    <a:srgbClr val="E9E9E9"/>
                  </a:solidFill>
                  <a:latin typeface="Garet"/>
                  <a:ea typeface="Garet"/>
                  <a:cs typeface="Garet"/>
                  <a:sym typeface="Garet"/>
                </a:rPr>
                <a:t>03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2826151" y="6006834"/>
            <a:ext cx="13691579" cy="2214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4"/>
              </a:lnSpc>
            </a:pPr>
            <a:r>
              <a:rPr lang="en-US" sz="3189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</a:rPr>
              <a:t>Kernel-P-Systems/kPWorkbench</a:t>
            </a:r>
          </a:p>
          <a:p>
            <a:pPr algn="l">
              <a:lnSpc>
                <a:spcPts val="4464"/>
              </a:lnSpc>
            </a:pPr>
            <a:r>
              <a:rPr lang="en-US" sz="3189" u="sng">
                <a:solidFill>
                  <a:srgbClr val="3F3D3E"/>
                </a:solidFill>
                <a:latin typeface="Garet"/>
                <a:ea typeface="Garet"/>
                <a:cs typeface="Garet"/>
                <a:sym typeface="Garet"/>
                <a:hlinkClick r:id="rId6" tooltip="https://github.com/Kernel-P-Systems/kPWorkbench"/>
              </a:rPr>
              <a:t>https://github.com/Kernel-P-Systems/kPWorkbench</a:t>
            </a:r>
          </a:p>
          <a:p>
            <a:pPr algn="l">
              <a:lnSpc>
                <a:spcPts val="4464"/>
              </a:lnSpc>
            </a:pPr>
          </a:p>
          <a:p>
            <a:pPr algn="l">
              <a:lnSpc>
                <a:spcPts val="4464"/>
              </a:lnSpc>
            </a:pP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3066628" cy="10287000"/>
          </a:xfrm>
          <a:custGeom>
            <a:avLst/>
            <a:gdLst/>
            <a:ahLst/>
            <a:cxnLst/>
            <a:rect r="r" b="b" t="t" l="l"/>
            <a:pathLst>
              <a:path h="10287000" w="13066628">
                <a:moveTo>
                  <a:pt x="0" y="0"/>
                </a:moveTo>
                <a:lnTo>
                  <a:pt x="13066628" y="0"/>
                </a:lnTo>
                <a:lnTo>
                  <a:pt x="1306662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704903" y="5668809"/>
            <a:ext cx="8723450" cy="2503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080"/>
              </a:lnSpc>
            </a:pPr>
            <a:r>
              <a:rPr lang="en-US" b="true" sz="7200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VĂ MULȚUMIM PENTRU ATENȚIE!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DAGjNTEh9zA</dc:identifier>
  <dcterms:modified xsi:type="dcterms:W3CDTF">2011-08-01T06:04:30Z</dcterms:modified>
  <cp:revision>1</cp:revision>
  <dc:title>KP SYSTEMS &amp; KP WORKBENCH</dc:title>
</cp:coreProperties>
</file>