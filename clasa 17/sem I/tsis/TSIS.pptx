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8288000" cy="10287000"/>
  <p:notesSz cx="6858000" cy="9144000"/>
  <p:embeddedFontLst>
    <p:embeddedFont>
      <p:font typeface="Alatsi"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03" d="100"/>
          <a:sy n="103" d="100"/>
        </p:scale>
        <p:origin x="534"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5849252" y="3190875"/>
            <a:ext cx="8534002" cy="1952625"/>
          </a:xfrm>
          <a:prstGeom prst="rect">
            <a:avLst/>
          </a:prstGeom>
        </p:spPr>
        <p:txBody>
          <a:bodyPr lIns="0" tIns="0" rIns="0" bIns="0" rtlCol="0" anchor="t">
            <a:spAutoFit/>
          </a:bodyPr>
          <a:lstStyle/>
          <a:p>
            <a:pPr algn="ctr">
              <a:lnSpc>
                <a:spcPts val="14550"/>
              </a:lnSpc>
            </a:pPr>
            <a:r>
              <a:rPr lang="en-US" sz="15000">
                <a:solidFill>
                  <a:srgbClr val="000000"/>
                </a:solidFill>
                <a:latin typeface="Alatsi"/>
                <a:ea typeface="Alatsi"/>
                <a:cs typeface="Alatsi"/>
                <a:sym typeface="Alatsi"/>
              </a:rPr>
              <a:t>AMBIEGEN</a:t>
            </a:r>
          </a:p>
        </p:txBody>
      </p:sp>
      <p:sp>
        <p:nvSpPr>
          <p:cNvPr id="13" name="Freeform 13"/>
          <p:cNvSpPr/>
          <p:nvPr/>
        </p:nvSpPr>
        <p:spPr>
          <a:xfrm>
            <a:off x="13557619" y="-131752"/>
            <a:ext cx="5342052" cy="1809444"/>
          </a:xfrm>
          <a:custGeom>
            <a:avLst/>
            <a:gdLst/>
            <a:ahLst/>
            <a:cxnLst/>
            <a:rect l="l" t="t" r="r" b="b"/>
            <a:pathLst>
              <a:path w="5342052" h="1809444">
                <a:moveTo>
                  <a:pt x="0" y="0"/>
                </a:moveTo>
                <a:lnTo>
                  <a:pt x="5342052" y="0"/>
                </a:lnTo>
                <a:lnTo>
                  <a:pt x="5342052" y="1809445"/>
                </a:lnTo>
                <a:lnTo>
                  <a:pt x="0" y="18094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11536292" y="5466645"/>
            <a:ext cx="5071014" cy="2187544"/>
          </a:xfrm>
          <a:prstGeom prst="rect">
            <a:avLst/>
          </a:prstGeom>
        </p:spPr>
        <p:txBody>
          <a:bodyPr lIns="0" tIns="0" rIns="0" bIns="0" rtlCol="0" anchor="t">
            <a:spAutoFit/>
          </a:bodyPr>
          <a:lstStyle/>
          <a:p>
            <a:pPr algn="l">
              <a:lnSpc>
                <a:spcPts val="4376"/>
              </a:lnSpc>
            </a:pPr>
            <a:r>
              <a:rPr lang="en-US" sz="3126">
                <a:solidFill>
                  <a:srgbClr val="000000"/>
                </a:solidFill>
                <a:latin typeface="Alatsi"/>
                <a:ea typeface="Alatsi"/>
                <a:cs typeface="Alatsi"/>
                <a:sym typeface="Alatsi"/>
              </a:rPr>
              <a:t>Cărpineanu Alexandru</a:t>
            </a:r>
          </a:p>
          <a:p>
            <a:pPr algn="l">
              <a:lnSpc>
                <a:spcPts val="4376"/>
              </a:lnSpc>
            </a:pPr>
            <a:r>
              <a:rPr lang="en-US" sz="3126">
                <a:solidFill>
                  <a:srgbClr val="000000"/>
                </a:solidFill>
                <a:latin typeface="Alatsi"/>
                <a:ea typeface="Alatsi"/>
                <a:cs typeface="Alatsi"/>
                <a:sym typeface="Alatsi"/>
              </a:rPr>
              <a:t>Cuciureanu Dragos Adrian</a:t>
            </a:r>
          </a:p>
          <a:p>
            <a:pPr algn="l">
              <a:lnSpc>
                <a:spcPts val="4376"/>
              </a:lnSpc>
            </a:pPr>
            <a:r>
              <a:rPr lang="en-US" sz="3126">
                <a:solidFill>
                  <a:srgbClr val="000000"/>
                </a:solidFill>
                <a:latin typeface="Alatsi"/>
                <a:ea typeface="Alatsi"/>
                <a:cs typeface="Alatsi"/>
                <a:sym typeface="Alatsi"/>
              </a:rPr>
              <a:t>Grigorescu Dumitru Stefan</a:t>
            </a:r>
          </a:p>
          <a:p>
            <a:pPr algn="l">
              <a:lnSpc>
                <a:spcPts val="4376"/>
              </a:lnSpc>
            </a:pPr>
            <a:r>
              <a:rPr lang="en-US" sz="3126">
                <a:solidFill>
                  <a:srgbClr val="000000"/>
                </a:solidFill>
                <a:latin typeface="Alatsi"/>
                <a:ea typeface="Alatsi"/>
                <a:cs typeface="Alatsi"/>
                <a:sym typeface="Alatsi"/>
              </a:rPr>
              <a:t>Vasile George Cristian</a:t>
            </a:r>
          </a:p>
        </p:txBody>
      </p:sp>
      <p:sp>
        <p:nvSpPr>
          <p:cNvPr id="15" name="Freeform 15"/>
          <p:cNvSpPr/>
          <p:nvPr/>
        </p:nvSpPr>
        <p:spPr>
          <a:xfrm>
            <a:off x="13191796" y="9474378"/>
            <a:ext cx="5707875" cy="1933355"/>
          </a:xfrm>
          <a:custGeom>
            <a:avLst/>
            <a:gdLst/>
            <a:ahLst/>
            <a:cxnLst/>
            <a:rect l="l" t="t" r="r" b="b"/>
            <a:pathLst>
              <a:path w="5707875" h="1933355">
                <a:moveTo>
                  <a:pt x="0" y="0"/>
                </a:moveTo>
                <a:lnTo>
                  <a:pt x="5707875" y="0"/>
                </a:lnTo>
                <a:lnTo>
                  <a:pt x="5707875" y="1933355"/>
                </a:lnTo>
                <a:lnTo>
                  <a:pt x="0" y="1933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3938117" y="3186659"/>
            <a:ext cx="12632247" cy="1952625"/>
          </a:xfrm>
          <a:prstGeom prst="rect">
            <a:avLst/>
          </a:prstGeom>
        </p:spPr>
        <p:txBody>
          <a:bodyPr lIns="0" tIns="0" rIns="0" bIns="0" rtlCol="0" anchor="t">
            <a:spAutoFit/>
          </a:bodyPr>
          <a:lstStyle/>
          <a:p>
            <a:pPr algn="ctr">
              <a:lnSpc>
                <a:spcPts val="14550"/>
              </a:lnSpc>
            </a:pPr>
            <a:r>
              <a:rPr lang="en-US" sz="15000">
                <a:solidFill>
                  <a:srgbClr val="000000"/>
                </a:solidFill>
                <a:latin typeface="Alatsi"/>
                <a:ea typeface="Alatsi"/>
                <a:cs typeface="Alatsi"/>
                <a:sym typeface="Alatsi"/>
              </a:rPr>
              <a:t>PAPERUL</a:t>
            </a:r>
          </a:p>
        </p:txBody>
      </p:sp>
      <p:sp>
        <p:nvSpPr>
          <p:cNvPr id="13" name="Freeform 13"/>
          <p:cNvSpPr/>
          <p:nvPr/>
        </p:nvSpPr>
        <p:spPr>
          <a:xfrm>
            <a:off x="13557619" y="-131752"/>
            <a:ext cx="5342052" cy="1809444"/>
          </a:xfrm>
          <a:custGeom>
            <a:avLst/>
            <a:gdLst/>
            <a:ahLst/>
            <a:cxnLst/>
            <a:rect l="l" t="t" r="r" b="b"/>
            <a:pathLst>
              <a:path w="5342052" h="1809444">
                <a:moveTo>
                  <a:pt x="0" y="0"/>
                </a:moveTo>
                <a:lnTo>
                  <a:pt x="5342052" y="0"/>
                </a:lnTo>
                <a:lnTo>
                  <a:pt x="5342052" y="1809445"/>
                </a:lnTo>
                <a:lnTo>
                  <a:pt x="0" y="18094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3938117" y="5034509"/>
            <a:ext cx="12625348" cy="978279"/>
          </a:xfrm>
          <a:prstGeom prst="rect">
            <a:avLst/>
          </a:prstGeom>
        </p:spPr>
        <p:txBody>
          <a:bodyPr lIns="0" tIns="0" rIns="0" bIns="0" rtlCol="0" anchor="t">
            <a:spAutoFit/>
          </a:bodyPr>
          <a:lstStyle/>
          <a:p>
            <a:pPr algn="ctr">
              <a:lnSpc>
                <a:spcPts val="8029"/>
              </a:lnSpc>
            </a:pPr>
            <a:r>
              <a:rPr lang="en-US" sz="5735">
                <a:solidFill>
                  <a:srgbClr val="000000"/>
                </a:solidFill>
                <a:latin typeface="Alatsi"/>
                <a:ea typeface="Alatsi"/>
                <a:cs typeface="Alatsi"/>
                <a:sym typeface="Alatsi"/>
              </a:rPr>
              <a:t>-Partea I-</a:t>
            </a:r>
          </a:p>
        </p:txBody>
      </p:sp>
      <p:sp>
        <p:nvSpPr>
          <p:cNvPr id="15" name="Freeform 15"/>
          <p:cNvSpPr/>
          <p:nvPr/>
        </p:nvSpPr>
        <p:spPr>
          <a:xfrm>
            <a:off x="13191796" y="9474378"/>
            <a:ext cx="5707875" cy="1933355"/>
          </a:xfrm>
          <a:custGeom>
            <a:avLst/>
            <a:gdLst/>
            <a:ahLst/>
            <a:cxnLst/>
            <a:rect l="l" t="t" r="r" b="b"/>
            <a:pathLst>
              <a:path w="5707875" h="1933355">
                <a:moveTo>
                  <a:pt x="0" y="0"/>
                </a:moveTo>
                <a:lnTo>
                  <a:pt x="5707875" y="0"/>
                </a:lnTo>
                <a:lnTo>
                  <a:pt x="5707875" y="1933355"/>
                </a:lnTo>
                <a:lnTo>
                  <a:pt x="0" y="1933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914400"/>
            <a:ext cx="13180039" cy="946143"/>
          </a:xfrm>
          <a:prstGeom prst="rect">
            <a:avLst/>
          </a:prstGeom>
        </p:spPr>
        <p:txBody>
          <a:bodyPr lIns="0" tIns="0" rIns="0" bIns="0" rtlCol="0" anchor="t">
            <a:spAutoFit/>
          </a:bodyPr>
          <a:lstStyle/>
          <a:p>
            <a:pPr algn="ctr">
              <a:lnSpc>
                <a:spcPts val="7700"/>
              </a:lnSpc>
            </a:pPr>
            <a:r>
              <a:rPr lang="en-US" sz="5500">
                <a:solidFill>
                  <a:srgbClr val="000000"/>
                </a:solidFill>
                <a:latin typeface="Alatsi"/>
                <a:ea typeface="Alatsi"/>
                <a:cs typeface="Alatsi"/>
                <a:sym typeface="Alatsi"/>
              </a:rPr>
              <a:t>INTRODUCERE</a:t>
            </a:r>
          </a:p>
        </p:txBody>
      </p:sp>
      <p:sp>
        <p:nvSpPr>
          <p:cNvPr id="3" name="Freeform 3"/>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115898" y="2185995"/>
            <a:ext cx="12056203" cy="1581150"/>
          </a:xfrm>
          <a:prstGeom prst="rect">
            <a:avLst/>
          </a:prstGeom>
        </p:spPr>
        <p:txBody>
          <a:bodyPr lIns="0" tIns="0" rIns="0" bIns="0" rtlCol="0" anchor="t">
            <a:spAutoFit/>
          </a:bodyPr>
          <a:lstStyle/>
          <a:p>
            <a:pPr algn="ctr">
              <a:lnSpc>
                <a:spcPts val="4200"/>
              </a:lnSpc>
            </a:pPr>
            <a:r>
              <a:rPr lang="en-US" sz="3000">
                <a:solidFill>
                  <a:srgbClr val="000000"/>
                </a:solidFill>
                <a:latin typeface="Alatsi"/>
                <a:ea typeface="Alatsi"/>
                <a:cs typeface="Alatsi"/>
                <a:sym typeface="Alatsi"/>
              </a:rPr>
              <a:t>AmbieGen este un framework de generare a cazurilor de testare, bazat pe căutare, destinat sistemelor autonome.</a:t>
            </a:r>
          </a:p>
          <a:p>
            <a:pPr algn="ctr">
              <a:lnSpc>
                <a:spcPts val="4200"/>
              </a:lnSpc>
              <a:spcBef>
                <a:spcPct val="0"/>
              </a:spcBef>
            </a:pPr>
            <a:endParaRPr lang="en-US" sz="3000">
              <a:solidFill>
                <a:srgbClr val="000000"/>
              </a:solidFill>
              <a:latin typeface="Alatsi"/>
              <a:ea typeface="Alatsi"/>
              <a:cs typeface="Alatsi"/>
              <a:sym typeface="Alatsi"/>
            </a:endParaRPr>
          </a:p>
        </p:txBody>
      </p:sp>
      <p:sp>
        <p:nvSpPr>
          <p:cNvPr id="5" name="TextBox 5"/>
          <p:cNvSpPr txBox="1"/>
          <p:nvPr/>
        </p:nvSpPr>
        <p:spPr>
          <a:xfrm>
            <a:off x="1028700" y="3738999"/>
            <a:ext cx="16230600" cy="1289049"/>
          </a:xfrm>
          <a:prstGeom prst="rect">
            <a:avLst/>
          </a:prstGeom>
        </p:spPr>
        <p:txBody>
          <a:bodyPr lIns="0" tIns="0" rIns="0" bIns="0" rtlCol="0" anchor="t">
            <a:spAutoFit/>
          </a:bodyPr>
          <a:lstStyle/>
          <a:p>
            <a:pPr algn="l">
              <a:lnSpc>
                <a:spcPts val="3500"/>
              </a:lnSpc>
            </a:pPr>
            <a:r>
              <a:rPr lang="en-US" sz="2500">
                <a:solidFill>
                  <a:srgbClr val="000000"/>
                </a:solidFill>
                <a:latin typeface="Alatsi"/>
                <a:ea typeface="Alatsi"/>
                <a:cs typeface="Alatsi"/>
                <a:sym typeface="Alatsi"/>
              </a:rPr>
              <a:t>Problema abordată:</a:t>
            </a:r>
          </a:p>
          <a:p>
            <a:pPr marL="539756" lvl="1" indent="-269878" algn="l">
              <a:lnSpc>
                <a:spcPts val="3500"/>
              </a:lnSpc>
              <a:spcBef>
                <a:spcPct val="0"/>
              </a:spcBef>
              <a:buFont typeface="Arial"/>
              <a:buChar char="•"/>
            </a:pPr>
            <a:r>
              <a:rPr lang="en-US" sz="2500">
                <a:solidFill>
                  <a:srgbClr val="000000"/>
                </a:solidFill>
                <a:latin typeface="Alatsi"/>
                <a:ea typeface="Alatsi"/>
                <a:cs typeface="Alatsi"/>
                <a:sym typeface="Alatsi"/>
              </a:rPr>
              <a:t>Generarea de teste calitative pentru sisteme autonome  este esențială pentru siguranță și de multe ori dificilă.</a:t>
            </a:r>
          </a:p>
          <a:p>
            <a:pPr algn="l">
              <a:lnSpc>
                <a:spcPts val="3500"/>
              </a:lnSpc>
              <a:spcBef>
                <a:spcPct val="0"/>
              </a:spcBef>
            </a:pPr>
            <a:endParaRPr lang="en-US" sz="2500">
              <a:solidFill>
                <a:srgbClr val="000000"/>
              </a:solidFill>
              <a:latin typeface="Alatsi"/>
              <a:ea typeface="Alatsi"/>
              <a:cs typeface="Alatsi"/>
              <a:sym typeface="Alatsi"/>
            </a:endParaRPr>
          </a:p>
        </p:txBody>
      </p:sp>
      <p:sp>
        <p:nvSpPr>
          <p:cNvPr id="6" name="TextBox 6"/>
          <p:cNvSpPr txBox="1"/>
          <p:nvPr/>
        </p:nvSpPr>
        <p:spPr>
          <a:xfrm>
            <a:off x="1031357" y="7185025"/>
            <a:ext cx="16229272" cy="17367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Soluția propusă:</a:t>
            </a:r>
          </a:p>
          <a:p>
            <a:pPr marL="539749" lvl="1" indent="-269875" algn="l">
              <a:lnSpc>
                <a:spcPts val="3499"/>
              </a:lnSpc>
              <a:spcBef>
                <a:spcPct val="0"/>
              </a:spcBef>
              <a:buFont typeface="Arial"/>
              <a:buChar char="•"/>
            </a:pPr>
            <a:r>
              <a:rPr lang="en-US" sz="2499">
                <a:solidFill>
                  <a:srgbClr val="000000"/>
                </a:solidFill>
                <a:latin typeface="Alatsi"/>
                <a:ea typeface="Alatsi"/>
                <a:cs typeface="Alatsi"/>
                <a:sym typeface="Alatsi"/>
              </a:rPr>
              <a:t>AmbieGen folosește căutarea evolutivă pentru a genera scenarii critice și diverse.</a:t>
            </a:r>
          </a:p>
          <a:p>
            <a:pPr marL="539749" lvl="1" indent="-269875" algn="l">
              <a:lnSpc>
                <a:spcPts val="3499"/>
              </a:lnSpc>
              <a:spcBef>
                <a:spcPct val="0"/>
              </a:spcBef>
              <a:buFont typeface="Arial"/>
              <a:buChar char="•"/>
            </a:pPr>
            <a:r>
              <a:rPr lang="en-US" sz="2499">
                <a:solidFill>
                  <a:srgbClr val="000000"/>
                </a:solidFill>
                <a:latin typeface="Alatsi"/>
                <a:ea typeface="Alatsi"/>
                <a:cs typeface="Alatsi"/>
                <a:sym typeface="Alatsi"/>
              </a:rPr>
              <a:t>Scop: Detectarea defectelor și îmbunătățirea fiabilității sistemelor autonome.</a:t>
            </a:r>
          </a:p>
          <a:p>
            <a:pPr algn="l">
              <a:lnSpc>
                <a:spcPts val="3499"/>
              </a:lnSpc>
              <a:spcBef>
                <a:spcPct val="0"/>
              </a:spcBef>
            </a:pPr>
            <a:endParaRPr lang="en-US" sz="2499">
              <a:solidFill>
                <a:srgbClr val="000000"/>
              </a:solidFill>
              <a:latin typeface="Alatsi"/>
              <a:ea typeface="Alatsi"/>
              <a:cs typeface="Alatsi"/>
              <a:sym typeface="Alatsi"/>
            </a:endParaRPr>
          </a:p>
        </p:txBody>
      </p:sp>
      <p:sp>
        <p:nvSpPr>
          <p:cNvPr id="7" name="TextBox 7"/>
          <p:cNvSpPr txBox="1"/>
          <p:nvPr/>
        </p:nvSpPr>
        <p:spPr>
          <a:xfrm>
            <a:off x="1028700" y="5228649"/>
            <a:ext cx="16230600" cy="17557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Dificultăți:</a:t>
            </a:r>
          </a:p>
          <a:p>
            <a:pPr marL="539749" lvl="1" indent="-269875" algn="l">
              <a:lnSpc>
                <a:spcPts val="3499"/>
              </a:lnSpc>
              <a:buFont typeface="Arial"/>
              <a:buChar char="•"/>
            </a:pPr>
            <a:r>
              <a:rPr lang="en-US" sz="2499">
                <a:solidFill>
                  <a:srgbClr val="000000"/>
                </a:solidFill>
                <a:latin typeface="Alatsi"/>
                <a:ea typeface="Alatsi"/>
                <a:cs typeface="Alatsi"/>
                <a:sym typeface="Alatsi"/>
              </a:rPr>
              <a:t>Spațiul parametrilor de testare este vast.</a:t>
            </a:r>
          </a:p>
          <a:p>
            <a:pPr marL="539749" lvl="1" indent="-269875" algn="l">
              <a:lnSpc>
                <a:spcPts val="3499"/>
              </a:lnSpc>
              <a:spcBef>
                <a:spcPct val="0"/>
              </a:spcBef>
              <a:buFont typeface="Arial"/>
              <a:buChar char="•"/>
            </a:pPr>
            <a:r>
              <a:rPr lang="en-US" sz="2499">
                <a:solidFill>
                  <a:srgbClr val="000000"/>
                </a:solidFill>
                <a:latin typeface="Alatsi"/>
                <a:ea typeface="Alatsi"/>
                <a:cs typeface="Alatsi"/>
                <a:sym typeface="Alatsi"/>
              </a:rPr>
              <a:t>Simularea tuturor combinațiilor este imposibilă din punct de vedere computațional.</a:t>
            </a:r>
          </a:p>
          <a:p>
            <a:pPr algn="l">
              <a:lnSpc>
                <a:spcPts val="3499"/>
              </a:lnSpc>
              <a:spcBef>
                <a:spcPct val="0"/>
              </a:spcBef>
            </a:pPr>
            <a:endParaRPr lang="en-US" sz="2499">
              <a:solidFill>
                <a:srgbClr val="000000"/>
              </a:solidFill>
              <a:latin typeface="Alatsi"/>
              <a:ea typeface="Alatsi"/>
              <a:cs typeface="Alatsi"/>
              <a:sym typeface="Alats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CARACTERISTICI PRINCIPALE</a:t>
            </a:r>
          </a:p>
        </p:txBody>
      </p:sp>
      <p:sp>
        <p:nvSpPr>
          <p:cNvPr id="3" name="TextBox 3"/>
          <p:cNvSpPr txBox="1"/>
          <p:nvPr/>
        </p:nvSpPr>
        <p:spPr>
          <a:xfrm>
            <a:off x="3952192" y="1616075"/>
            <a:ext cx="10383616" cy="1047750"/>
          </a:xfrm>
          <a:prstGeom prst="rect">
            <a:avLst/>
          </a:prstGeom>
        </p:spPr>
        <p:txBody>
          <a:bodyPr lIns="0" tIns="0" rIns="0" bIns="0" rtlCol="0" anchor="t">
            <a:spAutoFit/>
          </a:bodyPr>
          <a:lstStyle/>
          <a:p>
            <a:pPr algn="ctr">
              <a:lnSpc>
                <a:spcPts val="4200"/>
              </a:lnSpc>
            </a:pPr>
            <a:r>
              <a:rPr lang="en-US" sz="3000">
                <a:solidFill>
                  <a:srgbClr val="000000"/>
                </a:solidFill>
                <a:latin typeface="Alatsi"/>
                <a:ea typeface="Alatsi"/>
                <a:cs typeface="Alatsi"/>
                <a:sym typeface="Alatsi"/>
              </a:rPr>
              <a:t>AmbieGen este construit ca un cadru modular, cu funcționalități cheie care includ:</a:t>
            </a:r>
          </a:p>
        </p:txBody>
      </p:sp>
      <p:sp>
        <p:nvSpPr>
          <p:cNvPr id="4" name="TextBox 4"/>
          <p:cNvSpPr txBox="1"/>
          <p:nvPr/>
        </p:nvSpPr>
        <p:spPr>
          <a:xfrm>
            <a:off x="801020" y="3338512"/>
            <a:ext cx="7244171" cy="1736725"/>
          </a:xfrm>
          <a:prstGeom prst="rect">
            <a:avLst/>
          </a:prstGeom>
        </p:spPr>
        <p:txBody>
          <a:bodyPr lIns="0" tIns="0" rIns="0" bIns="0" rtlCol="0" anchor="t">
            <a:spAutoFit/>
          </a:bodyPr>
          <a:lstStyle/>
          <a:p>
            <a:pPr marL="539748" lvl="1" indent="-269874" algn="l">
              <a:lnSpc>
                <a:spcPts val="3499"/>
              </a:lnSpc>
              <a:buAutoNum type="arabicPeriod"/>
            </a:pPr>
            <a:r>
              <a:rPr lang="en-US" sz="2499">
                <a:solidFill>
                  <a:srgbClr val="000000"/>
                </a:solidFill>
                <a:latin typeface="Alatsi"/>
                <a:ea typeface="Alatsi"/>
                <a:cs typeface="Alatsi"/>
                <a:sym typeface="Alatsi"/>
              </a:rPr>
              <a:t>Generare de scenarii pentru vehicule autonome:</a:t>
            </a:r>
          </a:p>
          <a:p>
            <a:pPr marL="539748" lvl="1" indent="-269874" algn="l">
              <a:lnSpc>
                <a:spcPts val="3499"/>
              </a:lnSpc>
              <a:buFont typeface="Arial"/>
              <a:buChar char="•"/>
            </a:pPr>
            <a:r>
              <a:rPr lang="en-US" sz="2499">
                <a:solidFill>
                  <a:srgbClr val="000000"/>
                </a:solidFill>
                <a:latin typeface="Alatsi"/>
                <a:ea typeface="Alatsi"/>
                <a:cs typeface="Alatsi"/>
                <a:sym typeface="Alatsi"/>
              </a:rPr>
              <a:t>Sisteme de menținere a benzii (LKAS).</a:t>
            </a:r>
          </a:p>
          <a:p>
            <a:pPr marL="539748" lvl="1" indent="-269874" algn="l">
              <a:lnSpc>
                <a:spcPts val="3499"/>
              </a:lnSpc>
              <a:buFont typeface="Arial"/>
              <a:buChar char="•"/>
            </a:pPr>
            <a:r>
              <a:rPr lang="en-US" sz="2499">
                <a:solidFill>
                  <a:srgbClr val="000000"/>
                </a:solidFill>
                <a:latin typeface="Alatsi"/>
                <a:ea typeface="Alatsi"/>
                <a:cs typeface="Alatsi"/>
                <a:sym typeface="Alatsi"/>
              </a:rPr>
              <a:t>Parametrii controlați: topologia drumului, condițiile meteorologice, poziția altor vehicule.</a:t>
            </a:r>
          </a:p>
        </p:txBody>
      </p:sp>
      <p:sp>
        <p:nvSpPr>
          <p:cNvPr id="5" name="TextBox 5"/>
          <p:cNvSpPr txBox="1"/>
          <p:nvPr/>
        </p:nvSpPr>
        <p:spPr>
          <a:xfrm>
            <a:off x="9341514" y="3406775"/>
            <a:ext cx="7917786" cy="17367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    II. Generare de hărți pentru roboți autonomi:</a:t>
            </a:r>
          </a:p>
          <a:p>
            <a:pPr marL="539749" lvl="1" indent="-269875" algn="l">
              <a:lnSpc>
                <a:spcPts val="3499"/>
              </a:lnSpc>
              <a:buFont typeface="Arial"/>
              <a:buChar char="•"/>
            </a:pPr>
            <a:r>
              <a:rPr lang="en-US" sz="2499">
                <a:solidFill>
                  <a:srgbClr val="000000"/>
                </a:solidFill>
                <a:latin typeface="Alatsi"/>
                <a:ea typeface="Alatsi"/>
                <a:cs typeface="Alatsi"/>
                <a:sym typeface="Alatsi"/>
              </a:rPr>
              <a:t>Hărți cu obstacole distribuite aleatoriu sau strategic.</a:t>
            </a:r>
          </a:p>
          <a:p>
            <a:pPr marL="539749" lvl="1" indent="-269875" algn="l">
              <a:lnSpc>
                <a:spcPts val="3499"/>
              </a:lnSpc>
              <a:buFont typeface="Arial"/>
              <a:buChar char="•"/>
            </a:pPr>
            <a:r>
              <a:rPr lang="en-US" sz="2499">
                <a:solidFill>
                  <a:srgbClr val="000000"/>
                </a:solidFill>
                <a:latin typeface="Alatsi"/>
                <a:ea typeface="Alatsi"/>
                <a:cs typeface="Alatsi"/>
                <a:sym typeface="Alatsi"/>
              </a:rPr>
              <a:t>Testarea algoritmilor de navigație printre obstacole.</a:t>
            </a:r>
          </a:p>
          <a:p>
            <a:pPr algn="l">
              <a:lnSpc>
                <a:spcPts val="3499"/>
              </a:lnSpc>
            </a:pPr>
            <a:endParaRPr lang="en-US" sz="2499">
              <a:solidFill>
                <a:srgbClr val="000000"/>
              </a:solidFill>
              <a:latin typeface="Alatsi"/>
              <a:ea typeface="Alatsi"/>
              <a:cs typeface="Alatsi"/>
              <a:sym typeface="Alatsi"/>
            </a:endParaRPr>
          </a:p>
        </p:txBody>
      </p:sp>
      <p:sp>
        <p:nvSpPr>
          <p:cNvPr id="6" name="TextBox 6"/>
          <p:cNvSpPr txBox="1"/>
          <p:nvPr/>
        </p:nvSpPr>
        <p:spPr>
          <a:xfrm>
            <a:off x="801020" y="6103382"/>
            <a:ext cx="7476274" cy="26320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    III. Algoritmi utilizați:</a:t>
            </a:r>
          </a:p>
          <a:p>
            <a:pPr marL="539748" lvl="1" indent="-269874" algn="l">
              <a:lnSpc>
                <a:spcPts val="3499"/>
              </a:lnSpc>
              <a:buFont typeface="Arial"/>
              <a:buChar char="•"/>
            </a:pPr>
            <a:r>
              <a:rPr lang="en-US" sz="2499">
                <a:solidFill>
                  <a:srgbClr val="000000"/>
                </a:solidFill>
                <a:latin typeface="Alatsi"/>
                <a:ea typeface="Alatsi"/>
                <a:cs typeface="Alatsi"/>
                <a:sym typeface="Alatsi"/>
              </a:rPr>
              <a:t>GA (Single Objective): optimizează performanța.</a:t>
            </a:r>
          </a:p>
          <a:p>
            <a:pPr marL="539748" lvl="1" indent="-269874" algn="l">
              <a:lnSpc>
                <a:spcPts val="3499"/>
              </a:lnSpc>
              <a:buFont typeface="Arial"/>
              <a:buChar char="•"/>
            </a:pPr>
            <a:r>
              <a:rPr lang="en-US" sz="2499">
                <a:solidFill>
                  <a:srgbClr val="000000"/>
                </a:solidFill>
                <a:latin typeface="Alatsi"/>
                <a:ea typeface="Alatsi"/>
                <a:cs typeface="Alatsi"/>
                <a:sym typeface="Alatsi"/>
              </a:rPr>
              <a:t>NSGA-II (Multi-Objective): optimizează performanța și diversitatea.</a:t>
            </a:r>
          </a:p>
          <a:p>
            <a:pPr algn="l">
              <a:lnSpc>
                <a:spcPts val="3499"/>
              </a:lnSpc>
            </a:pPr>
            <a:endParaRPr lang="en-US" sz="2499">
              <a:solidFill>
                <a:srgbClr val="000000"/>
              </a:solidFill>
              <a:latin typeface="Alatsi"/>
              <a:ea typeface="Alatsi"/>
              <a:cs typeface="Alatsi"/>
              <a:sym typeface="Alatsi"/>
            </a:endParaRPr>
          </a:p>
          <a:p>
            <a:pPr algn="l">
              <a:lnSpc>
                <a:spcPts val="3499"/>
              </a:lnSpc>
            </a:pPr>
            <a:endParaRPr lang="en-US" sz="2499">
              <a:solidFill>
                <a:srgbClr val="000000"/>
              </a:solidFill>
              <a:latin typeface="Alatsi"/>
              <a:ea typeface="Alatsi"/>
              <a:cs typeface="Alatsi"/>
              <a:sym typeface="Alatsi"/>
            </a:endParaRPr>
          </a:p>
        </p:txBody>
      </p:sp>
      <p:sp>
        <p:nvSpPr>
          <p:cNvPr id="7" name="TextBox 7"/>
          <p:cNvSpPr txBox="1"/>
          <p:nvPr/>
        </p:nvSpPr>
        <p:spPr>
          <a:xfrm>
            <a:off x="9341514" y="6103382"/>
            <a:ext cx="7917786" cy="21748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    IV. Modularitate:</a:t>
            </a:r>
          </a:p>
          <a:p>
            <a:pPr marL="539748" lvl="1" indent="-269874" algn="l">
              <a:lnSpc>
                <a:spcPts val="3499"/>
              </a:lnSpc>
              <a:buFont typeface="Arial"/>
              <a:buChar char="•"/>
            </a:pPr>
            <a:r>
              <a:rPr lang="en-US" sz="2499">
                <a:solidFill>
                  <a:srgbClr val="000000"/>
                </a:solidFill>
                <a:latin typeface="Alatsi"/>
                <a:ea typeface="Alatsi"/>
                <a:cs typeface="Alatsi"/>
                <a:sym typeface="Alatsi"/>
              </a:rPr>
              <a:t>Ușor de extins pentru alte sisteme autonome (drone, roboți industriali).</a:t>
            </a:r>
          </a:p>
          <a:p>
            <a:pPr marL="539748" lvl="1" indent="-269874" algn="l">
              <a:lnSpc>
                <a:spcPts val="3499"/>
              </a:lnSpc>
              <a:buFont typeface="Arial"/>
              <a:buChar char="•"/>
            </a:pPr>
            <a:r>
              <a:rPr lang="en-US" sz="2499">
                <a:solidFill>
                  <a:srgbClr val="000000"/>
                </a:solidFill>
                <a:latin typeface="Alatsi"/>
                <a:ea typeface="Alatsi"/>
                <a:cs typeface="Alatsi"/>
                <a:sym typeface="Alatsi"/>
              </a:rPr>
              <a:t>Suport pentru algoritmi noi prin configurări personalizabile.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003628"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ARHITECTURA FRAMEWORKULUI</a:t>
            </a:r>
          </a:p>
        </p:txBody>
      </p:sp>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Freeform 5"/>
          <p:cNvSpPr/>
          <p:nvPr/>
        </p:nvSpPr>
        <p:spPr>
          <a:xfrm>
            <a:off x="-2845001" y="434334"/>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3601700" y="614206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3493371" y="3277342"/>
            <a:ext cx="11301259" cy="4746529"/>
          </a:xfrm>
          <a:custGeom>
            <a:avLst/>
            <a:gdLst/>
            <a:ahLst/>
            <a:cxnLst/>
            <a:rect l="l" t="t" r="r" b="b"/>
            <a:pathLst>
              <a:path w="11301259" h="4746529">
                <a:moveTo>
                  <a:pt x="0" y="0"/>
                </a:moveTo>
                <a:lnTo>
                  <a:pt x="11301258" y="0"/>
                </a:lnTo>
                <a:lnTo>
                  <a:pt x="11301258" y="4746529"/>
                </a:lnTo>
                <a:lnTo>
                  <a:pt x="0" y="4746529"/>
                </a:lnTo>
                <a:lnTo>
                  <a:pt x="0" y="0"/>
                </a:lnTo>
                <a:close/>
              </a:path>
            </a:pathLst>
          </a:custGeom>
          <a:blipFill>
            <a:blip r:embed="rId4"/>
            <a:stretch>
              <a:fillRect/>
            </a:stretch>
          </a:blipFill>
        </p:spPr>
      </p:sp>
      <p:sp>
        <p:nvSpPr>
          <p:cNvPr id="8" name="TextBox 8"/>
          <p:cNvSpPr txBox="1"/>
          <p:nvPr/>
        </p:nvSpPr>
        <p:spPr>
          <a:xfrm>
            <a:off x="4381215" y="1736725"/>
            <a:ext cx="9525569" cy="1047750"/>
          </a:xfrm>
          <a:prstGeom prst="rect">
            <a:avLst/>
          </a:prstGeom>
        </p:spPr>
        <p:txBody>
          <a:bodyPr lIns="0" tIns="0" rIns="0" bIns="0" rtlCol="0" anchor="t">
            <a:spAutoFit/>
          </a:bodyPr>
          <a:lstStyle/>
          <a:p>
            <a:pPr algn="ctr">
              <a:lnSpc>
                <a:spcPts val="4200"/>
              </a:lnSpc>
            </a:pPr>
            <a:r>
              <a:rPr lang="en-US" sz="3000">
                <a:solidFill>
                  <a:srgbClr val="000000"/>
                </a:solidFill>
                <a:latin typeface="Alatsi"/>
                <a:ea typeface="Alatsi"/>
                <a:cs typeface="Alatsi"/>
                <a:sym typeface="Alatsi"/>
              </a:rPr>
              <a:t>Arhitectura AmbieGen integrează mai multe componente pentru a genera, evalua și optimiza scenarii: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MOD DE FUNCȚIONARE</a:t>
            </a:r>
          </a:p>
        </p:txBody>
      </p:sp>
      <p:sp>
        <p:nvSpPr>
          <p:cNvPr id="3" name="TextBox 3"/>
          <p:cNvSpPr txBox="1"/>
          <p:nvPr/>
        </p:nvSpPr>
        <p:spPr>
          <a:xfrm>
            <a:off x="9185936" y="2359231"/>
            <a:ext cx="8073364" cy="3079750"/>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    II. Sampling (Generarea populației inițiale):</a:t>
            </a:r>
          </a:p>
          <a:p>
            <a:pPr marL="539748" lvl="1" indent="-269874" algn="l">
              <a:lnSpc>
                <a:spcPts val="3499"/>
              </a:lnSpc>
              <a:buFont typeface="Arial"/>
              <a:buChar char="•"/>
            </a:pPr>
            <a:r>
              <a:rPr lang="en-US" sz="2499">
                <a:solidFill>
                  <a:srgbClr val="000000"/>
                </a:solidFill>
                <a:latin typeface="Alatsi"/>
                <a:ea typeface="Alatsi"/>
                <a:cs typeface="Alatsi"/>
                <a:sym typeface="Alatsi"/>
              </a:rPr>
              <a:t>Clasa pentru generarea populației inițiale.</a:t>
            </a:r>
          </a:p>
          <a:p>
            <a:pPr marL="539748" lvl="1" indent="-269874" algn="l">
              <a:lnSpc>
                <a:spcPts val="3499"/>
              </a:lnSpc>
              <a:buFont typeface="Arial"/>
              <a:buChar char="•"/>
            </a:pPr>
            <a:r>
              <a:rPr lang="en-US" sz="2499">
                <a:solidFill>
                  <a:srgbClr val="000000"/>
                </a:solidFill>
                <a:latin typeface="Alatsi"/>
                <a:ea typeface="Alatsi"/>
                <a:cs typeface="Alatsi"/>
                <a:sym typeface="Alatsi"/>
              </a:rPr>
              <a:t>Creează instanțe ale clasei Solution cu un atribut de scenariu.</a:t>
            </a:r>
          </a:p>
          <a:p>
            <a:pPr marL="539748" lvl="1" indent="-269874" algn="l">
              <a:lnSpc>
                <a:spcPts val="3499"/>
              </a:lnSpc>
              <a:buFont typeface="Arial"/>
              <a:buChar char="•"/>
            </a:pPr>
            <a:r>
              <a:rPr lang="en-US" sz="2499">
                <a:solidFill>
                  <a:srgbClr val="000000"/>
                </a:solidFill>
                <a:latin typeface="Alatsi"/>
                <a:ea typeface="Alatsi"/>
                <a:cs typeface="Alatsi"/>
                <a:sym typeface="Alatsi"/>
              </a:rPr>
              <a:t>Scenariul este reprezentat printr-un array 2D, cu valori randomizate în intervalele definite în fișierul de configurare.</a:t>
            </a:r>
          </a:p>
        </p:txBody>
      </p:sp>
      <p:sp>
        <p:nvSpPr>
          <p:cNvPr id="4" name="TextBox 4"/>
          <p:cNvSpPr txBox="1"/>
          <p:nvPr/>
        </p:nvSpPr>
        <p:spPr>
          <a:xfrm>
            <a:off x="1028700" y="2359231"/>
            <a:ext cx="6131477" cy="30511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    I. Solution:</a:t>
            </a:r>
          </a:p>
          <a:p>
            <a:pPr marL="539748" lvl="1" indent="-269874" algn="l">
              <a:lnSpc>
                <a:spcPts val="3499"/>
              </a:lnSpc>
              <a:buFont typeface="Arial"/>
              <a:buChar char="•"/>
            </a:pPr>
            <a:r>
              <a:rPr lang="en-US" sz="2499">
                <a:solidFill>
                  <a:srgbClr val="000000"/>
                </a:solidFill>
                <a:latin typeface="Alatsi"/>
                <a:ea typeface="Alatsi"/>
                <a:cs typeface="Alatsi"/>
                <a:sym typeface="Alatsi"/>
              </a:rPr>
              <a:t>Clasă principală care reprezintă soluțiile candidate.</a:t>
            </a:r>
          </a:p>
          <a:p>
            <a:pPr marL="539748" lvl="1" indent="-269874" algn="l">
              <a:lnSpc>
                <a:spcPts val="3499"/>
              </a:lnSpc>
              <a:buFont typeface="Arial"/>
              <a:buChar char="•"/>
            </a:pPr>
            <a:r>
              <a:rPr lang="en-US" sz="2499">
                <a:solidFill>
                  <a:srgbClr val="000000"/>
                </a:solidFill>
                <a:latin typeface="Alatsi"/>
                <a:ea typeface="Alatsi"/>
                <a:cs typeface="Alatsi"/>
                <a:sym typeface="Alatsi"/>
              </a:rPr>
              <a:t>Conține atribute și funcții pentru evaluarea fitness-ului, calculul novelty-ului și opțional generarea de imagini.</a:t>
            </a:r>
          </a:p>
          <a:p>
            <a:pPr algn="l">
              <a:lnSpc>
                <a:spcPts val="3499"/>
              </a:lnSpc>
            </a:pPr>
            <a:endParaRPr lang="en-US" sz="2499">
              <a:solidFill>
                <a:srgbClr val="000000"/>
              </a:solidFill>
              <a:latin typeface="Alatsi"/>
              <a:ea typeface="Alatsi"/>
              <a:cs typeface="Alatsi"/>
              <a:sym typeface="Alatsi"/>
            </a:endParaRPr>
          </a:p>
        </p:txBody>
      </p:sp>
      <p:sp>
        <p:nvSpPr>
          <p:cNvPr id="5" name="TextBox 5"/>
          <p:cNvSpPr txBox="1"/>
          <p:nvPr/>
        </p:nvSpPr>
        <p:spPr>
          <a:xfrm>
            <a:off x="3822696" y="6729755"/>
            <a:ext cx="10726479" cy="21748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 III. Problem:</a:t>
            </a:r>
          </a:p>
          <a:p>
            <a:pPr marL="539748" lvl="1" indent="-269874" algn="l">
              <a:lnSpc>
                <a:spcPts val="3499"/>
              </a:lnSpc>
              <a:buFont typeface="Arial"/>
              <a:buChar char="•"/>
            </a:pPr>
            <a:r>
              <a:rPr lang="en-US" sz="2499">
                <a:solidFill>
                  <a:srgbClr val="000000"/>
                </a:solidFill>
                <a:latin typeface="Alatsi"/>
                <a:ea typeface="Alatsi"/>
                <a:cs typeface="Alatsi"/>
                <a:sym typeface="Alatsi"/>
              </a:rPr>
              <a:t>Definirea logicii de evaluare a fitness-ului soluțiilor.</a:t>
            </a:r>
          </a:p>
          <a:p>
            <a:pPr marL="539748" lvl="1" indent="-269874" algn="l">
              <a:lnSpc>
                <a:spcPts val="3499"/>
              </a:lnSpc>
              <a:buFont typeface="Arial"/>
              <a:buChar char="•"/>
            </a:pPr>
            <a:r>
              <a:rPr lang="en-US" sz="2499">
                <a:solidFill>
                  <a:srgbClr val="000000"/>
                </a:solidFill>
                <a:latin typeface="Alatsi"/>
                <a:ea typeface="Alatsi"/>
                <a:cs typeface="Alatsi"/>
                <a:sym typeface="Alatsi"/>
              </a:rPr>
              <a:t>Sunt utilizați 3 algoritmi: GA, NSGA-II și Random</a:t>
            </a:r>
          </a:p>
          <a:p>
            <a:pPr marL="539748" lvl="1" indent="-269874" algn="l">
              <a:lnSpc>
                <a:spcPts val="3499"/>
              </a:lnSpc>
              <a:buFont typeface="Arial"/>
              <a:buChar char="•"/>
            </a:pPr>
            <a:r>
              <a:rPr lang="en-US" sz="2499">
                <a:solidFill>
                  <a:srgbClr val="000000"/>
                </a:solidFill>
                <a:latin typeface="Alatsi"/>
                <a:ea typeface="Alatsi"/>
                <a:cs typeface="Alatsi"/>
                <a:sym typeface="Alatsi"/>
              </a:rPr>
              <a:t>Aici se vor preciza limitările problemei, precum fitness-ul minim dorit.</a:t>
            </a:r>
          </a:p>
          <a:p>
            <a:pPr algn="l">
              <a:lnSpc>
                <a:spcPts val="3499"/>
              </a:lnSpc>
            </a:pPr>
            <a:endParaRPr lang="en-US" sz="2499">
              <a:solidFill>
                <a:srgbClr val="000000"/>
              </a:solidFill>
              <a:latin typeface="Alatsi"/>
              <a:ea typeface="Alatsi"/>
              <a:cs typeface="Alatsi"/>
              <a:sym typeface="Alats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GA &amp; NSGA-II</a:t>
            </a:r>
          </a:p>
        </p:txBody>
      </p:sp>
      <p:sp>
        <p:nvSpPr>
          <p:cNvPr id="3" name="TextBox 3"/>
          <p:cNvSpPr txBox="1"/>
          <p:nvPr/>
        </p:nvSpPr>
        <p:spPr>
          <a:xfrm>
            <a:off x="4381215" y="1736725"/>
            <a:ext cx="9525569" cy="1047750"/>
          </a:xfrm>
          <a:prstGeom prst="rect">
            <a:avLst/>
          </a:prstGeom>
        </p:spPr>
        <p:txBody>
          <a:bodyPr lIns="0" tIns="0" rIns="0" bIns="0" rtlCol="0" anchor="t">
            <a:spAutoFit/>
          </a:bodyPr>
          <a:lstStyle/>
          <a:p>
            <a:pPr algn="ctr">
              <a:lnSpc>
                <a:spcPts val="4200"/>
              </a:lnSpc>
            </a:pPr>
            <a:r>
              <a:rPr lang="en-US" sz="3000">
                <a:solidFill>
                  <a:srgbClr val="000000"/>
                </a:solidFill>
                <a:latin typeface="Alatsi"/>
                <a:ea typeface="Alatsi"/>
                <a:cs typeface="Alatsi"/>
                <a:sym typeface="Alatsi"/>
              </a:rPr>
              <a:t>AmbieGen utilizează trei tipuri de algoritmi evolutivi pentru generarea și optimizarea scenariilor</a:t>
            </a:r>
          </a:p>
        </p:txBody>
      </p:sp>
      <p:sp>
        <p:nvSpPr>
          <p:cNvPr id="4" name="TextBox 4"/>
          <p:cNvSpPr txBox="1"/>
          <p:nvPr/>
        </p:nvSpPr>
        <p:spPr>
          <a:xfrm>
            <a:off x="1028700" y="3625375"/>
            <a:ext cx="6053149" cy="2174831"/>
          </a:xfrm>
          <a:prstGeom prst="rect">
            <a:avLst/>
          </a:prstGeom>
        </p:spPr>
        <p:txBody>
          <a:bodyPr lIns="0" tIns="0" rIns="0" bIns="0" rtlCol="0" anchor="t">
            <a:spAutoFit/>
          </a:bodyPr>
          <a:lstStyle/>
          <a:p>
            <a:pPr algn="l">
              <a:lnSpc>
                <a:spcPts val="3502"/>
              </a:lnSpc>
            </a:pPr>
            <a:r>
              <a:rPr lang="en-US" sz="2501">
                <a:solidFill>
                  <a:srgbClr val="000000"/>
                </a:solidFill>
                <a:latin typeface="Alatsi"/>
                <a:ea typeface="Alatsi"/>
                <a:cs typeface="Alatsi"/>
                <a:sym typeface="Alatsi"/>
              </a:rPr>
              <a:t>GA (Genetic Algorithm) - Optimizare cu un singur obiectiv:</a:t>
            </a:r>
          </a:p>
          <a:p>
            <a:pPr marL="540124" lvl="1" indent="-270062" algn="l">
              <a:lnSpc>
                <a:spcPts val="3502"/>
              </a:lnSpc>
              <a:buFont typeface="Arial"/>
              <a:buChar char="•"/>
            </a:pPr>
            <a:r>
              <a:rPr lang="en-US" sz="2501">
                <a:solidFill>
                  <a:srgbClr val="000000"/>
                </a:solidFill>
                <a:latin typeface="Alatsi"/>
                <a:ea typeface="Alatsi"/>
                <a:cs typeface="Alatsi"/>
                <a:sym typeface="Alatsi"/>
              </a:rPr>
              <a:t>Scop: Maximizarea unei metrici specifice (e.g., fitness).</a:t>
            </a:r>
          </a:p>
          <a:p>
            <a:pPr algn="l">
              <a:lnSpc>
                <a:spcPts val="3502"/>
              </a:lnSpc>
            </a:pPr>
            <a:endParaRPr lang="en-US" sz="2501">
              <a:solidFill>
                <a:srgbClr val="000000"/>
              </a:solidFill>
              <a:latin typeface="Alatsi"/>
              <a:ea typeface="Alatsi"/>
              <a:cs typeface="Alatsi"/>
              <a:sym typeface="Alatsi"/>
            </a:endParaRPr>
          </a:p>
        </p:txBody>
      </p:sp>
      <p:sp>
        <p:nvSpPr>
          <p:cNvPr id="5" name="TextBox 5"/>
          <p:cNvSpPr txBox="1"/>
          <p:nvPr/>
        </p:nvSpPr>
        <p:spPr>
          <a:xfrm>
            <a:off x="9989712" y="3615850"/>
            <a:ext cx="7269588" cy="26130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NSGA-II (Non-dominated Sorting Genetic Algorithm II) - Optimizare multi-obiectiv:</a:t>
            </a:r>
          </a:p>
          <a:p>
            <a:pPr marL="539749" lvl="1" indent="-269875" algn="l">
              <a:lnSpc>
                <a:spcPts val="3499"/>
              </a:lnSpc>
              <a:buFont typeface="Arial"/>
              <a:buChar char="•"/>
            </a:pPr>
            <a:r>
              <a:rPr lang="en-US" sz="2499">
                <a:solidFill>
                  <a:srgbClr val="000000"/>
                </a:solidFill>
                <a:latin typeface="Alatsi"/>
                <a:ea typeface="Alatsi"/>
                <a:cs typeface="Alatsi"/>
                <a:sym typeface="Alatsi"/>
              </a:rPr>
              <a:t>Scop: Maximizarea simultană a performanței (fitness) și diversității (novelty).</a:t>
            </a:r>
          </a:p>
          <a:p>
            <a:pPr algn="l">
              <a:lnSpc>
                <a:spcPts val="3499"/>
              </a:lnSpc>
            </a:pPr>
            <a:endParaRPr lang="en-US" sz="2499">
              <a:solidFill>
                <a:srgbClr val="000000"/>
              </a:solidFill>
              <a:latin typeface="Alatsi"/>
              <a:ea typeface="Alatsi"/>
              <a:cs typeface="Alatsi"/>
              <a:sym typeface="Alatsi"/>
            </a:endParaRPr>
          </a:p>
          <a:p>
            <a:pPr algn="l">
              <a:lnSpc>
                <a:spcPts val="3499"/>
              </a:lnSpc>
            </a:pPr>
            <a:endParaRPr lang="en-US" sz="2499">
              <a:solidFill>
                <a:srgbClr val="000000"/>
              </a:solidFill>
              <a:latin typeface="Alatsi"/>
              <a:ea typeface="Alatsi"/>
              <a:cs typeface="Alatsi"/>
              <a:sym typeface="Alatsi"/>
            </a:endParaRPr>
          </a:p>
        </p:txBody>
      </p:sp>
      <p:sp>
        <p:nvSpPr>
          <p:cNvPr id="6" name="AutoShape 6"/>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7" name="AutoShape 7"/>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8" name="Freeform 8"/>
          <p:cNvSpPr/>
          <p:nvPr/>
        </p:nvSpPr>
        <p:spPr>
          <a:xfrm>
            <a:off x="-2845001" y="434334"/>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2212657" y="6181250"/>
            <a:ext cx="13862685" cy="1755775"/>
          </a:xfrm>
          <a:prstGeom prst="rect">
            <a:avLst/>
          </a:prstGeom>
        </p:spPr>
        <p:txBody>
          <a:bodyPr lIns="0" tIns="0" rIns="0" bIns="0" rtlCol="0" anchor="t">
            <a:spAutoFit/>
          </a:bodyPr>
          <a:lstStyle/>
          <a:p>
            <a:pPr algn="ctr">
              <a:lnSpc>
                <a:spcPts val="3499"/>
              </a:lnSpc>
            </a:pPr>
            <a:endParaRPr/>
          </a:p>
          <a:p>
            <a:pPr marL="539746" lvl="1" indent="-269873" algn="l">
              <a:lnSpc>
                <a:spcPts val="3499"/>
              </a:lnSpc>
              <a:buFont typeface="Arial"/>
              <a:buChar char="•"/>
            </a:pPr>
            <a:r>
              <a:rPr lang="en-US" sz="2499">
                <a:solidFill>
                  <a:srgbClr val="000000"/>
                </a:solidFill>
                <a:latin typeface="Alatsi"/>
                <a:ea typeface="Alatsi"/>
                <a:cs typeface="Alatsi"/>
                <a:sym typeface="Alatsi"/>
              </a:rPr>
              <a:t>Al treilea algoritm folosit este Random care reprezintă baseline-ul pentru ceilalți 2 algoritmi.</a:t>
            </a:r>
          </a:p>
          <a:p>
            <a:pPr marL="539746" lvl="1" indent="-269873" algn="l">
              <a:lnSpc>
                <a:spcPts val="3499"/>
              </a:lnSpc>
              <a:buFont typeface="Arial"/>
              <a:buChar char="•"/>
            </a:pPr>
            <a:r>
              <a:rPr lang="en-US" sz="2499">
                <a:solidFill>
                  <a:srgbClr val="000000"/>
                </a:solidFill>
                <a:latin typeface="Alatsi"/>
                <a:ea typeface="Alatsi"/>
                <a:cs typeface="Alatsi"/>
                <a:sym typeface="Alatsi"/>
              </a:rPr>
              <a:t>Proces iterativ: populație → evaluare fitness → selecție → încrucișare și mutație → generație nouă</a:t>
            </a:r>
          </a:p>
          <a:p>
            <a:pPr algn="ctr">
              <a:lnSpc>
                <a:spcPts val="3499"/>
              </a:lnSpc>
              <a:spcBef>
                <a:spcPct val="0"/>
              </a:spcBef>
            </a:pPr>
            <a:endParaRPr lang="en-US" sz="2499">
              <a:solidFill>
                <a:srgbClr val="000000"/>
              </a:solidFill>
              <a:latin typeface="Alatsi"/>
              <a:ea typeface="Alatsi"/>
              <a:cs typeface="Alatsi"/>
              <a:sym typeface="Alats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2323795" y="3972679"/>
            <a:ext cx="2493406" cy="5945813"/>
          </a:xfrm>
          <a:custGeom>
            <a:avLst/>
            <a:gdLst/>
            <a:ahLst/>
            <a:cxnLst/>
            <a:rect l="l" t="t" r="r" b="b"/>
            <a:pathLst>
              <a:path w="2493406" h="5945813">
                <a:moveTo>
                  <a:pt x="0" y="0"/>
                </a:moveTo>
                <a:lnTo>
                  <a:pt x="2493406" y="0"/>
                </a:lnTo>
                <a:lnTo>
                  <a:pt x="2493406" y="5945814"/>
                </a:lnTo>
                <a:lnTo>
                  <a:pt x="0" y="5945814"/>
                </a:lnTo>
                <a:lnTo>
                  <a:pt x="0" y="0"/>
                </a:lnTo>
                <a:close/>
              </a:path>
            </a:pathLst>
          </a:custGeom>
          <a:blipFill>
            <a:blip r:embed="rId2"/>
            <a:stretch>
              <a:fillRect/>
            </a:stretch>
          </a:blipFill>
        </p:spPr>
      </p:sp>
      <p:grpSp>
        <p:nvGrpSpPr>
          <p:cNvPr id="3" name="Group 3"/>
          <p:cNvGrpSpPr/>
          <p:nvPr/>
        </p:nvGrpSpPr>
        <p:grpSpPr>
          <a:xfrm>
            <a:off x="5241354" y="5196964"/>
            <a:ext cx="4369389" cy="2133982"/>
            <a:chOff x="0" y="0"/>
            <a:chExt cx="1150786" cy="562037"/>
          </a:xfrm>
        </p:grpSpPr>
        <p:sp>
          <p:nvSpPr>
            <p:cNvPr id="4" name="Freeform 4"/>
            <p:cNvSpPr/>
            <p:nvPr/>
          </p:nvSpPr>
          <p:spPr>
            <a:xfrm>
              <a:off x="0" y="0"/>
              <a:ext cx="1150786" cy="562037"/>
            </a:xfrm>
            <a:custGeom>
              <a:avLst/>
              <a:gdLst/>
              <a:ahLst/>
              <a:cxnLst/>
              <a:rect l="l" t="t" r="r" b="b"/>
              <a:pathLst>
                <a:path w="1150786" h="562037">
                  <a:moveTo>
                    <a:pt x="1150786" y="281018"/>
                  </a:moveTo>
                  <a:lnTo>
                    <a:pt x="744386" y="0"/>
                  </a:lnTo>
                  <a:lnTo>
                    <a:pt x="744386" y="203200"/>
                  </a:lnTo>
                  <a:lnTo>
                    <a:pt x="0" y="203200"/>
                  </a:lnTo>
                  <a:lnTo>
                    <a:pt x="0" y="358837"/>
                  </a:lnTo>
                  <a:lnTo>
                    <a:pt x="744386" y="358837"/>
                  </a:lnTo>
                  <a:lnTo>
                    <a:pt x="744386" y="562037"/>
                  </a:lnTo>
                  <a:lnTo>
                    <a:pt x="1150786" y="281018"/>
                  </a:lnTo>
                  <a:close/>
                </a:path>
              </a:pathLst>
            </a:custGeom>
            <a:gradFill rotWithShape="1">
              <a:gsLst>
                <a:gs pos="0">
                  <a:srgbClr val="FFF7AD">
                    <a:alpha val="100000"/>
                  </a:srgbClr>
                </a:gs>
                <a:gs pos="100000">
                  <a:srgbClr val="FFA9F9">
                    <a:alpha val="100000"/>
                  </a:srgbClr>
                </a:gs>
              </a:gsLst>
              <a:lin ang="0"/>
            </a:gradFill>
          </p:spPr>
        </p:sp>
        <p:sp>
          <p:nvSpPr>
            <p:cNvPr id="5" name="TextBox 5"/>
            <p:cNvSpPr txBox="1"/>
            <p:nvPr/>
          </p:nvSpPr>
          <p:spPr>
            <a:xfrm>
              <a:off x="0" y="165100"/>
              <a:ext cx="1049186" cy="193737"/>
            </a:xfrm>
            <a:prstGeom prst="rect">
              <a:avLst/>
            </a:prstGeom>
          </p:spPr>
          <p:txBody>
            <a:bodyPr lIns="50800" tIns="50800" rIns="50800" bIns="50800" rtlCol="0" anchor="ctr"/>
            <a:lstStyle/>
            <a:p>
              <a:pPr algn="ctr">
                <a:lnSpc>
                  <a:spcPts val="2659"/>
                </a:lnSpc>
              </a:pPr>
              <a:r>
                <a:rPr lang="en-US" sz="1899">
                  <a:solidFill>
                    <a:srgbClr val="000000"/>
                  </a:solidFill>
                  <a:latin typeface="Alatsi"/>
                  <a:ea typeface="Alatsi"/>
                  <a:cs typeface="Alatsi"/>
                  <a:sym typeface="Alatsi"/>
                </a:rPr>
                <a:t>TC to Environment</a:t>
              </a:r>
            </a:p>
          </p:txBody>
        </p:sp>
      </p:grpSp>
      <p:sp>
        <p:nvSpPr>
          <p:cNvPr id="6" name="Freeform 6"/>
          <p:cNvSpPr/>
          <p:nvPr/>
        </p:nvSpPr>
        <p:spPr>
          <a:xfrm>
            <a:off x="10245543" y="3239124"/>
            <a:ext cx="6911398" cy="6911398"/>
          </a:xfrm>
          <a:custGeom>
            <a:avLst/>
            <a:gdLst/>
            <a:ahLst/>
            <a:cxnLst/>
            <a:rect l="l" t="t" r="r" b="b"/>
            <a:pathLst>
              <a:path w="6911398" h="6911398">
                <a:moveTo>
                  <a:pt x="0" y="0"/>
                </a:moveTo>
                <a:lnTo>
                  <a:pt x="6911399" y="0"/>
                </a:lnTo>
                <a:lnTo>
                  <a:pt x="6911399" y="6911398"/>
                </a:lnTo>
                <a:lnTo>
                  <a:pt x="0" y="6911398"/>
                </a:lnTo>
                <a:lnTo>
                  <a:pt x="0" y="0"/>
                </a:lnTo>
                <a:close/>
              </a:path>
            </a:pathLst>
          </a:custGeom>
          <a:blipFill>
            <a:blip r:embed="rId3"/>
            <a:stretch>
              <a:fillRect/>
            </a:stretch>
          </a:blipFill>
        </p:spPr>
      </p:sp>
      <p:sp>
        <p:nvSpPr>
          <p:cNvPr id="7" name="TextBox 7"/>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MOD DE FUNCȚIONARE</a:t>
            </a:r>
          </a:p>
        </p:txBody>
      </p:sp>
      <p:sp>
        <p:nvSpPr>
          <p:cNvPr id="8" name="TextBox 8"/>
          <p:cNvSpPr txBox="1"/>
          <p:nvPr/>
        </p:nvSpPr>
        <p:spPr>
          <a:xfrm>
            <a:off x="1028700" y="1797804"/>
            <a:ext cx="16230600" cy="21748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 IV. TC to Environment:</a:t>
            </a:r>
          </a:p>
          <a:p>
            <a:pPr marL="539748" lvl="1" indent="-269874" algn="l">
              <a:lnSpc>
                <a:spcPts val="3499"/>
              </a:lnSpc>
              <a:buFont typeface="Arial"/>
              <a:buChar char="•"/>
            </a:pPr>
            <a:r>
              <a:rPr lang="en-US" sz="2499">
                <a:solidFill>
                  <a:srgbClr val="000000"/>
                </a:solidFill>
                <a:latin typeface="Alatsi"/>
                <a:ea typeface="Alatsi"/>
                <a:cs typeface="Alatsi"/>
                <a:sym typeface="Alatsi"/>
              </a:rPr>
              <a:t>Funcție pentru transformarea unui test case (TC) într-un format adecvat modelului sistemului.</a:t>
            </a:r>
          </a:p>
          <a:p>
            <a:pPr marL="539748" lvl="1" indent="-269874" algn="l">
              <a:lnSpc>
                <a:spcPts val="3499"/>
              </a:lnSpc>
              <a:buFont typeface="Arial"/>
              <a:buChar char="•"/>
            </a:pPr>
            <a:r>
              <a:rPr lang="en-US" sz="2499">
                <a:solidFill>
                  <a:srgbClr val="000000"/>
                </a:solidFill>
                <a:latin typeface="Alatsi"/>
                <a:ea typeface="Alatsi"/>
                <a:cs typeface="Alatsi"/>
                <a:sym typeface="Alatsi"/>
              </a:rPr>
              <a:t>Exemple: pentru LKAS, inputul modelului este o listă 2D de coordonate ale punctelor care definesc topologia drumului.</a:t>
            </a:r>
          </a:p>
          <a:p>
            <a:pPr algn="l">
              <a:lnSpc>
                <a:spcPts val="3499"/>
              </a:lnSpc>
            </a:pPr>
            <a:endParaRPr lang="en-US" sz="2499">
              <a:solidFill>
                <a:srgbClr val="000000"/>
              </a:solidFill>
              <a:latin typeface="Alatsi"/>
              <a:ea typeface="Alatsi"/>
              <a:cs typeface="Alatsi"/>
              <a:sym typeface="Alats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2402624"/>
            <a:ext cx="15265255" cy="1747167"/>
          </a:xfrm>
          <a:prstGeom prst="rect">
            <a:avLst/>
          </a:prstGeom>
        </p:spPr>
        <p:txBody>
          <a:bodyPr lIns="0" tIns="0" rIns="0" bIns="0" rtlCol="0" anchor="t">
            <a:spAutoFit/>
          </a:bodyPr>
          <a:lstStyle/>
          <a:p>
            <a:pPr algn="l">
              <a:lnSpc>
                <a:spcPts val="3501"/>
              </a:lnSpc>
            </a:pPr>
            <a:r>
              <a:rPr lang="en-US" sz="2501">
                <a:solidFill>
                  <a:srgbClr val="000000"/>
                </a:solidFill>
                <a:latin typeface="Alatsi"/>
                <a:ea typeface="Alatsi"/>
                <a:cs typeface="Alatsi"/>
                <a:sym typeface="Alatsi"/>
              </a:rPr>
              <a:t>    V. Fitness Evaluation:</a:t>
            </a:r>
          </a:p>
          <a:p>
            <a:pPr marL="540039" lvl="1" indent="-270020" algn="l">
              <a:lnSpc>
                <a:spcPts val="3501"/>
              </a:lnSpc>
              <a:buFont typeface="Arial"/>
              <a:buChar char="•"/>
            </a:pPr>
            <a:r>
              <a:rPr lang="en-US" sz="2501">
                <a:solidFill>
                  <a:srgbClr val="000000"/>
                </a:solidFill>
                <a:latin typeface="Alatsi"/>
                <a:ea typeface="Alatsi"/>
                <a:cs typeface="Alatsi"/>
                <a:sym typeface="Alatsi"/>
              </a:rPr>
              <a:t>Evaluează fiecare scenariu pentru performanța hărții (abilitatea de a găsi probleme/defecte) și novelty.</a:t>
            </a:r>
          </a:p>
          <a:p>
            <a:pPr marL="540039" lvl="1" indent="-270020" algn="l">
              <a:lnSpc>
                <a:spcPts val="3501"/>
              </a:lnSpc>
              <a:buFont typeface="Arial"/>
              <a:buChar char="•"/>
            </a:pPr>
            <a:r>
              <a:rPr lang="en-US" sz="2501">
                <a:solidFill>
                  <a:srgbClr val="000000"/>
                </a:solidFill>
                <a:latin typeface="Alatsi"/>
                <a:ea typeface="Alatsi"/>
                <a:cs typeface="Alatsi"/>
                <a:sym typeface="Alatsi"/>
              </a:rPr>
              <a:t>Ex: În cazul vehiculelor autonome, fitness-ul măsoară cât de prost se menține pe drum.</a:t>
            </a:r>
          </a:p>
          <a:p>
            <a:pPr algn="l">
              <a:lnSpc>
                <a:spcPts val="3501"/>
              </a:lnSpc>
            </a:pPr>
            <a:endParaRPr lang="en-US" sz="2501">
              <a:solidFill>
                <a:srgbClr val="000000"/>
              </a:solidFill>
              <a:latin typeface="Alatsi"/>
              <a:ea typeface="Alatsi"/>
              <a:cs typeface="Alatsi"/>
              <a:sym typeface="Alatsi"/>
            </a:endParaRPr>
          </a:p>
        </p:txBody>
      </p:sp>
      <p:sp>
        <p:nvSpPr>
          <p:cNvPr id="3" name="TextBox 3"/>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MOD DE FUNCȚIONARE</a:t>
            </a:r>
          </a:p>
        </p:txBody>
      </p:sp>
      <p:sp>
        <p:nvSpPr>
          <p:cNvPr id="4" name="TextBox 4"/>
          <p:cNvSpPr txBox="1"/>
          <p:nvPr/>
        </p:nvSpPr>
        <p:spPr>
          <a:xfrm>
            <a:off x="1028700" y="5083231"/>
            <a:ext cx="6664601" cy="26320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Fitness-ul:</a:t>
            </a:r>
          </a:p>
          <a:p>
            <a:pPr marL="539748" lvl="1" indent="-269874" algn="l">
              <a:lnSpc>
                <a:spcPts val="3499"/>
              </a:lnSpc>
              <a:buFont typeface="Arial"/>
              <a:buChar char="•"/>
            </a:pPr>
            <a:r>
              <a:rPr lang="en-US" sz="2499">
                <a:solidFill>
                  <a:srgbClr val="000000"/>
                </a:solidFill>
                <a:latin typeface="Alatsi"/>
                <a:ea typeface="Alatsi"/>
                <a:cs typeface="Alatsi"/>
                <a:sym typeface="Alatsi"/>
              </a:rPr>
              <a:t>Măsoară performanța unei soluții în raport cu obiectivele definite.</a:t>
            </a:r>
          </a:p>
          <a:p>
            <a:pPr marL="539748" lvl="1" indent="-269874" algn="l">
              <a:lnSpc>
                <a:spcPts val="3499"/>
              </a:lnSpc>
              <a:buFont typeface="Arial"/>
              <a:buChar char="•"/>
            </a:pPr>
            <a:r>
              <a:rPr lang="en-US" sz="2499">
                <a:solidFill>
                  <a:srgbClr val="000000"/>
                </a:solidFill>
                <a:latin typeface="Alatsi"/>
                <a:ea typeface="Alatsi"/>
                <a:cs typeface="Alatsi"/>
                <a:sym typeface="Alatsi"/>
              </a:rPr>
              <a:t>Ex: Vehicule autonome - devierea maximă de la centrul drumului.</a:t>
            </a:r>
          </a:p>
          <a:p>
            <a:pPr algn="l">
              <a:lnSpc>
                <a:spcPts val="3499"/>
              </a:lnSpc>
            </a:pPr>
            <a:endParaRPr lang="en-US" sz="2499">
              <a:solidFill>
                <a:srgbClr val="000000"/>
              </a:solidFill>
              <a:latin typeface="Alatsi"/>
              <a:ea typeface="Alatsi"/>
              <a:cs typeface="Alatsi"/>
              <a:sym typeface="Alatsi"/>
            </a:endParaRPr>
          </a:p>
        </p:txBody>
      </p:sp>
      <p:sp>
        <p:nvSpPr>
          <p:cNvPr id="5" name="TextBox 5"/>
          <p:cNvSpPr txBox="1"/>
          <p:nvPr/>
        </p:nvSpPr>
        <p:spPr>
          <a:xfrm>
            <a:off x="9702003" y="5095875"/>
            <a:ext cx="7796133" cy="26320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Novelty:</a:t>
            </a:r>
          </a:p>
          <a:p>
            <a:pPr marL="539748" lvl="1" indent="-269874" algn="l">
              <a:lnSpc>
                <a:spcPts val="3499"/>
              </a:lnSpc>
              <a:buFont typeface="Arial"/>
              <a:buChar char="•"/>
            </a:pPr>
            <a:r>
              <a:rPr lang="en-US" sz="2499">
                <a:solidFill>
                  <a:srgbClr val="000000"/>
                </a:solidFill>
                <a:latin typeface="Alatsi"/>
                <a:ea typeface="Alatsi"/>
                <a:cs typeface="Alatsi"/>
                <a:sym typeface="Alatsi"/>
              </a:rPr>
              <a:t>Promovează diversitatea soluțiilor pentru a evita convergența pe soluții similare.</a:t>
            </a:r>
          </a:p>
          <a:p>
            <a:pPr marL="539748" lvl="1" indent="-269874" algn="l">
              <a:lnSpc>
                <a:spcPts val="3499"/>
              </a:lnSpc>
              <a:buFont typeface="Arial"/>
              <a:buChar char="•"/>
            </a:pPr>
            <a:r>
              <a:rPr lang="en-US" sz="2499">
                <a:solidFill>
                  <a:srgbClr val="000000"/>
                </a:solidFill>
                <a:latin typeface="Alatsi"/>
                <a:ea typeface="Alatsi"/>
                <a:cs typeface="Alatsi"/>
                <a:sym typeface="Alatsi"/>
              </a:rPr>
              <a:t>Calculată ca distanța medie între soluții folosind Jaccard sau alte metrici.</a:t>
            </a:r>
          </a:p>
          <a:p>
            <a:pPr algn="l">
              <a:lnSpc>
                <a:spcPts val="3499"/>
              </a:lnSpc>
            </a:pPr>
            <a:endParaRPr lang="en-US" sz="2499">
              <a:solidFill>
                <a:srgbClr val="000000"/>
              </a:solidFill>
              <a:latin typeface="Alatsi"/>
              <a:ea typeface="Alatsi"/>
              <a:cs typeface="Alatsi"/>
              <a:sym typeface="Alats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624199" y="1725968"/>
            <a:ext cx="16166855" cy="306641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Metricile principale pentru fitness:</a:t>
            </a:r>
          </a:p>
          <a:p>
            <a:pPr marL="539748" lvl="1" indent="-269874" algn="l">
              <a:lnSpc>
                <a:spcPts val="3499"/>
              </a:lnSpc>
              <a:buFont typeface="Arial"/>
              <a:buChar char="•"/>
            </a:pPr>
            <a:r>
              <a:rPr lang="en-US" sz="2499">
                <a:solidFill>
                  <a:srgbClr val="000000"/>
                </a:solidFill>
                <a:latin typeface="Alatsi"/>
                <a:ea typeface="Alatsi"/>
                <a:cs typeface="Alatsi"/>
                <a:sym typeface="Alatsi"/>
              </a:rPr>
              <a:t>Lungimea traseului:</a:t>
            </a:r>
          </a:p>
          <a:p>
            <a:pPr marL="1079496" lvl="2" indent="-359832" algn="l">
              <a:lnSpc>
                <a:spcPts val="3499"/>
              </a:lnSpc>
              <a:buFont typeface="Arial"/>
              <a:buChar char="⚬"/>
            </a:pPr>
            <a:r>
              <a:rPr lang="en-US" sz="2499">
                <a:solidFill>
                  <a:srgbClr val="000000"/>
                </a:solidFill>
                <a:latin typeface="Alatsi"/>
                <a:ea typeface="Alatsi"/>
                <a:cs typeface="Alatsi"/>
                <a:sym typeface="Alatsi"/>
              </a:rPr>
              <a:t>Formula: F = −total_path_length</a:t>
            </a:r>
          </a:p>
          <a:p>
            <a:pPr marL="539748" lvl="1" indent="-269874" algn="l">
              <a:lnSpc>
                <a:spcPts val="3499"/>
              </a:lnSpc>
              <a:buFont typeface="Arial"/>
              <a:buChar char="•"/>
            </a:pPr>
            <a:r>
              <a:rPr lang="en-US" sz="2499">
                <a:solidFill>
                  <a:srgbClr val="000000"/>
                </a:solidFill>
                <a:latin typeface="Alatsi"/>
                <a:ea typeface="Alatsi"/>
                <a:cs typeface="Alatsi"/>
                <a:sym typeface="Alatsi"/>
              </a:rPr>
              <a:t>Lungimea drumului se înmulțește cu -1 pentru a ne asigura ca framework-ul  Pymoo va alege soluția corectă (acesta minimizează rezultatele și noi dorim să maximizăm)</a:t>
            </a:r>
          </a:p>
          <a:p>
            <a:pPr marL="539748" lvl="1" indent="-269874" algn="l">
              <a:lnSpc>
                <a:spcPts val="3499"/>
              </a:lnSpc>
              <a:buFont typeface="Arial"/>
              <a:buChar char="•"/>
            </a:pPr>
            <a:r>
              <a:rPr lang="en-US" sz="2499">
                <a:solidFill>
                  <a:srgbClr val="000000"/>
                </a:solidFill>
                <a:latin typeface="Alatsi"/>
                <a:ea typeface="Alatsi"/>
                <a:cs typeface="Alatsi"/>
                <a:sym typeface="Alatsi"/>
              </a:rPr>
              <a:t>Penalizări pentru coliziuni cu obstacole.</a:t>
            </a:r>
          </a:p>
          <a:p>
            <a:pPr algn="l">
              <a:lnSpc>
                <a:spcPts val="3499"/>
              </a:lnSpc>
            </a:pPr>
            <a:endParaRPr lang="en-US" sz="2499">
              <a:solidFill>
                <a:srgbClr val="000000"/>
              </a:solidFill>
              <a:latin typeface="Alatsi"/>
              <a:ea typeface="Alatsi"/>
              <a:cs typeface="Alatsi"/>
              <a:sym typeface="Alatsi"/>
            </a:endParaRPr>
          </a:p>
        </p:txBody>
      </p:sp>
      <p:sp>
        <p:nvSpPr>
          <p:cNvPr id="3" name="TextBox 3"/>
          <p:cNvSpPr txBox="1"/>
          <p:nvPr/>
        </p:nvSpPr>
        <p:spPr>
          <a:xfrm>
            <a:off x="624199" y="5095875"/>
            <a:ext cx="13924842" cy="17557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Navigare în hartă:</a:t>
            </a:r>
          </a:p>
          <a:p>
            <a:pPr marL="539748" lvl="1" indent="-269874" algn="l">
              <a:lnSpc>
                <a:spcPts val="3499"/>
              </a:lnSpc>
              <a:buFont typeface="Arial"/>
              <a:buChar char="•"/>
            </a:pPr>
            <a:r>
              <a:rPr lang="en-US" sz="2499">
                <a:solidFill>
                  <a:srgbClr val="000000"/>
                </a:solidFill>
                <a:latin typeface="Alatsi"/>
                <a:ea typeface="Alatsi"/>
                <a:cs typeface="Alatsi"/>
                <a:sym typeface="Alatsi"/>
              </a:rPr>
              <a:t>Robotul trebuie să parcurgă o hartă generată pe baza parametrilor scenariului.</a:t>
            </a:r>
          </a:p>
          <a:p>
            <a:pPr marL="539748" lvl="1" indent="-269874" algn="l">
              <a:lnSpc>
                <a:spcPts val="3499"/>
              </a:lnSpc>
              <a:buFont typeface="Arial"/>
              <a:buChar char="•"/>
            </a:pPr>
            <a:r>
              <a:rPr lang="en-US" sz="2499">
                <a:solidFill>
                  <a:srgbClr val="000000"/>
                </a:solidFill>
                <a:latin typeface="Alatsi"/>
                <a:ea typeface="Alatsi"/>
                <a:cs typeface="Alatsi"/>
                <a:sym typeface="Alatsi"/>
              </a:rPr>
              <a:t>Se folosește un algoritm de planificare (A*) pentru a calcula traseul optim.</a:t>
            </a:r>
          </a:p>
          <a:p>
            <a:pPr algn="l">
              <a:lnSpc>
                <a:spcPts val="3499"/>
              </a:lnSpc>
            </a:pPr>
            <a:endParaRPr lang="en-US" sz="2499">
              <a:solidFill>
                <a:srgbClr val="000000"/>
              </a:solidFill>
              <a:latin typeface="Alatsi"/>
              <a:ea typeface="Alatsi"/>
              <a:cs typeface="Alatsi"/>
              <a:sym typeface="Alatsi"/>
            </a:endParaRPr>
          </a:p>
        </p:txBody>
      </p:sp>
      <p:sp>
        <p:nvSpPr>
          <p:cNvPr id="4" name="AutoShape 4"/>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5" name="AutoShape 5"/>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6" name="TextBox 6"/>
          <p:cNvSpPr txBox="1"/>
          <p:nvPr/>
        </p:nvSpPr>
        <p:spPr>
          <a:xfrm>
            <a:off x="624199" y="6956728"/>
            <a:ext cx="15377700" cy="1308100"/>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Obiectiv:</a:t>
            </a:r>
          </a:p>
          <a:p>
            <a:pPr marL="539749" lvl="1" indent="-269875" algn="l">
              <a:lnSpc>
                <a:spcPts val="3499"/>
              </a:lnSpc>
              <a:buFont typeface="Arial"/>
              <a:buChar char="•"/>
            </a:pPr>
            <a:r>
              <a:rPr lang="en-US" sz="2499">
                <a:solidFill>
                  <a:srgbClr val="000000"/>
                </a:solidFill>
                <a:latin typeface="Alatsi"/>
                <a:ea typeface="Alatsi"/>
                <a:cs typeface="Alatsi"/>
                <a:sym typeface="Alatsi"/>
              </a:rPr>
              <a:t>Generarea unor hărți care forțează robotul să utilizeze strategii complexe pentru a naviga printre obstacole sau să eșueze.</a:t>
            </a:r>
          </a:p>
        </p:txBody>
      </p:sp>
      <p:sp>
        <p:nvSpPr>
          <p:cNvPr id="7" name="TextBox 7"/>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FITNESS - ROBOTI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320667" y="3322284"/>
            <a:ext cx="15646667" cy="2632175"/>
          </a:xfrm>
          <a:prstGeom prst="rect">
            <a:avLst/>
          </a:prstGeom>
        </p:spPr>
        <p:txBody>
          <a:bodyPr lIns="0" tIns="0" rIns="0" bIns="0" rtlCol="0" anchor="t">
            <a:spAutoFit/>
          </a:bodyPr>
          <a:lstStyle/>
          <a:p>
            <a:pPr algn="l">
              <a:lnSpc>
                <a:spcPts val="3494"/>
              </a:lnSpc>
            </a:pPr>
            <a:r>
              <a:rPr lang="en-US" sz="2496">
                <a:solidFill>
                  <a:srgbClr val="000000"/>
                </a:solidFill>
                <a:latin typeface="Alatsi"/>
                <a:ea typeface="Alatsi"/>
                <a:cs typeface="Alatsi"/>
                <a:sym typeface="Alatsi"/>
              </a:rPr>
              <a:t>Metrica principală folosită pentru calcularea fitness-ului este devierea maximă de la centrul drumului.</a:t>
            </a:r>
          </a:p>
          <a:p>
            <a:pPr algn="l">
              <a:lnSpc>
                <a:spcPts val="3494"/>
              </a:lnSpc>
            </a:pPr>
            <a:r>
              <a:rPr lang="en-US" sz="2496">
                <a:solidFill>
                  <a:srgbClr val="000000"/>
                </a:solidFill>
                <a:latin typeface="Alatsi"/>
                <a:ea typeface="Alatsi"/>
                <a:cs typeface="Alatsi"/>
                <a:sym typeface="Alatsi"/>
              </a:rPr>
              <a:t>Penalizări:</a:t>
            </a:r>
          </a:p>
          <a:p>
            <a:pPr marL="538901" lvl="1" indent="-269450" algn="l">
              <a:lnSpc>
                <a:spcPts val="3494"/>
              </a:lnSpc>
              <a:buFont typeface="Arial"/>
              <a:buChar char="•"/>
            </a:pPr>
            <a:r>
              <a:rPr lang="en-US" sz="2496">
                <a:solidFill>
                  <a:srgbClr val="000000"/>
                </a:solidFill>
                <a:latin typeface="Alatsi"/>
                <a:ea typeface="Alatsi"/>
                <a:cs typeface="Alatsi"/>
                <a:sym typeface="Alatsi"/>
              </a:rPr>
              <a:t>Depășirea limitelor drumului sau ieșirea completă de pe acesta.</a:t>
            </a:r>
          </a:p>
          <a:p>
            <a:pPr algn="l">
              <a:lnSpc>
                <a:spcPts val="3494"/>
              </a:lnSpc>
            </a:pPr>
            <a:r>
              <a:rPr lang="en-US" sz="2496">
                <a:solidFill>
                  <a:srgbClr val="000000"/>
                </a:solidFill>
                <a:latin typeface="Alatsi"/>
                <a:ea typeface="Alatsi"/>
                <a:cs typeface="Alatsi"/>
                <a:sym typeface="Alatsi"/>
              </a:rPr>
              <a:t>Obiectiv: </a:t>
            </a:r>
          </a:p>
          <a:p>
            <a:pPr marL="538901" lvl="1" indent="-269450" algn="l">
              <a:lnSpc>
                <a:spcPts val="3494"/>
              </a:lnSpc>
              <a:buFont typeface="Arial"/>
              <a:buChar char="•"/>
            </a:pPr>
            <a:r>
              <a:rPr lang="en-US" sz="2496">
                <a:solidFill>
                  <a:srgbClr val="000000"/>
                </a:solidFill>
                <a:latin typeface="Alatsi"/>
                <a:ea typeface="Alatsi"/>
                <a:cs typeface="Alatsi"/>
                <a:sym typeface="Alatsi"/>
              </a:rPr>
              <a:t>Crearea de drumuri care maximizează deviația sistemului LKAS fără a crea scenarii imposibile.</a:t>
            </a:r>
          </a:p>
          <a:p>
            <a:pPr algn="l">
              <a:lnSpc>
                <a:spcPts val="3494"/>
              </a:lnSpc>
            </a:pPr>
            <a:endParaRPr lang="en-US" sz="2496">
              <a:solidFill>
                <a:srgbClr val="000000"/>
              </a:solidFill>
              <a:latin typeface="Alatsi"/>
              <a:ea typeface="Alatsi"/>
              <a:cs typeface="Alatsi"/>
              <a:sym typeface="Alatsi"/>
            </a:endParaRPr>
          </a:p>
        </p:txBody>
      </p:sp>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Freeform 5"/>
          <p:cNvSpPr/>
          <p:nvPr/>
        </p:nvSpPr>
        <p:spPr>
          <a:xfrm>
            <a:off x="-2845001" y="434334"/>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3601700" y="614206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FITNESS - VEHICULE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5986749" y="4899928"/>
            <a:ext cx="6314503" cy="4735877"/>
          </a:xfrm>
          <a:custGeom>
            <a:avLst/>
            <a:gdLst/>
            <a:ahLst/>
            <a:cxnLst/>
            <a:rect l="l" t="t" r="r" b="b"/>
            <a:pathLst>
              <a:path w="6314503" h="4735877">
                <a:moveTo>
                  <a:pt x="0" y="0"/>
                </a:moveTo>
                <a:lnTo>
                  <a:pt x="6314502" y="0"/>
                </a:lnTo>
                <a:lnTo>
                  <a:pt x="6314502" y="4735877"/>
                </a:lnTo>
                <a:lnTo>
                  <a:pt x="0" y="4735877"/>
                </a:lnTo>
                <a:lnTo>
                  <a:pt x="0" y="0"/>
                </a:lnTo>
                <a:close/>
              </a:path>
            </a:pathLst>
          </a:custGeom>
          <a:blipFill>
            <a:blip r:embed="rId2"/>
            <a:stretch>
              <a:fillRect/>
            </a:stretch>
          </a:blipFill>
        </p:spPr>
      </p:sp>
      <p:sp>
        <p:nvSpPr>
          <p:cNvPr id="3" name="TextBox 3"/>
          <p:cNvSpPr txBox="1"/>
          <p:nvPr/>
        </p:nvSpPr>
        <p:spPr>
          <a:xfrm>
            <a:off x="1525383" y="1397000"/>
            <a:ext cx="15237234" cy="3502928"/>
          </a:xfrm>
          <a:prstGeom prst="rect">
            <a:avLst/>
          </a:prstGeom>
        </p:spPr>
        <p:txBody>
          <a:bodyPr lIns="0" tIns="0" rIns="0" bIns="0" rtlCol="0" anchor="t">
            <a:spAutoFit/>
          </a:bodyPr>
          <a:lstStyle/>
          <a:p>
            <a:pPr algn="l">
              <a:lnSpc>
                <a:spcPts val="3494"/>
              </a:lnSpc>
            </a:pPr>
            <a:r>
              <a:rPr lang="en-US" sz="2496">
                <a:solidFill>
                  <a:srgbClr val="000000"/>
                </a:solidFill>
                <a:latin typeface="Alatsi"/>
                <a:ea typeface="Alatsi"/>
                <a:cs typeface="Alatsi"/>
                <a:sym typeface="Alatsi"/>
              </a:rPr>
              <a:t>Definiția Novelty:</a:t>
            </a:r>
          </a:p>
          <a:p>
            <a:pPr marL="538901" lvl="1" indent="-269451" algn="l">
              <a:lnSpc>
                <a:spcPts val="3494"/>
              </a:lnSpc>
              <a:buFont typeface="Arial"/>
              <a:buChar char="•"/>
            </a:pPr>
            <a:r>
              <a:rPr lang="en-US" sz="2496">
                <a:solidFill>
                  <a:srgbClr val="000000"/>
                </a:solidFill>
                <a:latin typeface="Alatsi"/>
                <a:ea typeface="Alatsi"/>
                <a:cs typeface="Alatsi"/>
                <a:sym typeface="Alatsi"/>
              </a:rPr>
              <a:t>Diversitatea hărților este măsurată prin caracteristici unice (distribuția obstacolelor).</a:t>
            </a:r>
          </a:p>
          <a:p>
            <a:pPr algn="l">
              <a:lnSpc>
                <a:spcPts val="3494"/>
              </a:lnSpc>
            </a:pPr>
            <a:r>
              <a:rPr lang="en-US" sz="2496">
                <a:solidFill>
                  <a:srgbClr val="000000"/>
                </a:solidFill>
                <a:latin typeface="Alatsi"/>
                <a:ea typeface="Alatsi"/>
                <a:cs typeface="Alatsi"/>
                <a:sym typeface="Alatsi"/>
              </a:rPr>
              <a:t>Calculul Novelty-ului:</a:t>
            </a:r>
          </a:p>
          <a:p>
            <a:pPr marL="538901" lvl="1" indent="-269451" algn="l">
              <a:lnSpc>
                <a:spcPts val="3494"/>
              </a:lnSpc>
              <a:buFont typeface="Arial"/>
              <a:buChar char="•"/>
            </a:pPr>
            <a:r>
              <a:rPr lang="en-US" sz="2496">
                <a:solidFill>
                  <a:srgbClr val="000000"/>
                </a:solidFill>
                <a:latin typeface="Alatsi"/>
                <a:ea typeface="Alatsi"/>
                <a:cs typeface="Alatsi"/>
                <a:sym typeface="Alatsi"/>
              </a:rPr>
              <a:t>Folosim distanța între hărți pe baza distribuției obstacolelor:  N = mean_distance(mapi,mapj)​</a:t>
            </a:r>
          </a:p>
          <a:p>
            <a:pPr marL="538901" lvl="1" indent="-269451" algn="l">
              <a:lnSpc>
                <a:spcPts val="3494"/>
              </a:lnSpc>
              <a:buFont typeface="Arial"/>
              <a:buChar char="•"/>
            </a:pPr>
            <a:r>
              <a:rPr lang="en-US" sz="2496">
                <a:solidFill>
                  <a:srgbClr val="000000"/>
                </a:solidFill>
                <a:latin typeface="Alatsi"/>
                <a:ea typeface="Alatsi"/>
                <a:cs typeface="Alatsi"/>
                <a:sym typeface="Alatsi"/>
              </a:rPr>
              <a:t>Comparația dintre toate perechile de soluții dintr-o populație.</a:t>
            </a:r>
          </a:p>
          <a:p>
            <a:pPr algn="l">
              <a:lnSpc>
                <a:spcPts val="3494"/>
              </a:lnSpc>
            </a:pPr>
            <a:r>
              <a:rPr lang="en-US" sz="2496">
                <a:solidFill>
                  <a:srgbClr val="000000"/>
                </a:solidFill>
                <a:latin typeface="Alatsi"/>
                <a:ea typeface="Alatsi"/>
                <a:cs typeface="Alatsi"/>
                <a:sym typeface="Alatsi"/>
              </a:rPr>
              <a:t>Rezultat:</a:t>
            </a:r>
          </a:p>
          <a:p>
            <a:pPr marL="538901" lvl="1" indent="-269451" algn="l">
              <a:lnSpc>
                <a:spcPts val="3494"/>
              </a:lnSpc>
              <a:buFont typeface="Arial"/>
              <a:buChar char="•"/>
            </a:pPr>
            <a:r>
              <a:rPr lang="en-US" sz="2496">
                <a:solidFill>
                  <a:srgbClr val="000000"/>
                </a:solidFill>
                <a:latin typeface="Alatsi"/>
                <a:ea typeface="Alatsi"/>
                <a:cs typeface="Alatsi"/>
                <a:sym typeface="Alatsi"/>
              </a:rPr>
              <a:t>Promovează generarea unor hărți cu configurații variabile, care testează diferite limite ale sistemului.</a:t>
            </a:r>
          </a:p>
          <a:p>
            <a:pPr algn="l">
              <a:lnSpc>
                <a:spcPts val="3494"/>
              </a:lnSpc>
            </a:pPr>
            <a:endParaRPr lang="en-US" sz="2496">
              <a:solidFill>
                <a:srgbClr val="000000"/>
              </a:solidFill>
              <a:latin typeface="Alatsi"/>
              <a:ea typeface="Alatsi"/>
              <a:cs typeface="Alatsi"/>
              <a:sym typeface="Alatsi"/>
            </a:endParaRPr>
          </a:p>
        </p:txBody>
      </p:sp>
      <p:sp>
        <p:nvSpPr>
          <p:cNvPr id="4" name="TextBox 4"/>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NOVELTY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1389557" y="1709081"/>
            <a:ext cx="5021800" cy="3989179"/>
          </a:xfrm>
          <a:custGeom>
            <a:avLst/>
            <a:gdLst/>
            <a:ahLst/>
            <a:cxnLst/>
            <a:rect l="l" t="t" r="r" b="b"/>
            <a:pathLst>
              <a:path w="5021800" h="3989179">
                <a:moveTo>
                  <a:pt x="0" y="0"/>
                </a:moveTo>
                <a:lnTo>
                  <a:pt x="5021800" y="0"/>
                </a:lnTo>
                <a:lnTo>
                  <a:pt x="5021800" y="3989179"/>
                </a:lnTo>
                <a:lnTo>
                  <a:pt x="0" y="3989179"/>
                </a:lnTo>
                <a:lnTo>
                  <a:pt x="0" y="0"/>
                </a:lnTo>
                <a:close/>
              </a:path>
            </a:pathLst>
          </a:custGeom>
          <a:blipFill>
            <a:blip r:embed="rId2"/>
            <a:stretch>
              <a:fillRect/>
            </a:stretch>
          </a:blipFill>
        </p:spPr>
      </p:sp>
      <p:sp>
        <p:nvSpPr>
          <p:cNvPr id="3" name="Freeform 3"/>
          <p:cNvSpPr/>
          <p:nvPr/>
        </p:nvSpPr>
        <p:spPr>
          <a:xfrm>
            <a:off x="2396185" y="7320237"/>
            <a:ext cx="5528339" cy="2093099"/>
          </a:xfrm>
          <a:custGeom>
            <a:avLst/>
            <a:gdLst/>
            <a:ahLst/>
            <a:cxnLst/>
            <a:rect l="l" t="t" r="r" b="b"/>
            <a:pathLst>
              <a:path w="5528339" h="2093099">
                <a:moveTo>
                  <a:pt x="0" y="0"/>
                </a:moveTo>
                <a:lnTo>
                  <a:pt x="5528338" y="0"/>
                </a:lnTo>
                <a:lnTo>
                  <a:pt x="5528338" y="2093100"/>
                </a:lnTo>
                <a:lnTo>
                  <a:pt x="0" y="2093100"/>
                </a:lnTo>
                <a:lnTo>
                  <a:pt x="0" y="0"/>
                </a:lnTo>
                <a:close/>
              </a:path>
            </a:pathLst>
          </a:custGeom>
          <a:blipFill>
            <a:blip r:embed="rId3"/>
            <a:stretch>
              <a:fillRect/>
            </a:stretch>
          </a:blipFill>
        </p:spPr>
      </p:sp>
      <p:sp>
        <p:nvSpPr>
          <p:cNvPr id="4" name="Freeform 4"/>
          <p:cNvSpPr/>
          <p:nvPr/>
        </p:nvSpPr>
        <p:spPr>
          <a:xfrm>
            <a:off x="10244836" y="6990485"/>
            <a:ext cx="5078080" cy="2752604"/>
          </a:xfrm>
          <a:custGeom>
            <a:avLst/>
            <a:gdLst/>
            <a:ahLst/>
            <a:cxnLst/>
            <a:rect l="l" t="t" r="r" b="b"/>
            <a:pathLst>
              <a:path w="5078080" h="2752604">
                <a:moveTo>
                  <a:pt x="0" y="0"/>
                </a:moveTo>
                <a:lnTo>
                  <a:pt x="5078080" y="0"/>
                </a:lnTo>
                <a:lnTo>
                  <a:pt x="5078080" y="2752604"/>
                </a:lnTo>
                <a:lnTo>
                  <a:pt x="0" y="2752604"/>
                </a:lnTo>
                <a:lnTo>
                  <a:pt x="0" y="0"/>
                </a:lnTo>
                <a:close/>
              </a:path>
            </a:pathLst>
          </a:custGeom>
          <a:blipFill>
            <a:blip r:embed="rId4"/>
            <a:stretch>
              <a:fillRect/>
            </a:stretch>
          </a:blipFill>
        </p:spPr>
      </p:sp>
      <p:sp>
        <p:nvSpPr>
          <p:cNvPr id="5" name="TextBox 5"/>
          <p:cNvSpPr txBox="1"/>
          <p:nvPr/>
        </p:nvSpPr>
        <p:spPr>
          <a:xfrm>
            <a:off x="1179520" y="4358410"/>
            <a:ext cx="12720937" cy="26320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VII Mutation:</a:t>
            </a:r>
          </a:p>
          <a:p>
            <a:pPr marL="539749" lvl="1" indent="-269875" algn="l">
              <a:lnSpc>
                <a:spcPts val="3499"/>
              </a:lnSpc>
              <a:buFont typeface="Arial"/>
              <a:buChar char="•"/>
            </a:pPr>
            <a:r>
              <a:rPr lang="en-US" sz="2499">
                <a:solidFill>
                  <a:srgbClr val="000000"/>
                </a:solidFill>
                <a:latin typeface="Alatsi"/>
                <a:ea typeface="Alatsi"/>
                <a:cs typeface="Alatsi"/>
                <a:sym typeface="Alatsi"/>
              </a:rPr>
              <a:t>Clasă care implementează operatorul de mutație.</a:t>
            </a:r>
          </a:p>
          <a:p>
            <a:pPr marL="539749" lvl="1" indent="-269875" algn="l">
              <a:lnSpc>
                <a:spcPts val="3499"/>
              </a:lnSpc>
              <a:buFont typeface="Arial"/>
              <a:buChar char="•"/>
            </a:pPr>
            <a:r>
              <a:rPr lang="en-US" sz="2499">
                <a:solidFill>
                  <a:srgbClr val="000000"/>
                </a:solidFill>
                <a:latin typeface="Alatsi"/>
                <a:ea typeface="Alatsi"/>
                <a:cs typeface="Alatsi"/>
                <a:sym typeface="Alatsi"/>
              </a:rPr>
              <a:t>Două tipuri de mutații:</a:t>
            </a:r>
          </a:p>
          <a:p>
            <a:pPr marL="539749" lvl="1" indent="-269875" algn="l">
              <a:lnSpc>
                <a:spcPts val="3499"/>
              </a:lnSpc>
              <a:buAutoNum type="arabicPeriod"/>
            </a:pPr>
            <a:r>
              <a:rPr lang="en-US" sz="2499">
                <a:solidFill>
                  <a:srgbClr val="000000"/>
                </a:solidFill>
                <a:latin typeface="Alatsi"/>
                <a:ea typeface="Alatsi"/>
                <a:cs typeface="Alatsi"/>
                <a:sym typeface="Alatsi"/>
              </a:rPr>
              <a:t>Exchange: Schimbă două coloane aleatorii ale testului.</a:t>
            </a:r>
          </a:p>
          <a:p>
            <a:pPr marL="539749" lvl="1" indent="-269875" algn="l">
              <a:lnSpc>
                <a:spcPts val="3499"/>
              </a:lnSpc>
              <a:buAutoNum type="arabicPeriod"/>
            </a:pPr>
            <a:r>
              <a:rPr lang="en-US" sz="2499">
                <a:solidFill>
                  <a:srgbClr val="000000"/>
                </a:solidFill>
                <a:latin typeface="Alatsi"/>
                <a:ea typeface="Alatsi"/>
                <a:cs typeface="Alatsi"/>
                <a:sym typeface="Alatsi"/>
              </a:rPr>
              <a:t>Change of variable: Schimbă aleatoriu valoarea unui parametru în matricea testului.</a:t>
            </a:r>
          </a:p>
          <a:p>
            <a:pPr algn="l">
              <a:lnSpc>
                <a:spcPts val="3499"/>
              </a:lnSpc>
            </a:pPr>
            <a:endParaRPr lang="en-US" sz="2499">
              <a:solidFill>
                <a:srgbClr val="000000"/>
              </a:solidFill>
              <a:latin typeface="Alatsi"/>
              <a:ea typeface="Alatsi"/>
              <a:cs typeface="Alatsi"/>
              <a:sym typeface="Alatsi"/>
            </a:endParaRPr>
          </a:p>
        </p:txBody>
      </p:sp>
      <p:sp>
        <p:nvSpPr>
          <p:cNvPr id="6" name="TextBox 6"/>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MOD DE FUNCȚIONARE</a:t>
            </a:r>
          </a:p>
        </p:txBody>
      </p:sp>
      <p:sp>
        <p:nvSpPr>
          <p:cNvPr id="7" name="TextBox 7"/>
          <p:cNvSpPr txBox="1"/>
          <p:nvPr/>
        </p:nvSpPr>
        <p:spPr>
          <a:xfrm>
            <a:off x="1028700" y="1887586"/>
            <a:ext cx="7945298" cy="21748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    VI. Crossover:</a:t>
            </a:r>
          </a:p>
          <a:p>
            <a:pPr marL="539749" lvl="1" indent="-269875" algn="l">
              <a:lnSpc>
                <a:spcPts val="3499"/>
              </a:lnSpc>
              <a:buFont typeface="Arial"/>
              <a:buChar char="•"/>
            </a:pPr>
            <a:r>
              <a:rPr lang="en-US" sz="2499">
                <a:solidFill>
                  <a:srgbClr val="000000"/>
                </a:solidFill>
                <a:latin typeface="Alatsi"/>
                <a:ea typeface="Alatsi"/>
                <a:cs typeface="Alatsi"/>
                <a:sym typeface="Alatsi"/>
              </a:rPr>
              <a:t>Clasă care definește operatorul de încrucișare.</a:t>
            </a:r>
          </a:p>
          <a:p>
            <a:pPr marL="539749" lvl="1" indent="-269875" algn="l">
              <a:lnSpc>
                <a:spcPts val="3499"/>
              </a:lnSpc>
              <a:buFont typeface="Arial"/>
              <a:buChar char="•"/>
            </a:pPr>
            <a:r>
              <a:rPr lang="en-US" sz="2499">
                <a:solidFill>
                  <a:srgbClr val="000000"/>
                </a:solidFill>
                <a:latin typeface="Alatsi"/>
                <a:ea typeface="Alatsi"/>
                <a:cs typeface="Alatsi"/>
                <a:sym typeface="Alatsi"/>
              </a:rPr>
              <a:t>În prezent, se folosește încrucișarea de tip one-point pentru soluții de lungime fixă și variabilă. </a:t>
            </a:r>
          </a:p>
          <a:p>
            <a:pPr algn="l">
              <a:lnSpc>
                <a:spcPts val="3499"/>
              </a:lnSpc>
            </a:pPr>
            <a:endParaRPr lang="en-US" sz="2499">
              <a:solidFill>
                <a:srgbClr val="000000"/>
              </a:solidFill>
              <a:latin typeface="Alatsi"/>
              <a:ea typeface="Alatsi"/>
              <a:cs typeface="Alatsi"/>
              <a:sym typeface="Alats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028700" y="5143500"/>
            <a:ext cx="4785052" cy="3588789"/>
          </a:xfrm>
          <a:custGeom>
            <a:avLst/>
            <a:gdLst/>
            <a:ahLst/>
            <a:cxnLst/>
            <a:rect l="l" t="t" r="r" b="b"/>
            <a:pathLst>
              <a:path w="4785052" h="3588789">
                <a:moveTo>
                  <a:pt x="0" y="0"/>
                </a:moveTo>
                <a:lnTo>
                  <a:pt x="4785052" y="0"/>
                </a:lnTo>
                <a:lnTo>
                  <a:pt x="4785052" y="3588789"/>
                </a:lnTo>
                <a:lnTo>
                  <a:pt x="0" y="3588789"/>
                </a:lnTo>
                <a:lnTo>
                  <a:pt x="0" y="0"/>
                </a:lnTo>
                <a:close/>
              </a:path>
            </a:pathLst>
          </a:custGeom>
          <a:blipFill>
            <a:blip r:embed="rId2"/>
            <a:stretch>
              <a:fillRect/>
            </a:stretch>
          </a:blipFill>
        </p:spPr>
      </p:sp>
      <p:sp>
        <p:nvSpPr>
          <p:cNvPr id="3" name="Freeform 3"/>
          <p:cNvSpPr/>
          <p:nvPr/>
        </p:nvSpPr>
        <p:spPr>
          <a:xfrm>
            <a:off x="6759079" y="5143500"/>
            <a:ext cx="4769843" cy="3588789"/>
          </a:xfrm>
          <a:custGeom>
            <a:avLst/>
            <a:gdLst/>
            <a:ahLst/>
            <a:cxnLst/>
            <a:rect l="l" t="t" r="r" b="b"/>
            <a:pathLst>
              <a:path w="4769843" h="3588789">
                <a:moveTo>
                  <a:pt x="0" y="0"/>
                </a:moveTo>
                <a:lnTo>
                  <a:pt x="4769842" y="0"/>
                </a:lnTo>
                <a:lnTo>
                  <a:pt x="4769842" y="3588789"/>
                </a:lnTo>
                <a:lnTo>
                  <a:pt x="0" y="3588789"/>
                </a:lnTo>
                <a:lnTo>
                  <a:pt x="0" y="0"/>
                </a:lnTo>
                <a:close/>
              </a:path>
            </a:pathLst>
          </a:custGeom>
          <a:blipFill>
            <a:blip r:embed="rId3"/>
            <a:stretch>
              <a:fillRect l="-318"/>
            </a:stretch>
          </a:blipFill>
        </p:spPr>
      </p:sp>
      <p:sp>
        <p:nvSpPr>
          <p:cNvPr id="4" name="Freeform 4"/>
          <p:cNvSpPr/>
          <p:nvPr/>
        </p:nvSpPr>
        <p:spPr>
          <a:xfrm>
            <a:off x="12474248" y="5143500"/>
            <a:ext cx="4785052" cy="3588789"/>
          </a:xfrm>
          <a:custGeom>
            <a:avLst/>
            <a:gdLst/>
            <a:ahLst/>
            <a:cxnLst/>
            <a:rect l="l" t="t" r="r" b="b"/>
            <a:pathLst>
              <a:path w="4785052" h="3588789">
                <a:moveTo>
                  <a:pt x="0" y="0"/>
                </a:moveTo>
                <a:lnTo>
                  <a:pt x="4785052" y="0"/>
                </a:lnTo>
                <a:lnTo>
                  <a:pt x="4785052" y="3588789"/>
                </a:lnTo>
                <a:lnTo>
                  <a:pt x="0" y="3588789"/>
                </a:lnTo>
                <a:lnTo>
                  <a:pt x="0" y="0"/>
                </a:lnTo>
                <a:close/>
              </a:path>
            </a:pathLst>
          </a:custGeom>
          <a:blipFill>
            <a:blip r:embed="rId4"/>
            <a:stretch>
              <a:fillRect/>
            </a:stretch>
          </a:blipFill>
        </p:spPr>
      </p:sp>
      <p:sp>
        <p:nvSpPr>
          <p:cNvPr id="5" name="TextBox 5"/>
          <p:cNvSpPr txBox="1"/>
          <p:nvPr/>
        </p:nvSpPr>
        <p:spPr>
          <a:xfrm>
            <a:off x="1028700" y="2401887"/>
            <a:ext cx="16230600" cy="17367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VIII:Post Processing:</a:t>
            </a:r>
          </a:p>
          <a:p>
            <a:pPr marL="539749" lvl="1" indent="-269875" algn="l">
              <a:lnSpc>
                <a:spcPts val="3499"/>
              </a:lnSpc>
              <a:buFont typeface="Arial"/>
              <a:buChar char="•"/>
            </a:pPr>
            <a:r>
              <a:rPr lang="en-US" sz="2499">
                <a:solidFill>
                  <a:srgbClr val="000000"/>
                </a:solidFill>
                <a:latin typeface="Alatsi"/>
                <a:ea typeface="Alatsi"/>
                <a:cs typeface="Alatsi"/>
                <a:sym typeface="Alatsi"/>
              </a:rPr>
              <a:t>Modul de post-procesare care include funcții pentru gestionarea testelor</a:t>
            </a:r>
          </a:p>
          <a:p>
            <a:pPr marL="539749" lvl="1" indent="-269875" algn="l">
              <a:lnSpc>
                <a:spcPts val="3499"/>
              </a:lnSpc>
              <a:buFont typeface="Arial"/>
              <a:buChar char="•"/>
            </a:pPr>
            <a:r>
              <a:rPr lang="en-US" sz="2499">
                <a:solidFill>
                  <a:srgbClr val="000000"/>
                </a:solidFill>
                <a:latin typeface="Alatsi"/>
                <a:ea typeface="Alatsi"/>
                <a:cs typeface="Alatsi"/>
                <a:sym typeface="Alatsi"/>
              </a:rPr>
              <a:t>Exemple: extragerea testelor, gestionarea statisticilor, salvarea imaginilor de test.</a:t>
            </a:r>
          </a:p>
          <a:p>
            <a:pPr algn="l">
              <a:lnSpc>
                <a:spcPts val="3499"/>
              </a:lnSpc>
            </a:pPr>
            <a:endParaRPr lang="en-US" sz="2499">
              <a:solidFill>
                <a:srgbClr val="000000"/>
              </a:solidFill>
              <a:latin typeface="Alatsi"/>
              <a:ea typeface="Alatsi"/>
              <a:cs typeface="Alatsi"/>
              <a:sym typeface="Alatsi"/>
            </a:endParaRPr>
          </a:p>
        </p:txBody>
      </p:sp>
      <p:sp>
        <p:nvSpPr>
          <p:cNvPr id="6" name="TextBox 6"/>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MOD DE FUNCȚIONARE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7789731" y="4911523"/>
            <a:ext cx="9469569" cy="4521719"/>
          </a:xfrm>
          <a:custGeom>
            <a:avLst/>
            <a:gdLst/>
            <a:ahLst/>
            <a:cxnLst/>
            <a:rect l="l" t="t" r="r" b="b"/>
            <a:pathLst>
              <a:path w="9469569" h="4521719">
                <a:moveTo>
                  <a:pt x="0" y="0"/>
                </a:moveTo>
                <a:lnTo>
                  <a:pt x="9469569" y="0"/>
                </a:lnTo>
                <a:lnTo>
                  <a:pt x="9469569" y="4521719"/>
                </a:lnTo>
                <a:lnTo>
                  <a:pt x="0" y="4521719"/>
                </a:lnTo>
                <a:lnTo>
                  <a:pt x="0" y="0"/>
                </a:lnTo>
                <a:close/>
              </a:path>
            </a:pathLst>
          </a:custGeom>
          <a:blipFill>
            <a:blip r:embed="rId2"/>
            <a:stretch>
              <a:fillRect/>
            </a:stretch>
          </a:blipFill>
        </p:spPr>
      </p:sp>
      <p:sp>
        <p:nvSpPr>
          <p:cNvPr id="3" name="TextBox 3"/>
          <p:cNvSpPr txBox="1"/>
          <p:nvPr/>
        </p:nvSpPr>
        <p:spPr>
          <a:xfrm>
            <a:off x="1028700" y="2110528"/>
            <a:ext cx="16230600" cy="2613025"/>
          </a:xfrm>
          <a:prstGeom prst="rect">
            <a:avLst/>
          </a:prstGeom>
        </p:spPr>
        <p:txBody>
          <a:bodyPr lIns="0" tIns="0" rIns="0" bIns="0" rtlCol="0" anchor="t">
            <a:spAutoFit/>
          </a:bodyPr>
          <a:lstStyle/>
          <a:p>
            <a:pPr algn="l">
              <a:lnSpc>
                <a:spcPts val="3499"/>
              </a:lnSpc>
            </a:pPr>
            <a:r>
              <a:rPr lang="en-US" sz="2499" dirty="0" err="1">
                <a:solidFill>
                  <a:srgbClr val="000000"/>
                </a:solidFill>
                <a:latin typeface="Alatsi"/>
                <a:ea typeface="Alatsi"/>
                <a:cs typeface="Alatsi"/>
                <a:sym typeface="Alatsi"/>
              </a:rPr>
              <a:t>IX:Configuration</a:t>
            </a:r>
            <a:r>
              <a:rPr lang="en-US" sz="2499" dirty="0">
                <a:solidFill>
                  <a:srgbClr val="000000"/>
                </a:solidFill>
                <a:latin typeface="Alatsi"/>
                <a:ea typeface="Alatsi"/>
                <a:cs typeface="Alatsi"/>
                <a:sym typeface="Alatsi"/>
              </a:rPr>
              <a:t> File:</a:t>
            </a:r>
          </a:p>
          <a:p>
            <a:pPr marL="539749" lvl="1" indent="-269875" algn="l">
              <a:lnSpc>
                <a:spcPts val="3499"/>
              </a:lnSpc>
              <a:buFont typeface="Arial"/>
              <a:buChar char="•"/>
            </a:pPr>
            <a:r>
              <a:rPr lang="en-US" sz="2499" dirty="0" err="1">
                <a:solidFill>
                  <a:srgbClr val="000000"/>
                </a:solidFill>
                <a:latin typeface="Alatsi"/>
                <a:ea typeface="Alatsi"/>
                <a:cs typeface="Alatsi"/>
                <a:sym typeface="Alatsi"/>
              </a:rPr>
              <a:t>Fișier</a:t>
            </a:r>
            <a:r>
              <a:rPr lang="en-US" sz="2499" dirty="0">
                <a:solidFill>
                  <a:srgbClr val="000000"/>
                </a:solidFill>
                <a:latin typeface="Alatsi"/>
                <a:ea typeface="Alatsi"/>
                <a:cs typeface="Alatsi"/>
                <a:sym typeface="Alatsi"/>
              </a:rPr>
              <a:t> de </a:t>
            </a:r>
            <a:r>
              <a:rPr lang="en-US" sz="2499" dirty="0" err="1">
                <a:solidFill>
                  <a:srgbClr val="000000"/>
                </a:solidFill>
                <a:latin typeface="Alatsi"/>
                <a:ea typeface="Alatsi"/>
                <a:cs typeface="Alatsi"/>
                <a:sym typeface="Alatsi"/>
              </a:rPr>
              <a:t>configurare</a:t>
            </a:r>
            <a:r>
              <a:rPr lang="en-US" sz="2499" dirty="0">
                <a:solidFill>
                  <a:srgbClr val="000000"/>
                </a:solidFill>
                <a:latin typeface="Alatsi"/>
                <a:ea typeface="Alatsi"/>
                <a:cs typeface="Alatsi"/>
                <a:sym typeface="Alatsi"/>
              </a:rPr>
              <a:t> care </a:t>
            </a:r>
            <a:r>
              <a:rPr lang="en-US" sz="2499" dirty="0" err="1">
                <a:solidFill>
                  <a:srgbClr val="000000"/>
                </a:solidFill>
                <a:latin typeface="Alatsi"/>
                <a:ea typeface="Alatsi"/>
                <a:cs typeface="Alatsi"/>
                <a:sym typeface="Alatsi"/>
              </a:rPr>
              <a:t>definește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parametrii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algoritmului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mărimea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populației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numărul</a:t>
            </a:r>
            <a:r>
              <a:rPr lang="en-US" sz="2499" dirty="0">
                <a:solidFill>
                  <a:srgbClr val="000000"/>
                </a:solidFill>
                <a:latin typeface="Alatsi"/>
                <a:ea typeface="Alatsi"/>
                <a:cs typeface="Alatsi"/>
                <a:sym typeface="Alatsi"/>
              </a:rPr>
              <a:t> de </a:t>
            </a:r>
            <a:r>
              <a:rPr lang="en-US" sz="2499" dirty="0" err="1">
                <a:solidFill>
                  <a:srgbClr val="000000"/>
                </a:solidFill>
                <a:latin typeface="Alatsi"/>
                <a:ea typeface="Alatsi"/>
                <a:cs typeface="Alatsi"/>
                <a:sym typeface="Alatsi"/>
              </a:rPr>
              <a:t>generații</a:t>
            </a:r>
            <a:r>
              <a:rPr lang="en-US" sz="2499" dirty="0">
                <a:solidFill>
                  <a:srgbClr val="000000"/>
                </a:solidFill>
                <a:latin typeface="Alatsi"/>
                <a:ea typeface="Alatsi"/>
                <a:cs typeface="Alatsi"/>
                <a:sym typeface="Alatsi"/>
              </a:rPr>
              <a:t>, rata de </a:t>
            </a:r>
            <a:r>
              <a:rPr lang="en-US" sz="2499" dirty="0" err="1">
                <a:solidFill>
                  <a:srgbClr val="000000"/>
                </a:solidFill>
                <a:latin typeface="Alatsi"/>
                <a:ea typeface="Alatsi"/>
                <a:cs typeface="Alatsi"/>
                <a:sym typeface="Alatsi"/>
              </a:rPr>
              <a:t>încrucișare</a:t>
            </a:r>
            <a:r>
              <a:rPr lang="en-US" sz="2499" dirty="0">
                <a:solidFill>
                  <a:srgbClr val="000000"/>
                </a:solidFill>
                <a:latin typeface="Alatsi"/>
                <a:ea typeface="Alatsi"/>
                <a:cs typeface="Alatsi"/>
                <a:sym typeface="Alatsi"/>
              </a:rPr>
              <a:t>/</a:t>
            </a:r>
            <a:r>
              <a:rPr lang="en-US" sz="2499" dirty="0" err="1">
                <a:solidFill>
                  <a:srgbClr val="000000"/>
                </a:solidFill>
                <a:latin typeface="Alatsi"/>
                <a:ea typeface="Alatsi"/>
                <a:cs typeface="Alatsi"/>
                <a:sym typeface="Alatsi"/>
              </a:rPr>
              <a:t>mutație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și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mărimea</a:t>
            </a:r>
            <a:r>
              <a:rPr lang="en-US" sz="2499" dirty="0">
                <a:solidFill>
                  <a:srgbClr val="000000"/>
                </a:solidFill>
                <a:latin typeface="Alatsi"/>
                <a:ea typeface="Alatsi"/>
                <a:cs typeface="Alatsi"/>
                <a:sym typeface="Alatsi"/>
              </a:rPr>
              <a:t> suite-</a:t>
            </a:r>
            <a:r>
              <a:rPr lang="en-US" sz="2499" dirty="0" err="1">
                <a:solidFill>
                  <a:srgbClr val="000000"/>
                </a:solidFill>
                <a:latin typeface="Alatsi"/>
                <a:ea typeface="Alatsi"/>
                <a:cs typeface="Alatsi"/>
                <a:sym typeface="Alatsi"/>
              </a:rPr>
              <a:t>ului</a:t>
            </a:r>
            <a:r>
              <a:rPr lang="en-US" sz="2499" dirty="0">
                <a:solidFill>
                  <a:srgbClr val="000000"/>
                </a:solidFill>
                <a:latin typeface="Alatsi"/>
                <a:ea typeface="Alatsi"/>
                <a:cs typeface="Alatsi"/>
                <a:sym typeface="Alatsi"/>
              </a:rPr>
              <a:t> de teste.</a:t>
            </a:r>
          </a:p>
          <a:p>
            <a:pPr marL="539749" lvl="1" indent="-269875" algn="l">
              <a:lnSpc>
                <a:spcPts val="3499"/>
              </a:lnSpc>
              <a:buFont typeface="Arial"/>
              <a:buChar char="•"/>
            </a:pPr>
            <a:r>
              <a:rPr lang="en-US" sz="2499" dirty="0" err="1">
                <a:solidFill>
                  <a:srgbClr val="000000"/>
                </a:solidFill>
                <a:latin typeface="Alatsi"/>
                <a:ea typeface="Alatsi"/>
                <a:cs typeface="Alatsi"/>
                <a:sym typeface="Alatsi"/>
              </a:rPr>
              <a:t>Permite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specificarea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intervalelor</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permise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pentru</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parametrii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testului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și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căile</a:t>
            </a:r>
            <a:r>
              <a:rPr lang="en-US" sz="2499" dirty="0">
                <a:solidFill>
                  <a:srgbClr val="000000"/>
                </a:solidFill>
                <a:latin typeface="Alatsi"/>
                <a:ea typeface="Alatsi"/>
                <a:cs typeface="Alatsi"/>
                <a:sym typeface="Alatsi"/>
              </a:rPr>
              <a:t> de </a:t>
            </a:r>
            <a:r>
              <a:rPr lang="en-US" sz="2499" dirty="0" err="1">
                <a:solidFill>
                  <a:srgbClr val="000000"/>
                </a:solidFill>
                <a:latin typeface="Alatsi"/>
                <a:ea typeface="Alatsi"/>
                <a:cs typeface="Alatsi"/>
                <a:sym typeface="Alatsi"/>
              </a:rPr>
              <a:t>salvare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pentru</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suitele</a:t>
            </a:r>
            <a:r>
              <a:rPr lang="en-US" sz="2499" dirty="0">
                <a:solidFill>
                  <a:srgbClr val="000000"/>
                </a:solidFill>
                <a:latin typeface="Alatsi"/>
                <a:ea typeface="Alatsi"/>
                <a:cs typeface="Alatsi"/>
                <a:sym typeface="Alatsi"/>
              </a:rPr>
              <a:t> de teste </a:t>
            </a:r>
            <a:r>
              <a:rPr lang="en-US" sz="2499" dirty="0" err="1">
                <a:solidFill>
                  <a:srgbClr val="000000"/>
                </a:solidFill>
                <a:latin typeface="Alatsi"/>
                <a:ea typeface="Alatsi"/>
                <a:cs typeface="Alatsi"/>
                <a:sym typeface="Alatsi"/>
              </a:rPr>
              <a:t>și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metadatele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acestora</a:t>
            </a:r>
            <a:r>
              <a:rPr lang="en-US" sz="2499" dirty="0">
                <a:solidFill>
                  <a:srgbClr val="000000"/>
                </a:solidFill>
                <a:latin typeface="Alatsi"/>
                <a:ea typeface="Alatsi"/>
                <a:cs typeface="Alatsi"/>
                <a:sym typeface="Alatsi"/>
              </a:rPr>
              <a:t>.</a:t>
            </a:r>
          </a:p>
          <a:p>
            <a:pPr algn="l">
              <a:lnSpc>
                <a:spcPts val="3499"/>
              </a:lnSpc>
            </a:pPr>
            <a:endParaRPr lang="en-US" sz="2499" dirty="0">
              <a:solidFill>
                <a:srgbClr val="000000"/>
              </a:solidFill>
              <a:latin typeface="Alatsi"/>
              <a:ea typeface="Alatsi"/>
              <a:cs typeface="Alatsi"/>
              <a:sym typeface="Alatsi"/>
            </a:endParaRPr>
          </a:p>
        </p:txBody>
      </p:sp>
      <p:sp>
        <p:nvSpPr>
          <p:cNvPr id="4" name="TextBox 4"/>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MOD DE FUNCȚIONARE</a:t>
            </a:r>
          </a:p>
        </p:txBody>
      </p:sp>
      <p:sp>
        <p:nvSpPr>
          <p:cNvPr id="5" name="TextBox 5"/>
          <p:cNvSpPr txBox="1"/>
          <p:nvPr/>
        </p:nvSpPr>
        <p:spPr>
          <a:xfrm>
            <a:off x="1028700" y="4675928"/>
            <a:ext cx="6139787" cy="4460324"/>
          </a:xfrm>
          <a:prstGeom prst="rect">
            <a:avLst/>
          </a:prstGeom>
        </p:spPr>
        <p:txBody>
          <a:bodyPr lIns="0" tIns="0" rIns="0" bIns="0" rtlCol="0" anchor="t">
            <a:spAutoFit/>
          </a:bodyPr>
          <a:lstStyle/>
          <a:p>
            <a:pPr algn="l">
              <a:lnSpc>
                <a:spcPts val="3500"/>
              </a:lnSpc>
            </a:pPr>
            <a:r>
              <a:rPr lang="en-US" sz="2500" dirty="0" err="1">
                <a:solidFill>
                  <a:srgbClr val="000000"/>
                </a:solidFill>
                <a:latin typeface="Alatsi"/>
                <a:ea typeface="Alatsi"/>
                <a:cs typeface="Alatsi"/>
                <a:sym typeface="Alatsi"/>
              </a:rPr>
              <a:t>Legendă</a:t>
            </a:r>
            <a:r>
              <a:rPr lang="en-US" sz="2500" dirty="0">
                <a:solidFill>
                  <a:srgbClr val="000000"/>
                </a:solidFill>
                <a:latin typeface="Alatsi"/>
                <a:ea typeface="Alatsi"/>
                <a:cs typeface="Alatsi"/>
                <a:sym typeface="Alatsi"/>
              </a:rPr>
              <a:t>:</a:t>
            </a:r>
          </a:p>
          <a:p>
            <a:pPr marL="539751" lvl="1" indent="-269876" algn="l">
              <a:lnSpc>
                <a:spcPts val="3500"/>
              </a:lnSpc>
              <a:buFont typeface="Arial"/>
              <a:buChar char="•"/>
            </a:pPr>
            <a:r>
              <a:rPr lang="en-US" sz="2500" dirty="0" err="1">
                <a:solidFill>
                  <a:srgbClr val="000000"/>
                </a:solidFill>
                <a:latin typeface="Alatsi"/>
                <a:ea typeface="Alatsi"/>
                <a:cs typeface="Alatsi"/>
                <a:sym typeface="Alatsi"/>
              </a:rPr>
              <a:t>pop_size</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Dimensiunea</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populației</a:t>
            </a:r>
            <a:endParaRPr lang="en-US" sz="2500" dirty="0">
              <a:solidFill>
                <a:srgbClr val="000000"/>
              </a:solidFill>
              <a:latin typeface="Alatsi"/>
              <a:ea typeface="Alatsi"/>
              <a:cs typeface="Alatsi"/>
              <a:sym typeface="Alatsi"/>
            </a:endParaRPr>
          </a:p>
          <a:p>
            <a:pPr marL="539751" lvl="1" indent="-269876" algn="l">
              <a:lnSpc>
                <a:spcPts val="3500"/>
              </a:lnSpc>
              <a:buFont typeface="Arial"/>
              <a:buChar char="•"/>
            </a:pPr>
            <a:r>
              <a:rPr lang="en-US" sz="2500" dirty="0" err="1">
                <a:solidFill>
                  <a:srgbClr val="000000"/>
                </a:solidFill>
                <a:latin typeface="Alatsi"/>
                <a:ea typeface="Alatsi"/>
                <a:cs typeface="Alatsi"/>
                <a:sym typeface="Alatsi"/>
              </a:rPr>
              <a:t>n_gen</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Numărul</a:t>
            </a:r>
            <a:r>
              <a:rPr lang="en-US" sz="2500" dirty="0">
                <a:solidFill>
                  <a:srgbClr val="000000"/>
                </a:solidFill>
                <a:latin typeface="Alatsi"/>
                <a:ea typeface="Alatsi"/>
                <a:cs typeface="Alatsi"/>
                <a:sym typeface="Alatsi"/>
              </a:rPr>
              <a:t> de </a:t>
            </a:r>
            <a:r>
              <a:rPr lang="en-US" sz="2500" dirty="0" err="1">
                <a:solidFill>
                  <a:srgbClr val="000000"/>
                </a:solidFill>
                <a:latin typeface="Alatsi"/>
                <a:ea typeface="Alatsi"/>
                <a:cs typeface="Alatsi"/>
                <a:sym typeface="Alatsi"/>
              </a:rPr>
              <a:t>generații</a:t>
            </a:r>
            <a:endParaRPr lang="en-US" sz="2500" dirty="0">
              <a:solidFill>
                <a:srgbClr val="000000"/>
              </a:solidFill>
              <a:latin typeface="Alatsi"/>
              <a:ea typeface="Alatsi"/>
              <a:cs typeface="Alatsi"/>
              <a:sym typeface="Alatsi"/>
            </a:endParaRPr>
          </a:p>
          <a:p>
            <a:pPr marL="539751" lvl="1" indent="-269876" algn="l">
              <a:lnSpc>
                <a:spcPts val="3500"/>
              </a:lnSpc>
              <a:buFont typeface="Arial"/>
              <a:buChar char="•"/>
            </a:pPr>
            <a:r>
              <a:rPr lang="en-US" sz="2500" dirty="0" err="1">
                <a:solidFill>
                  <a:srgbClr val="000000"/>
                </a:solidFill>
                <a:latin typeface="Alatsi"/>
                <a:ea typeface="Alatsi"/>
                <a:cs typeface="Alatsi"/>
                <a:sym typeface="Alatsi"/>
              </a:rPr>
              <a:t>mut_rate</a:t>
            </a:r>
            <a:r>
              <a:rPr lang="en-US" sz="2500" dirty="0">
                <a:solidFill>
                  <a:srgbClr val="000000"/>
                </a:solidFill>
                <a:latin typeface="Alatsi"/>
                <a:ea typeface="Alatsi"/>
                <a:cs typeface="Alatsi"/>
                <a:sym typeface="Alatsi"/>
              </a:rPr>
              <a:t>: Rata de </a:t>
            </a:r>
            <a:r>
              <a:rPr lang="en-US" sz="2500" dirty="0" err="1">
                <a:solidFill>
                  <a:srgbClr val="000000"/>
                </a:solidFill>
                <a:latin typeface="Alatsi"/>
                <a:ea typeface="Alatsi"/>
                <a:cs typeface="Alatsi"/>
                <a:sym typeface="Alatsi"/>
              </a:rPr>
              <a:t>mutație</a:t>
            </a:r>
            <a:endParaRPr lang="en-US" sz="2500" dirty="0">
              <a:solidFill>
                <a:srgbClr val="000000"/>
              </a:solidFill>
              <a:latin typeface="Alatsi"/>
              <a:ea typeface="Alatsi"/>
              <a:cs typeface="Alatsi"/>
              <a:sym typeface="Alatsi"/>
            </a:endParaRPr>
          </a:p>
          <a:p>
            <a:pPr marL="539751" lvl="1" indent="-269876" algn="l">
              <a:lnSpc>
                <a:spcPts val="3500"/>
              </a:lnSpc>
              <a:buFont typeface="Arial"/>
              <a:buChar char="•"/>
            </a:pPr>
            <a:r>
              <a:rPr lang="en-US" sz="2500" dirty="0" err="1">
                <a:solidFill>
                  <a:srgbClr val="000000"/>
                </a:solidFill>
                <a:latin typeface="Alatsi"/>
                <a:ea typeface="Alatsi"/>
                <a:cs typeface="Alatsi"/>
                <a:sym typeface="Alatsi"/>
              </a:rPr>
              <a:t>cross_rate</a:t>
            </a:r>
            <a:r>
              <a:rPr lang="en-US" sz="2500" dirty="0">
                <a:solidFill>
                  <a:srgbClr val="000000"/>
                </a:solidFill>
                <a:latin typeface="Alatsi"/>
                <a:ea typeface="Alatsi"/>
                <a:cs typeface="Alatsi"/>
                <a:sym typeface="Alatsi"/>
              </a:rPr>
              <a:t>: Rata de crossover</a:t>
            </a:r>
          </a:p>
          <a:p>
            <a:pPr marL="539751" lvl="1" indent="-269876" algn="l">
              <a:lnSpc>
                <a:spcPts val="3500"/>
              </a:lnSpc>
              <a:buFont typeface="Arial"/>
              <a:buChar char="•"/>
            </a:pPr>
            <a:r>
              <a:rPr lang="en-US" sz="2500" dirty="0" err="1">
                <a:solidFill>
                  <a:srgbClr val="000000"/>
                </a:solidFill>
                <a:latin typeface="Alatsi"/>
                <a:ea typeface="Alatsi"/>
                <a:cs typeface="Alatsi"/>
                <a:sym typeface="Alatsi"/>
              </a:rPr>
              <a:t>test_suite_size</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Numărul</a:t>
            </a:r>
            <a:r>
              <a:rPr lang="en-US" sz="2500" dirty="0">
                <a:solidFill>
                  <a:srgbClr val="000000"/>
                </a:solidFill>
                <a:latin typeface="Alatsi"/>
                <a:ea typeface="Alatsi"/>
                <a:cs typeface="Alatsi"/>
                <a:sym typeface="Alatsi"/>
              </a:rPr>
              <a:t> de suite de teste (</a:t>
            </a:r>
            <a:r>
              <a:rPr lang="en-US" sz="2500" dirty="0" err="1">
                <a:solidFill>
                  <a:srgbClr val="000000"/>
                </a:solidFill>
                <a:latin typeface="Alatsi"/>
                <a:ea typeface="Alatsi"/>
                <a:cs typeface="Alatsi"/>
                <a:sym typeface="Alatsi"/>
              </a:rPr>
              <a:t>numărul</a:t>
            </a:r>
            <a:r>
              <a:rPr lang="en-US" sz="2500" dirty="0">
                <a:solidFill>
                  <a:srgbClr val="000000"/>
                </a:solidFill>
                <a:latin typeface="Alatsi"/>
                <a:ea typeface="Alatsi"/>
                <a:cs typeface="Alatsi"/>
                <a:sym typeface="Alatsi"/>
              </a:rPr>
              <a:t> de </a:t>
            </a:r>
            <a:r>
              <a:rPr lang="en-US" sz="2500" dirty="0" err="1">
                <a:solidFill>
                  <a:srgbClr val="000000"/>
                </a:solidFill>
                <a:latin typeface="Alatsi"/>
                <a:ea typeface="Alatsi"/>
                <a:cs typeface="Alatsi"/>
                <a:sym typeface="Alatsi"/>
              </a:rPr>
              <a:t>hărți</a:t>
            </a:r>
            <a:r>
              <a:rPr lang="en-US" sz="2500" dirty="0">
                <a:solidFill>
                  <a:srgbClr val="000000"/>
                </a:solidFill>
                <a:latin typeface="Alatsi"/>
                <a:ea typeface="Alatsi"/>
                <a:cs typeface="Alatsi"/>
                <a:sym typeface="Alatsi"/>
              </a:rPr>
              <a:t> p</a:t>
            </a:r>
            <a:r>
              <a:rPr lang="ro-RO" sz="2500" dirty="0" err="1">
                <a:solidFill>
                  <a:srgbClr val="000000"/>
                </a:solidFill>
                <a:latin typeface="Alatsi"/>
                <a:ea typeface="Alatsi"/>
                <a:cs typeface="Alatsi"/>
                <a:sym typeface="Alatsi"/>
              </a:rPr>
              <a:t>ăstrate</a:t>
            </a:r>
            <a:r>
              <a:rPr lang="en-US" sz="2500" dirty="0">
                <a:solidFill>
                  <a:srgbClr val="000000"/>
                </a:solidFill>
                <a:latin typeface="Alatsi"/>
                <a:ea typeface="Alatsi"/>
                <a:cs typeface="Alatsi"/>
                <a:sym typeface="Alatsi"/>
              </a:rPr>
              <a:t>)</a:t>
            </a:r>
          </a:p>
          <a:p>
            <a:pPr marL="539751" lvl="1" indent="-269876" algn="l">
              <a:lnSpc>
                <a:spcPts val="3500"/>
              </a:lnSpc>
              <a:buFont typeface="Arial"/>
              <a:buChar char="•"/>
            </a:pPr>
            <a:r>
              <a:rPr lang="en-US" sz="2500" dirty="0">
                <a:solidFill>
                  <a:srgbClr val="000000"/>
                </a:solidFill>
                <a:latin typeface="Alatsi"/>
                <a:ea typeface="Alatsi"/>
                <a:cs typeface="Alatsi"/>
                <a:sym typeface="Alatsi"/>
              </a:rPr>
              <a:t>files: </a:t>
            </a:r>
            <a:r>
              <a:rPr lang="en-US" sz="2500" dirty="0" err="1">
                <a:solidFill>
                  <a:srgbClr val="000000"/>
                </a:solidFill>
                <a:latin typeface="Alatsi"/>
                <a:ea typeface="Alatsi"/>
                <a:cs typeface="Alatsi"/>
                <a:sym typeface="Alatsi"/>
              </a:rPr>
              <a:t>atribute</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pentru</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denumirea</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fișierelor</a:t>
            </a:r>
            <a:endParaRPr lang="en-US" sz="2500" dirty="0">
              <a:solidFill>
                <a:srgbClr val="000000"/>
              </a:solidFill>
              <a:latin typeface="Alatsi"/>
              <a:ea typeface="Alatsi"/>
              <a:cs typeface="Alatsi"/>
              <a:sym typeface="Alatsi"/>
            </a:endParaRPr>
          </a:p>
          <a:p>
            <a:pPr marL="539751" lvl="1" indent="-269876" algn="l">
              <a:lnSpc>
                <a:spcPts val="3500"/>
              </a:lnSpc>
              <a:buFont typeface="Arial"/>
              <a:buChar char="•"/>
            </a:pPr>
            <a:r>
              <a:rPr lang="en-US" sz="2500" dirty="0" err="1">
                <a:solidFill>
                  <a:srgbClr val="000000"/>
                </a:solidFill>
                <a:latin typeface="Alatsi"/>
                <a:ea typeface="Alatsi"/>
                <a:cs typeface="Alatsi"/>
                <a:sym typeface="Alatsi"/>
              </a:rPr>
              <a:t>map_size</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mărimea</a:t>
            </a:r>
            <a:r>
              <a:rPr lang="en-US" sz="2500" dirty="0">
                <a:solidFill>
                  <a:srgbClr val="000000"/>
                </a:solidFill>
                <a:latin typeface="Alatsi"/>
                <a:ea typeface="Alatsi"/>
                <a:cs typeface="Alatsi"/>
                <a:sym typeface="Alatsi"/>
              </a:rPr>
              <a:t> </a:t>
            </a:r>
            <a:r>
              <a:rPr lang="en-US" sz="2500" dirty="0" err="1">
                <a:solidFill>
                  <a:srgbClr val="000000"/>
                </a:solidFill>
                <a:latin typeface="Alatsi"/>
                <a:ea typeface="Alatsi"/>
                <a:cs typeface="Alatsi"/>
                <a:sym typeface="Alatsi"/>
              </a:rPr>
              <a:t>hărții</a:t>
            </a:r>
            <a:endParaRPr lang="en-US" sz="2500" dirty="0">
              <a:solidFill>
                <a:srgbClr val="000000"/>
              </a:solidFill>
              <a:latin typeface="Alatsi"/>
              <a:ea typeface="Alatsi"/>
              <a:cs typeface="Alatsi"/>
              <a:sym typeface="Alats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3938117" y="3186659"/>
            <a:ext cx="12632247" cy="1952625"/>
          </a:xfrm>
          <a:prstGeom prst="rect">
            <a:avLst/>
          </a:prstGeom>
        </p:spPr>
        <p:txBody>
          <a:bodyPr lIns="0" tIns="0" rIns="0" bIns="0" rtlCol="0" anchor="t">
            <a:spAutoFit/>
          </a:bodyPr>
          <a:lstStyle/>
          <a:p>
            <a:pPr algn="ctr">
              <a:lnSpc>
                <a:spcPts val="14550"/>
              </a:lnSpc>
            </a:pPr>
            <a:r>
              <a:rPr lang="en-US" sz="15000">
                <a:solidFill>
                  <a:srgbClr val="000000"/>
                </a:solidFill>
                <a:latin typeface="Alatsi"/>
                <a:ea typeface="Alatsi"/>
                <a:cs typeface="Alatsi"/>
                <a:sym typeface="Alatsi"/>
              </a:rPr>
              <a:t>EXPERIMENTE</a:t>
            </a:r>
          </a:p>
        </p:txBody>
      </p:sp>
      <p:sp>
        <p:nvSpPr>
          <p:cNvPr id="13" name="Freeform 13"/>
          <p:cNvSpPr/>
          <p:nvPr/>
        </p:nvSpPr>
        <p:spPr>
          <a:xfrm>
            <a:off x="13557619" y="-131752"/>
            <a:ext cx="5342052" cy="1809444"/>
          </a:xfrm>
          <a:custGeom>
            <a:avLst/>
            <a:gdLst/>
            <a:ahLst/>
            <a:cxnLst/>
            <a:rect l="l" t="t" r="r" b="b"/>
            <a:pathLst>
              <a:path w="5342052" h="1809444">
                <a:moveTo>
                  <a:pt x="0" y="0"/>
                </a:moveTo>
                <a:lnTo>
                  <a:pt x="5342052" y="0"/>
                </a:lnTo>
                <a:lnTo>
                  <a:pt x="5342052" y="1809445"/>
                </a:lnTo>
                <a:lnTo>
                  <a:pt x="0" y="18094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3938117" y="5034509"/>
            <a:ext cx="12625348" cy="978279"/>
          </a:xfrm>
          <a:prstGeom prst="rect">
            <a:avLst/>
          </a:prstGeom>
        </p:spPr>
        <p:txBody>
          <a:bodyPr lIns="0" tIns="0" rIns="0" bIns="0" rtlCol="0" anchor="t">
            <a:spAutoFit/>
          </a:bodyPr>
          <a:lstStyle/>
          <a:p>
            <a:pPr algn="ctr">
              <a:lnSpc>
                <a:spcPts val="8029"/>
              </a:lnSpc>
            </a:pPr>
            <a:r>
              <a:rPr lang="en-US" sz="5735">
                <a:solidFill>
                  <a:srgbClr val="000000"/>
                </a:solidFill>
                <a:latin typeface="Alatsi"/>
                <a:ea typeface="Alatsi"/>
                <a:cs typeface="Alatsi"/>
                <a:sym typeface="Alatsi"/>
              </a:rPr>
              <a:t>-Partea II-</a:t>
            </a:r>
          </a:p>
        </p:txBody>
      </p:sp>
      <p:sp>
        <p:nvSpPr>
          <p:cNvPr id="15" name="Freeform 15"/>
          <p:cNvSpPr/>
          <p:nvPr/>
        </p:nvSpPr>
        <p:spPr>
          <a:xfrm>
            <a:off x="13191796" y="9474378"/>
            <a:ext cx="5707875" cy="1933355"/>
          </a:xfrm>
          <a:custGeom>
            <a:avLst/>
            <a:gdLst/>
            <a:ahLst/>
            <a:cxnLst/>
            <a:rect l="l" t="t" r="r" b="b"/>
            <a:pathLst>
              <a:path w="5707875" h="1933355">
                <a:moveTo>
                  <a:pt x="0" y="0"/>
                </a:moveTo>
                <a:lnTo>
                  <a:pt x="5707875" y="0"/>
                </a:lnTo>
                <a:lnTo>
                  <a:pt x="5707875" y="1933355"/>
                </a:lnTo>
                <a:lnTo>
                  <a:pt x="0" y="1933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7252552" y="1360604"/>
            <a:ext cx="3782896" cy="3782896"/>
          </a:xfrm>
          <a:custGeom>
            <a:avLst/>
            <a:gdLst/>
            <a:ahLst/>
            <a:cxnLst/>
            <a:rect l="l" t="t" r="r" b="b"/>
            <a:pathLst>
              <a:path w="3782896" h="3782896">
                <a:moveTo>
                  <a:pt x="0" y="0"/>
                </a:moveTo>
                <a:lnTo>
                  <a:pt x="3782896" y="0"/>
                </a:lnTo>
                <a:lnTo>
                  <a:pt x="3782896" y="3782896"/>
                </a:lnTo>
                <a:lnTo>
                  <a:pt x="0" y="3782896"/>
                </a:lnTo>
                <a:lnTo>
                  <a:pt x="0" y="0"/>
                </a:lnTo>
                <a:close/>
              </a:path>
            </a:pathLst>
          </a:custGeom>
          <a:blipFill>
            <a:blip r:embed="rId2"/>
            <a:stretch>
              <a:fillRect/>
            </a:stretch>
          </a:blipFill>
        </p:spPr>
      </p:sp>
      <p:sp>
        <p:nvSpPr>
          <p:cNvPr id="3" name="Freeform 3"/>
          <p:cNvSpPr/>
          <p:nvPr/>
        </p:nvSpPr>
        <p:spPr>
          <a:xfrm>
            <a:off x="11849517" y="1360604"/>
            <a:ext cx="3782896" cy="3782896"/>
          </a:xfrm>
          <a:custGeom>
            <a:avLst/>
            <a:gdLst/>
            <a:ahLst/>
            <a:cxnLst/>
            <a:rect l="l" t="t" r="r" b="b"/>
            <a:pathLst>
              <a:path w="3782896" h="3782896">
                <a:moveTo>
                  <a:pt x="0" y="0"/>
                </a:moveTo>
                <a:lnTo>
                  <a:pt x="3782896" y="0"/>
                </a:lnTo>
                <a:lnTo>
                  <a:pt x="3782896" y="3782896"/>
                </a:lnTo>
                <a:lnTo>
                  <a:pt x="0" y="3782896"/>
                </a:lnTo>
                <a:lnTo>
                  <a:pt x="0" y="0"/>
                </a:lnTo>
                <a:close/>
              </a:path>
            </a:pathLst>
          </a:custGeom>
          <a:blipFill>
            <a:blip r:embed="rId3"/>
            <a:stretch>
              <a:fillRect/>
            </a:stretch>
          </a:blipFill>
        </p:spPr>
      </p:sp>
      <p:sp>
        <p:nvSpPr>
          <p:cNvPr id="4" name="Freeform 4"/>
          <p:cNvSpPr/>
          <p:nvPr/>
        </p:nvSpPr>
        <p:spPr>
          <a:xfrm>
            <a:off x="2609366" y="1309939"/>
            <a:ext cx="3833561" cy="3833561"/>
          </a:xfrm>
          <a:custGeom>
            <a:avLst/>
            <a:gdLst/>
            <a:ahLst/>
            <a:cxnLst/>
            <a:rect l="l" t="t" r="r" b="b"/>
            <a:pathLst>
              <a:path w="3833561" h="3833561">
                <a:moveTo>
                  <a:pt x="0" y="0"/>
                </a:moveTo>
                <a:lnTo>
                  <a:pt x="3833561" y="0"/>
                </a:lnTo>
                <a:lnTo>
                  <a:pt x="3833561" y="3833561"/>
                </a:lnTo>
                <a:lnTo>
                  <a:pt x="0" y="3833561"/>
                </a:lnTo>
                <a:lnTo>
                  <a:pt x="0" y="0"/>
                </a:lnTo>
                <a:close/>
              </a:path>
            </a:pathLst>
          </a:custGeom>
          <a:blipFill>
            <a:blip r:embed="rId4"/>
            <a:stretch>
              <a:fillRect/>
            </a:stretch>
          </a:blipFill>
        </p:spPr>
      </p:sp>
      <p:sp>
        <p:nvSpPr>
          <p:cNvPr id="5" name="Freeform 5"/>
          <p:cNvSpPr/>
          <p:nvPr/>
        </p:nvSpPr>
        <p:spPr>
          <a:xfrm>
            <a:off x="6729904" y="5775719"/>
            <a:ext cx="4828192" cy="3621144"/>
          </a:xfrm>
          <a:custGeom>
            <a:avLst/>
            <a:gdLst/>
            <a:ahLst/>
            <a:cxnLst/>
            <a:rect l="l" t="t" r="r" b="b"/>
            <a:pathLst>
              <a:path w="4828192" h="3621144">
                <a:moveTo>
                  <a:pt x="0" y="0"/>
                </a:moveTo>
                <a:lnTo>
                  <a:pt x="4828192" y="0"/>
                </a:lnTo>
                <a:lnTo>
                  <a:pt x="4828192" y="3621144"/>
                </a:lnTo>
                <a:lnTo>
                  <a:pt x="0" y="3621144"/>
                </a:lnTo>
                <a:lnTo>
                  <a:pt x="0" y="0"/>
                </a:lnTo>
                <a:close/>
              </a:path>
            </a:pathLst>
          </a:custGeom>
          <a:blipFill>
            <a:blip r:embed="rId5"/>
            <a:stretch>
              <a:fillRect/>
            </a:stretch>
          </a:blipFill>
        </p:spPr>
      </p:sp>
      <p:sp>
        <p:nvSpPr>
          <p:cNvPr id="6" name="Freeform 6"/>
          <p:cNvSpPr/>
          <p:nvPr/>
        </p:nvSpPr>
        <p:spPr>
          <a:xfrm>
            <a:off x="12281996" y="5775719"/>
            <a:ext cx="4828192" cy="3621144"/>
          </a:xfrm>
          <a:custGeom>
            <a:avLst/>
            <a:gdLst/>
            <a:ahLst/>
            <a:cxnLst/>
            <a:rect l="l" t="t" r="r" b="b"/>
            <a:pathLst>
              <a:path w="4828192" h="3621144">
                <a:moveTo>
                  <a:pt x="0" y="0"/>
                </a:moveTo>
                <a:lnTo>
                  <a:pt x="4828191" y="0"/>
                </a:lnTo>
                <a:lnTo>
                  <a:pt x="4828191" y="3621144"/>
                </a:lnTo>
                <a:lnTo>
                  <a:pt x="0" y="3621144"/>
                </a:lnTo>
                <a:lnTo>
                  <a:pt x="0" y="0"/>
                </a:lnTo>
                <a:close/>
              </a:path>
            </a:pathLst>
          </a:custGeom>
          <a:blipFill>
            <a:blip r:embed="rId6"/>
            <a:stretch>
              <a:fillRect/>
            </a:stretch>
          </a:blipFill>
        </p:spPr>
      </p:sp>
      <p:sp>
        <p:nvSpPr>
          <p:cNvPr id="7" name="Freeform 7"/>
          <p:cNvSpPr/>
          <p:nvPr/>
        </p:nvSpPr>
        <p:spPr>
          <a:xfrm>
            <a:off x="1177813" y="5775719"/>
            <a:ext cx="4828192" cy="3621144"/>
          </a:xfrm>
          <a:custGeom>
            <a:avLst/>
            <a:gdLst/>
            <a:ahLst/>
            <a:cxnLst/>
            <a:rect l="l" t="t" r="r" b="b"/>
            <a:pathLst>
              <a:path w="4828192" h="3621144">
                <a:moveTo>
                  <a:pt x="0" y="0"/>
                </a:moveTo>
                <a:lnTo>
                  <a:pt x="4828191" y="0"/>
                </a:lnTo>
                <a:lnTo>
                  <a:pt x="4828191" y="3621144"/>
                </a:lnTo>
                <a:lnTo>
                  <a:pt x="0" y="3621144"/>
                </a:lnTo>
                <a:lnTo>
                  <a:pt x="0" y="0"/>
                </a:lnTo>
                <a:close/>
              </a:path>
            </a:pathLst>
          </a:custGeom>
          <a:blipFill>
            <a:blip r:embed="rId7"/>
            <a:stretch>
              <a:fillRect/>
            </a:stretch>
          </a:blipFill>
        </p:spPr>
      </p:sp>
      <p:sp>
        <p:nvSpPr>
          <p:cNvPr id="8" name="TextBox 8"/>
          <p:cNvSpPr txBox="1"/>
          <p:nvPr/>
        </p:nvSpPr>
        <p:spPr>
          <a:xfrm>
            <a:off x="8897166" y="5232265"/>
            <a:ext cx="493668"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GA</a:t>
            </a:r>
          </a:p>
        </p:txBody>
      </p:sp>
      <p:sp>
        <p:nvSpPr>
          <p:cNvPr id="9" name="TextBox 9"/>
          <p:cNvSpPr txBox="1"/>
          <p:nvPr/>
        </p:nvSpPr>
        <p:spPr>
          <a:xfrm>
            <a:off x="3791110" y="5232265"/>
            <a:ext cx="1470072"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Random</a:t>
            </a:r>
          </a:p>
        </p:txBody>
      </p:sp>
      <p:sp>
        <p:nvSpPr>
          <p:cNvPr id="10" name="TextBox 10"/>
          <p:cNvSpPr txBox="1"/>
          <p:nvPr/>
        </p:nvSpPr>
        <p:spPr>
          <a:xfrm>
            <a:off x="13144933" y="5232265"/>
            <a:ext cx="1192063"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NSGA-II</a:t>
            </a:r>
          </a:p>
        </p:txBody>
      </p:sp>
      <p:sp>
        <p:nvSpPr>
          <p:cNvPr id="11" name="TextBox 11"/>
          <p:cNvSpPr txBox="1"/>
          <p:nvPr/>
        </p:nvSpPr>
        <p:spPr>
          <a:xfrm>
            <a:off x="2609366" y="9482588"/>
            <a:ext cx="1783017"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Convergence</a:t>
            </a:r>
          </a:p>
        </p:txBody>
      </p:sp>
      <p:sp>
        <p:nvSpPr>
          <p:cNvPr id="12" name="TextBox 12"/>
          <p:cNvSpPr txBox="1"/>
          <p:nvPr/>
        </p:nvSpPr>
        <p:spPr>
          <a:xfrm>
            <a:off x="8510886" y="9482588"/>
            <a:ext cx="1266227"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Fitness</a:t>
            </a:r>
          </a:p>
        </p:txBody>
      </p:sp>
      <p:sp>
        <p:nvSpPr>
          <p:cNvPr id="13" name="TextBox 13"/>
          <p:cNvSpPr txBox="1"/>
          <p:nvPr/>
        </p:nvSpPr>
        <p:spPr>
          <a:xfrm>
            <a:off x="14105791" y="9482588"/>
            <a:ext cx="1180602"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Novelty</a:t>
            </a:r>
          </a:p>
        </p:txBody>
      </p:sp>
      <p:sp>
        <p:nvSpPr>
          <p:cNvPr id="14" name="TextBox 14"/>
          <p:cNvSpPr txBox="1"/>
          <p:nvPr/>
        </p:nvSpPr>
        <p:spPr>
          <a:xfrm>
            <a:off x="3342782" y="377873"/>
            <a:ext cx="11982166" cy="514350"/>
          </a:xfrm>
          <a:prstGeom prst="rect">
            <a:avLst/>
          </a:prstGeom>
        </p:spPr>
        <p:txBody>
          <a:bodyPr lIns="0" tIns="0" rIns="0" bIns="0" rtlCol="0" anchor="t">
            <a:spAutoFit/>
          </a:bodyPr>
          <a:lstStyle/>
          <a:p>
            <a:pPr algn="ctr">
              <a:lnSpc>
                <a:spcPts val="4200"/>
              </a:lnSpc>
            </a:pPr>
            <a:r>
              <a:rPr lang="en-US" sz="3000">
                <a:solidFill>
                  <a:srgbClr val="000000"/>
                </a:solidFill>
                <a:latin typeface="Alatsi"/>
                <a:ea typeface="Alatsi"/>
                <a:cs typeface="Alatsi"/>
                <a:sym typeface="Alatsi"/>
              </a:rPr>
              <a:t>Robot simulat: 50 Indivizi-10 Generații-0.8 Mutation-0.9 Crossover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7250951" y="1360604"/>
            <a:ext cx="3786099" cy="3786099"/>
          </a:xfrm>
          <a:custGeom>
            <a:avLst/>
            <a:gdLst/>
            <a:ahLst/>
            <a:cxnLst/>
            <a:rect l="l" t="t" r="r" b="b"/>
            <a:pathLst>
              <a:path w="3786099" h="3786099">
                <a:moveTo>
                  <a:pt x="0" y="0"/>
                </a:moveTo>
                <a:lnTo>
                  <a:pt x="3786098" y="0"/>
                </a:lnTo>
                <a:lnTo>
                  <a:pt x="3786098" y="3786098"/>
                </a:lnTo>
                <a:lnTo>
                  <a:pt x="0" y="3786098"/>
                </a:lnTo>
                <a:lnTo>
                  <a:pt x="0" y="0"/>
                </a:lnTo>
                <a:close/>
              </a:path>
            </a:pathLst>
          </a:custGeom>
          <a:blipFill>
            <a:blip r:embed="rId2"/>
            <a:stretch>
              <a:fillRect/>
            </a:stretch>
          </a:blipFill>
        </p:spPr>
      </p:sp>
      <p:sp>
        <p:nvSpPr>
          <p:cNvPr id="3" name="Freeform 3"/>
          <p:cNvSpPr/>
          <p:nvPr/>
        </p:nvSpPr>
        <p:spPr>
          <a:xfrm>
            <a:off x="11847956" y="1312979"/>
            <a:ext cx="3786017" cy="3786017"/>
          </a:xfrm>
          <a:custGeom>
            <a:avLst/>
            <a:gdLst/>
            <a:ahLst/>
            <a:cxnLst/>
            <a:rect l="l" t="t" r="r" b="b"/>
            <a:pathLst>
              <a:path w="3786017" h="3786017">
                <a:moveTo>
                  <a:pt x="0" y="0"/>
                </a:moveTo>
                <a:lnTo>
                  <a:pt x="3786017" y="0"/>
                </a:lnTo>
                <a:lnTo>
                  <a:pt x="3786017" y="3786017"/>
                </a:lnTo>
                <a:lnTo>
                  <a:pt x="0" y="3786017"/>
                </a:lnTo>
                <a:lnTo>
                  <a:pt x="0" y="0"/>
                </a:lnTo>
                <a:close/>
              </a:path>
            </a:pathLst>
          </a:custGeom>
          <a:blipFill>
            <a:blip r:embed="rId3"/>
            <a:stretch>
              <a:fillRect/>
            </a:stretch>
          </a:blipFill>
        </p:spPr>
      </p:sp>
      <p:sp>
        <p:nvSpPr>
          <p:cNvPr id="4" name="Freeform 4"/>
          <p:cNvSpPr/>
          <p:nvPr/>
        </p:nvSpPr>
        <p:spPr>
          <a:xfrm>
            <a:off x="2656863" y="1360604"/>
            <a:ext cx="3785936" cy="3785936"/>
          </a:xfrm>
          <a:custGeom>
            <a:avLst/>
            <a:gdLst/>
            <a:ahLst/>
            <a:cxnLst/>
            <a:rect l="l" t="t" r="r" b="b"/>
            <a:pathLst>
              <a:path w="3785936" h="3785936">
                <a:moveTo>
                  <a:pt x="0" y="0"/>
                </a:moveTo>
                <a:lnTo>
                  <a:pt x="3785936" y="0"/>
                </a:lnTo>
                <a:lnTo>
                  <a:pt x="3785936" y="3785936"/>
                </a:lnTo>
                <a:lnTo>
                  <a:pt x="0" y="3785936"/>
                </a:lnTo>
                <a:lnTo>
                  <a:pt x="0" y="0"/>
                </a:lnTo>
                <a:close/>
              </a:path>
            </a:pathLst>
          </a:custGeom>
          <a:blipFill>
            <a:blip r:embed="rId4"/>
            <a:stretch>
              <a:fillRect/>
            </a:stretch>
          </a:blipFill>
        </p:spPr>
      </p:sp>
      <p:sp>
        <p:nvSpPr>
          <p:cNvPr id="5" name="Freeform 5"/>
          <p:cNvSpPr/>
          <p:nvPr/>
        </p:nvSpPr>
        <p:spPr>
          <a:xfrm>
            <a:off x="1182540" y="5775719"/>
            <a:ext cx="4828192" cy="3621144"/>
          </a:xfrm>
          <a:custGeom>
            <a:avLst/>
            <a:gdLst/>
            <a:ahLst/>
            <a:cxnLst/>
            <a:rect l="l" t="t" r="r" b="b"/>
            <a:pathLst>
              <a:path w="4828192" h="3621144">
                <a:moveTo>
                  <a:pt x="0" y="0"/>
                </a:moveTo>
                <a:lnTo>
                  <a:pt x="4828192" y="0"/>
                </a:lnTo>
                <a:lnTo>
                  <a:pt x="4828192" y="3621144"/>
                </a:lnTo>
                <a:lnTo>
                  <a:pt x="0" y="3621144"/>
                </a:lnTo>
                <a:lnTo>
                  <a:pt x="0" y="0"/>
                </a:lnTo>
                <a:close/>
              </a:path>
            </a:pathLst>
          </a:custGeom>
          <a:blipFill>
            <a:blip r:embed="rId5"/>
            <a:stretch>
              <a:fillRect/>
            </a:stretch>
          </a:blipFill>
        </p:spPr>
      </p:sp>
      <p:sp>
        <p:nvSpPr>
          <p:cNvPr id="6" name="Freeform 6"/>
          <p:cNvSpPr/>
          <p:nvPr/>
        </p:nvSpPr>
        <p:spPr>
          <a:xfrm>
            <a:off x="6698154" y="5775719"/>
            <a:ext cx="4891692" cy="3668769"/>
          </a:xfrm>
          <a:custGeom>
            <a:avLst/>
            <a:gdLst/>
            <a:ahLst/>
            <a:cxnLst/>
            <a:rect l="l" t="t" r="r" b="b"/>
            <a:pathLst>
              <a:path w="4891692" h="3668769">
                <a:moveTo>
                  <a:pt x="0" y="0"/>
                </a:moveTo>
                <a:lnTo>
                  <a:pt x="4891692" y="0"/>
                </a:lnTo>
                <a:lnTo>
                  <a:pt x="4891692" y="3668769"/>
                </a:lnTo>
                <a:lnTo>
                  <a:pt x="0" y="3668769"/>
                </a:lnTo>
                <a:lnTo>
                  <a:pt x="0" y="0"/>
                </a:lnTo>
                <a:close/>
              </a:path>
            </a:pathLst>
          </a:custGeom>
          <a:blipFill>
            <a:blip r:embed="rId6"/>
            <a:stretch>
              <a:fillRect/>
            </a:stretch>
          </a:blipFill>
        </p:spPr>
      </p:sp>
      <p:sp>
        <p:nvSpPr>
          <p:cNvPr id="7" name="Freeform 7"/>
          <p:cNvSpPr/>
          <p:nvPr/>
        </p:nvSpPr>
        <p:spPr>
          <a:xfrm>
            <a:off x="12185193" y="5713807"/>
            <a:ext cx="4961542" cy="3721156"/>
          </a:xfrm>
          <a:custGeom>
            <a:avLst/>
            <a:gdLst/>
            <a:ahLst/>
            <a:cxnLst/>
            <a:rect l="l" t="t" r="r" b="b"/>
            <a:pathLst>
              <a:path w="4961542" h="3721156">
                <a:moveTo>
                  <a:pt x="0" y="0"/>
                </a:moveTo>
                <a:lnTo>
                  <a:pt x="4961542" y="0"/>
                </a:lnTo>
                <a:lnTo>
                  <a:pt x="4961542" y="3721156"/>
                </a:lnTo>
                <a:lnTo>
                  <a:pt x="0" y="3721156"/>
                </a:lnTo>
                <a:lnTo>
                  <a:pt x="0" y="0"/>
                </a:lnTo>
                <a:close/>
              </a:path>
            </a:pathLst>
          </a:custGeom>
          <a:blipFill>
            <a:blip r:embed="rId7"/>
            <a:stretch>
              <a:fillRect/>
            </a:stretch>
          </a:blipFill>
        </p:spPr>
      </p:sp>
      <p:sp>
        <p:nvSpPr>
          <p:cNvPr id="8" name="TextBox 8"/>
          <p:cNvSpPr txBox="1"/>
          <p:nvPr/>
        </p:nvSpPr>
        <p:spPr>
          <a:xfrm>
            <a:off x="3342782" y="377873"/>
            <a:ext cx="11982166" cy="514350"/>
          </a:xfrm>
          <a:prstGeom prst="rect">
            <a:avLst/>
          </a:prstGeom>
        </p:spPr>
        <p:txBody>
          <a:bodyPr lIns="0" tIns="0" rIns="0" bIns="0" rtlCol="0" anchor="t">
            <a:spAutoFit/>
          </a:bodyPr>
          <a:lstStyle/>
          <a:p>
            <a:pPr algn="ctr">
              <a:lnSpc>
                <a:spcPts val="4200"/>
              </a:lnSpc>
            </a:pPr>
            <a:r>
              <a:rPr lang="en-US" sz="3000">
                <a:solidFill>
                  <a:srgbClr val="000000"/>
                </a:solidFill>
                <a:latin typeface="Alatsi"/>
                <a:ea typeface="Alatsi"/>
                <a:cs typeface="Alatsi"/>
                <a:sym typeface="Alatsi"/>
              </a:rPr>
              <a:t>Vehicul simulat: 50 Indivizi-1000 Generații-0.5 Mutation-0.5 Crossover</a:t>
            </a:r>
          </a:p>
        </p:txBody>
      </p:sp>
      <p:sp>
        <p:nvSpPr>
          <p:cNvPr id="9" name="TextBox 9"/>
          <p:cNvSpPr txBox="1"/>
          <p:nvPr/>
        </p:nvSpPr>
        <p:spPr>
          <a:xfrm>
            <a:off x="8834431" y="5232265"/>
            <a:ext cx="619138"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GA</a:t>
            </a:r>
          </a:p>
        </p:txBody>
      </p:sp>
      <p:sp>
        <p:nvSpPr>
          <p:cNvPr id="10" name="TextBox 10"/>
          <p:cNvSpPr txBox="1"/>
          <p:nvPr/>
        </p:nvSpPr>
        <p:spPr>
          <a:xfrm>
            <a:off x="3938975" y="5232265"/>
            <a:ext cx="1221712"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Random</a:t>
            </a:r>
          </a:p>
        </p:txBody>
      </p:sp>
      <p:sp>
        <p:nvSpPr>
          <p:cNvPr id="11" name="TextBox 11"/>
          <p:cNvSpPr txBox="1"/>
          <p:nvPr/>
        </p:nvSpPr>
        <p:spPr>
          <a:xfrm>
            <a:off x="13130219" y="5232265"/>
            <a:ext cx="1261089"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NSGA-II</a:t>
            </a:r>
          </a:p>
        </p:txBody>
      </p:sp>
      <p:sp>
        <p:nvSpPr>
          <p:cNvPr id="12" name="TextBox 12"/>
          <p:cNvSpPr txBox="1"/>
          <p:nvPr/>
        </p:nvSpPr>
        <p:spPr>
          <a:xfrm>
            <a:off x="2656863" y="9530213"/>
            <a:ext cx="1918065"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Convergence</a:t>
            </a:r>
          </a:p>
        </p:txBody>
      </p:sp>
      <p:sp>
        <p:nvSpPr>
          <p:cNvPr id="13" name="TextBox 13"/>
          <p:cNvSpPr txBox="1"/>
          <p:nvPr/>
        </p:nvSpPr>
        <p:spPr>
          <a:xfrm>
            <a:off x="8557457" y="9501638"/>
            <a:ext cx="1173086"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Fitness</a:t>
            </a:r>
          </a:p>
        </p:txBody>
      </p:sp>
      <p:sp>
        <p:nvSpPr>
          <p:cNvPr id="14" name="TextBox 14"/>
          <p:cNvSpPr txBox="1"/>
          <p:nvPr/>
        </p:nvSpPr>
        <p:spPr>
          <a:xfrm>
            <a:off x="14100829" y="9501638"/>
            <a:ext cx="1130270" cy="372004"/>
          </a:xfrm>
          <a:prstGeom prst="rect">
            <a:avLst/>
          </a:prstGeom>
        </p:spPr>
        <p:txBody>
          <a:bodyPr lIns="0" tIns="0" rIns="0" bIns="0" rtlCol="0" anchor="t">
            <a:spAutoFit/>
          </a:bodyPr>
          <a:lstStyle/>
          <a:p>
            <a:pPr algn="ctr">
              <a:lnSpc>
                <a:spcPts val="3119"/>
              </a:lnSpc>
              <a:spcBef>
                <a:spcPct val="0"/>
              </a:spcBef>
            </a:pPr>
            <a:r>
              <a:rPr lang="en-US" sz="2228">
                <a:solidFill>
                  <a:srgbClr val="000000"/>
                </a:solidFill>
                <a:latin typeface="Alatsi"/>
                <a:ea typeface="Alatsi"/>
                <a:cs typeface="Alatsi"/>
                <a:sym typeface="Alatsi"/>
              </a:rPr>
              <a:t>Novelty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5430694" y="5411944"/>
            <a:ext cx="7426612" cy="3919911"/>
          </a:xfrm>
          <a:custGeom>
            <a:avLst/>
            <a:gdLst/>
            <a:ahLst/>
            <a:cxnLst/>
            <a:rect l="l" t="t" r="r" b="b"/>
            <a:pathLst>
              <a:path w="7426612" h="3919911">
                <a:moveTo>
                  <a:pt x="0" y="0"/>
                </a:moveTo>
                <a:lnTo>
                  <a:pt x="7426612" y="0"/>
                </a:lnTo>
                <a:lnTo>
                  <a:pt x="7426612" y="3919911"/>
                </a:lnTo>
                <a:lnTo>
                  <a:pt x="0" y="3919911"/>
                </a:lnTo>
                <a:lnTo>
                  <a:pt x="0" y="0"/>
                </a:lnTo>
                <a:close/>
              </a:path>
            </a:pathLst>
          </a:custGeom>
          <a:blipFill>
            <a:blip r:embed="rId2"/>
            <a:stretch>
              <a:fillRect/>
            </a:stretch>
          </a:blipFill>
        </p:spPr>
      </p:sp>
      <p:sp>
        <p:nvSpPr>
          <p:cNvPr id="3" name="TextBox 3"/>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EXPERIMENT TERMOSTAT</a:t>
            </a:r>
          </a:p>
        </p:txBody>
      </p:sp>
      <p:sp>
        <p:nvSpPr>
          <p:cNvPr id="4" name="TextBox 4"/>
          <p:cNvSpPr txBox="1"/>
          <p:nvPr/>
        </p:nvSpPr>
        <p:spPr>
          <a:xfrm>
            <a:off x="1028700" y="2981437"/>
            <a:ext cx="16230600" cy="12985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În figura alăturată se poate observa că, în medie, Random Search converge la valori de -1,608, în timp ce AmbieGen SO și AmbieGen MO determină soluții de două ori mai bune, de -3. Se poate observa că, în medie, SO converge mai rapid decât MO, totuși, diferența dintre valorile la care se ajunge după convergență este nesemnificativă.</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5582258" y="5607581"/>
            <a:ext cx="7123483" cy="3756609"/>
          </a:xfrm>
          <a:custGeom>
            <a:avLst/>
            <a:gdLst/>
            <a:ahLst/>
            <a:cxnLst/>
            <a:rect l="l" t="t" r="r" b="b"/>
            <a:pathLst>
              <a:path w="7123483" h="3756609">
                <a:moveTo>
                  <a:pt x="0" y="0"/>
                </a:moveTo>
                <a:lnTo>
                  <a:pt x="7123484" y="0"/>
                </a:lnTo>
                <a:lnTo>
                  <a:pt x="7123484" y="3756609"/>
                </a:lnTo>
                <a:lnTo>
                  <a:pt x="0" y="3756609"/>
                </a:lnTo>
                <a:lnTo>
                  <a:pt x="0" y="0"/>
                </a:lnTo>
                <a:close/>
              </a:path>
            </a:pathLst>
          </a:custGeom>
          <a:blipFill>
            <a:blip r:embed="rId2"/>
            <a:stretch>
              <a:fillRect/>
            </a:stretch>
          </a:blipFill>
        </p:spPr>
      </p:sp>
      <p:sp>
        <p:nvSpPr>
          <p:cNvPr id="3" name="TextBox 3"/>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EXPERIMENT ROBOȚI</a:t>
            </a:r>
          </a:p>
        </p:txBody>
      </p:sp>
      <p:sp>
        <p:nvSpPr>
          <p:cNvPr id="4" name="TextBox 4"/>
          <p:cNvSpPr txBox="1"/>
          <p:nvPr/>
        </p:nvSpPr>
        <p:spPr>
          <a:xfrm>
            <a:off x="1028700" y="2929692"/>
            <a:ext cx="16230600" cy="17367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După 20.000 de evaluări, Random Search a generat, în medie, soluții cu cea mai mare valoare de fitness de -158,89. AmbieGen depășește Random Search, configurația SO producând soluții cu 42% mai bune, având o valoare de fitness de -278,2, iar configurația MO generând soluții cu o valoare de fitness de -251,6. Având același interval de timp, AmbieGen SO produce soluții cu aproape 10% mai bune decât AmbieGen MO.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5576379" y="5864564"/>
            <a:ext cx="7135243" cy="3705020"/>
          </a:xfrm>
          <a:custGeom>
            <a:avLst/>
            <a:gdLst/>
            <a:ahLst/>
            <a:cxnLst/>
            <a:rect l="l" t="t" r="r" b="b"/>
            <a:pathLst>
              <a:path w="7135243" h="3705020">
                <a:moveTo>
                  <a:pt x="0" y="0"/>
                </a:moveTo>
                <a:lnTo>
                  <a:pt x="7135242" y="0"/>
                </a:lnTo>
                <a:lnTo>
                  <a:pt x="7135242" y="3705020"/>
                </a:lnTo>
                <a:lnTo>
                  <a:pt x="0" y="3705020"/>
                </a:lnTo>
                <a:lnTo>
                  <a:pt x="0" y="0"/>
                </a:lnTo>
                <a:close/>
              </a:path>
            </a:pathLst>
          </a:custGeom>
          <a:blipFill>
            <a:blip r:embed="rId2"/>
            <a:stretch>
              <a:fillRect/>
            </a:stretch>
          </a:blipFill>
        </p:spPr>
      </p:sp>
      <p:sp>
        <p:nvSpPr>
          <p:cNvPr id="3" name="TextBox 3"/>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EXPERIMENT VEHICULE</a:t>
            </a:r>
          </a:p>
        </p:txBody>
      </p:sp>
      <p:sp>
        <p:nvSpPr>
          <p:cNvPr id="4" name="TextBox 4"/>
          <p:cNvSpPr txBox="1"/>
          <p:nvPr/>
        </p:nvSpPr>
        <p:spPr>
          <a:xfrm>
            <a:off x="1028700" y="1855944"/>
            <a:ext cx="16230600" cy="34893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În urma a 100.000 de evaluări, căutarea aleatorie a generat scenarii cu cea mai mare valoare medie de fitness de -9. AmbieGen MO și SO au produs soluții cu aproape 50% mai bune, cu valori de fitness de -17 și respectiv -16. Nu s-a observat nicio diferență statistică între cele mai bune soluții generate de SO și MO.</a:t>
            </a:r>
          </a:p>
          <a:p>
            <a:pPr algn="l">
              <a:lnSpc>
                <a:spcPts val="3499"/>
              </a:lnSpc>
            </a:pPr>
            <a:endParaRPr lang="en-US" sz="2499">
              <a:solidFill>
                <a:srgbClr val="000000"/>
              </a:solidFill>
              <a:latin typeface="Alatsi"/>
              <a:ea typeface="Alatsi"/>
              <a:cs typeface="Alatsi"/>
              <a:sym typeface="Alatsi"/>
            </a:endParaRPr>
          </a:p>
          <a:p>
            <a:pPr algn="l">
              <a:lnSpc>
                <a:spcPts val="3499"/>
              </a:lnSpc>
            </a:pPr>
            <a:r>
              <a:rPr lang="en-US" sz="2499">
                <a:solidFill>
                  <a:srgbClr val="000000"/>
                </a:solidFill>
                <a:latin typeface="Alatsi"/>
                <a:ea typeface="Alatsi"/>
                <a:cs typeface="Alatsi"/>
                <a:sym typeface="Alatsi"/>
              </a:rPr>
              <a:t>În general, se poate observa că, pentru toate problemele analizate, AmbieGen găsește soluții în medie cu 40% până la 50% mai bune decât Random Search. AmbieGen SO și AmbieGen MO nu prezintă diferențe statistice în soluțiile produse pentru problemele legate de termostat și LKAS. În cazul problemei robotului, AmbieGen SO produce soluții mai bune după 20.000 de evaluări.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AutoShape 3"/>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4" name="Freeform 4"/>
          <p:cNvSpPr/>
          <p:nvPr/>
        </p:nvSpPr>
        <p:spPr>
          <a:xfrm>
            <a:off x="9936495" y="3029062"/>
            <a:ext cx="7322805" cy="4627493"/>
          </a:xfrm>
          <a:custGeom>
            <a:avLst/>
            <a:gdLst/>
            <a:ahLst/>
            <a:cxnLst/>
            <a:rect l="l" t="t" r="r" b="b"/>
            <a:pathLst>
              <a:path w="7322805" h="4627493">
                <a:moveTo>
                  <a:pt x="0" y="0"/>
                </a:moveTo>
                <a:lnTo>
                  <a:pt x="7322805" y="0"/>
                </a:lnTo>
                <a:lnTo>
                  <a:pt x="7322805" y="4627494"/>
                </a:lnTo>
                <a:lnTo>
                  <a:pt x="0" y="4627494"/>
                </a:lnTo>
                <a:lnTo>
                  <a:pt x="0" y="0"/>
                </a:lnTo>
                <a:close/>
              </a:path>
            </a:pathLst>
          </a:custGeom>
          <a:blipFill>
            <a:blip r:embed="rId2"/>
            <a:stretch>
              <a:fillRect/>
            </a:stretch>
          </a:blipFill>
        </p:spPr>
      </p:sp>
      <p:sp>
        <p:nvSpPr>
          <p:cNvPr id="5" name="TextBox 5"/>
          <p:cNvSpPr txBox="1"/>
          <p:nvPr/>
        </p:nvSpPr>
        <p:spPr>
          <a:xfrm>
            <a:off x="2553980" y="508000"/>
            <a:ext cx="13180039" cy="190817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COMPARARE CU ALTE TOOL-URI</a:t>
            </a:r>
          </a:p>
          <a:p>
            <a:pPr algn="ctr">
              <a:lnSpc>
                <a:spcPts val="7699"/>
              </a:lnSpc>
            </a:pPr>
            <a:r>
              <a:rPr lang="en-US" sz="5499">
                <a:solidFill>
                  <a:srgbClr val="000000"/>
                </a:solidFill>
                <a:latin typeface="Alatsi"/>
                <a:ea typeface="Alatsi"/>
                <a:cs typeface="Alatsi"/>
                <a:sym typeface="Alatsi"/>
              </a:rPr>
              <a:t>-FRENETIC-</a:t>
            </a:r>
          </a:p>
        </p:txBody>
      </p:sp>
      <p:sp>
        <p:nvSpPr>
          <p:cNvPr id="6" name="TextBox 6"/>
          <p:cNvSpPr txBox="1"/>
          <p:nvPr/>
        </p:nvSpPr>
        <p:spPr>
          <a:xfrm>
            <a:off x="1028700" y="2981437"/>
            <a:ext cx="8344582" cy="39274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În figura alăturată, dintr-un total de 30 de rulări, AmbieGen și Frenetic au generat, în medie, aproape același număr de erori, și anume 14, în timp ce Random Search a produs, în medie, doar 9 erori.</a:t>
            </a:r>
          </a:p>
          <a:p>
            <a:pPr algn="l">
              <a:lnSpc>
                <a:spcPts val="3499"/>
              </a:lnSpc>
            </a:pPr>
            <a:endParaRPr lang="en-US" sz="2499">
              <a:solidFill>
                <a:srgbClr val="000000"/>
              </a:solidFill>
              <a:latin typeface="Alatsi"/>
              <a:ea typeface="Alatsi"/>
              <a:cs typeface="Alatsi"/>
              <a:sym typeface="Alatsi"/>
            </a:endParaRPr>
          </a:p>
          <a:p>
            <a:pPr algn="l">
              <a:lnSpc>
                <a:spcPts val="3499"/>
              </a:lnSpc>
            </a:pPr>
            <a:r>
              <a:rPr lang="en-US" sz="2499">
                <a:solidFill>
                  <a:srgbClr val="000000"/>
                </a:solidFill>
                <a:latin typeface="Alatsi"/>
                <a:ea typeface="Alatsi"/>
                <a:cs typeface="Alatsi"/>
                <a:sym typeface="Alatsi"/>
              </a:rPr>
              <a:t>Astfel, AmbieGen demonstrează că, deși nu este un framework specializat pe o anumită arie, poate obține rezultate comparabile cu cele ale unui framework specializat, subliniind versatilitatea și eficiența sa în diverse contexte.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028700" y="6950974"/>
            <a:ext cx="4392951" cy="2307326"/>
          </a:xfrm>
          <a:custGeom>
            <a:avLst/>
            <a:gdLst/>
            <a:ahLst/>
            <a:cxnLst/>
            <a:rect l="l" t="t" r="r" b="b"/>
            <a:pathLst>
              <a:path w="4392951" h="2307326">
                <a:moveTo>
                  <a:pt x="0" y="0"/>
                </a:moveTo>
                <a:lnTo>
                  <a:pt x="4392951" y="0"/>
                </a:lnTo>
                <a:lnTo>
                  <a:pt x="4392951" y="2307326"/>
                </a:lnTo>
                <a:lnTo>
                  <a:pt x="0" y="2307326"/>
                </a:lnTo>
                <a:lnTo>
                  <a:pt x="0" y="0"/>
                </a:lnTo>
                <a:close/>
              </a:path>
            </a:pathLst>
          </a:custGeom>
          <a:blipFill>
            <a:blip r:embed="rId2"/>
            <a:stretch>
              <a:fillRect/>
            </a:stretch>
          </a:blipFill>
        </p:spPr>
      </p:sp>
      <p:sp>
        <p:nvSpPr>
          <p:cNvPr id="3" name="Freeform 3"/>
          <p:cNvSpPr/>
          <p:nvPr/>
        </p:nvSpPr>
        <p:spPr>
          <a:xfrm>
            <a:off x="6961342" y="6906475"/>
            <a:ext cx="4365317" cy="2351825"/>
          </a:xfrm>
          <a:custGeom>
            <a:avLst/>
            <a:gdLst/>
            <a:ahLst/>
            <a:cxnLst/>
            <a:rect l="l" t="t" r="r" b="b"/>
            <a:pathLst>
              <a:path w="4365317" h="2351825">
                <a:moveTo>
                  <a:pt x="0" y="0"/>
                </a:moveTo>
                <a:lnTo>
                  <a:pt x="4365316" y="0"/>
                </a:lnTo>
                <a:lnTo>
                  <a:pt x="4365316" y="2351825"/>
                </a:lnTo>
                <a:lnTo>
                  <a:pt x="0" y="2351825"/>
                </a:lnTo>
                <a:lnTo>
                  <a:pt x="0" y="0"/>
                </a:lnTo>
                <a:close/>
              </a:path>
            </a:pathLst>
          </a:custGeom>
          <a:blipFill>
            <a:blip r:embed="rId3"/>
            <a:stretch>
              <a:fillRect/>
            </a:stretch>
          </a:blipFill>
        </p:spPr>
      </p:sp>
      <p:sp>
        <p:nvSpPr>
          <p:cNvPr id="4" name="Freeform 4"/>
          <p:cNvSpPr/>
          <p:nvPr/>
        </p:nvSpPr>
        <p:spPr>
          <a:xfrm>
            <a:off x="12869708" y="6906475"/>
            <a:ext cx="4322492" cy="2351825"/>
          </a:xfrm>
          <a:custGeom>
            <a:avLst/>
            <a:gdLst/>
            <a:ahLst/>
            <a:cxnLst/>
            <a:rect l="l" t="t" r="r" b="b"/>
            <a:pathLst>
              <a:path w="4322492" h="2351825">
                <a:moveTo>
                  <a:pt x="0" y="0"/>
                </a:moveTo>
                <a:lnTo>
                  <a:pt x="4322492" y="0"/>
                </a:lnTo>
                <a:lnTo>
                  <a:pt x="4322492" y="2351825"/>
                </a:lnTo>
                <a:lnTo>
                  <a:pt x="0" y="2351825"/>
                </a:lnTo>
                <a:lnTo>
                  <a:pt x="0" y="0"/>
                </a:lnTo>
                <a:close/>
              </a:path>
            </a:pathLst>
          </a:custGeom>
          <a:blipFill>
            <a:blip r:embed="rId4"/>
            <a:stretch>
              <a:fillRect/>
            </a:stretch>
          </a:blipFill>
        </p:spPr>
      </p:sp>
      <p:sp>
        <p:nvSpPr>
          <p:cNvPr id="5" name="TextBox 5"/>
          <p:cNvSpPr txBox="1"/>
          <p:nvPr/>
        </p:nvSpPr>
        <p:spPr>
          <a:xfrm>
            <a:off x="2553980" y="508000"/>
            <a:ext cx="13180039" cy="190817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COMPARARE ENVIRONMENTURI</a:t>
            </a:r>
          </a:p>
          <a:p>
            <a:pPr algn="ctr">
              <a:lnSpc>
                <a:spcPts val="7699"/>
              </a:lnSpc>
            </a:pPr>
            <a:r>
              <a:rPr lang="en-US" sz="5499">
                <a:solidFill>
                  <a:srgbClr val="000000"/>
                </a:solidFill>
                <a:latin typeface="Alatsi"/>
                <a:ea typeface="Alatsi"/>
                <a:cs typeface="Alatsi"/>
                <a:sym typeface="Alatsi"/>
              </a:rPr>
              <a:t>-BEAMNG VS DAVE-2-</a:t>
            </a:r>
          </a:p>
        </p:txBody>
      </p:sp>
      <p:sp>
        <p:nvSpPr>
          <p:cNvPr id="6" name="TextBox 6"/>
          <p:cNvSpPr txBox="1"/>
          <p:nvPr/>
        </p:nvSpPr>
        <p:spPr>
          <a:xfrm>
            <a:off x="1028700" y="2981437"/>
            <a:ext cx="16230600" cy="30511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Dave-2 utilizează o arhitectură de tip Deep Learning (DL) formată din trei straturi convoluționale, urmate de cinci straturi complet conectate , pentru a prezice unghiurile de direcție pe baza imaginilor capturate de cameră. Dave-2 a fost antrenat la viteze reduse, astfel încât viteza maximă a acestei configurații este de 35 km/h.</a:t>
            </a:r>
          </a:p>
          <a:p>
            <a:pPr algn="l">
              <a:lnSpc>
                <a:spcPts val="3499"/>
              </a:lnSpc>
            </a:pPr>
            <a:endParaRPr lang="en-US" sz="2499">
              <a:solidFill>
                <a:srgbClr val="000000"/>
              </a:solidFill>
              <a:latin typeface="Alatsi"/>
              <a:ea typeface="Alatsi"/>
              <a:cs typeface="Alatsi"/>
              <a:sym typeface="Alatsi"/>
            </a:endParaRPr>
          </a:p>
          <a:p>
            <a:pPr algn="l">
              <a:lnSpc>
                <a:spcPts val="3499"/>
              </a:lnSpc>
            </a:pPr>
            <a:r>
              <a:rPr lang="en-US" sz="2499">
                <a:solidFill>
                  <a:srgbClr val="000000"/>
                </a:solidFill>
                <a:latin typeface="Alatsi"/>
                <a:ea typeface="Alatsi"/>
                <a:cs typeface="Alatsi"/>
                <a:sym typeface="Alatsi"/>
              </a:rPr>
              <a:t>BeamNG.AI cunoaște geometria întregului drum și utilizează un proces de optimizare pentru a planifica traiectorii care mențin vehiculul cât mai aproape de limita de viteză, asigurând în același timp că acesta rămâne în interiorul benzii de circulație. În BeamNG, mașina poate atinge o viteză de până la 70 km/h.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3938117" y="3186659"/>
            <a:ext cx="12632247" cy="1952625"/>
          </a:xfrm>
          <a:prstGeom prst="rect">
            <a:avLst/>
          </a:prstGeom>
        </p:spPr>
        <p:txBody>
          <a:bodyPr lIns="0" tIns="0" rIns="0" bIns="0" rtlCol="0" anchor="t">
            <a:spAutoFit/>
          </a:bodyPr>
          <a:lstStyle/>
          <a:p>
            <a:pPr algn="ctr">
              <a:lnSpc>
                <a:spcPts val="14550"/>
              </a:lnSpc>
            </a:pPr>
            <a:r>
              <a:rPr lang="en-US" sz="15000">
                <a:solidFill>
                  <a:srgbClr val="000000"/>
                </a:solidFill>
                <a:latin typeface="Alatsi"/>
                <a:ea typeface="Alatsi"/>
                <a:cs typeface="Alatsi"/>
                <a:sym typeface="Alatsi"/>
              </a:rPr>
              <a:t>APLICAȚIA</a:t>
            </a:r>
          </a:p>
        </p:txBody>
      </p:sp>
      <p:sp>
        <p:nvSpPr>
          <p:cNvPr id="13" name="Freeform 13"/>
          <p:cNvSpPr/>
          <p:nvPr/>
        </p:nvSpPr>
        <p:spPr>
          <a:xfrm>
            <a:off x="13557619" y="-131752"/>
            <a:ext cx="5342052" cy="1809444"/>
          </a:xfrm>
          <a:custGeom>
            <a:avLst/>
            <a:gdLst/>
            <a:ahLst/>
            <a:cxnLst/>
            <a:rect l="l" t="t" r="r" b="b"/>
            <a:pathLst>
              <a:path w="5342052" h="1809444">
                <a:moveTo>
                  <a:pt x="0" y="0"/>
                </a:moveTo>
                <a:lnTo>
                  <a:pt x="5342052" y="0"/>
                </a:lnTo>
                <a:lnTo>
                  <a:pt x="5342052" y="1809445"/>
                </a:lnTo>
                <a:lnTo>
                  <a:pt x="0" y="18094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3938117" y="5034509"/>
            <a:ext cx="12625348" cy="978279"/>
          </a:xfrm>
          <a:prstGeom prst="rect">
            <a:avLst/>
          </a:prstGeom>
        </p:spPr>
        <p:txBody>
          <a:bodyPr lIns="0" tIns="0" rIns="0" bIns="0" rtlCol="0" anchor="t">
            <a:spAutoFit/>
          </a:bodyPr>
          <a:lstStyle/>
          <a:p>
            <a:pPr algn="ctr">
              <a:lnSpc>
                <a:spcPts val="8029"/>
              </a:lnSpc>
            </a:pPr>
            <a:r>
              <a:rPr lang="en-US" sz="5735">
                <a:solidFill>
                  <a:srgbClr val="000000"/>
                </a:solidFill>
                <a:latin typeface="Alatsi"/>
                <a:ea typeface="Alatsi"/>
                <a:cs typeface="Alatsi"/>
                <a:sym typeface="Alatsi"/>
              </a:rPr>
              <a:t>-Partea III-</a:t>
            </a:r>
          </a:p>
        </p:txBody>
      </p:sp>
      <p:sp>
        <p:nvSpPr>
          <p:cNvPr id="15" name="Freeform 15"/>
          <p:cNvSpPr/>
          <p:nvPr/>
        </p:nvSpPr>
        <p:spPr>
          <a:xfrm>
            <a:off x="13191796" y="9474378"/>
            <a:ext cx="5707875" cy="1933355"/>
          </a:xfrm>
          <a:custGeom>
            <a:avLst/>
            <a:gdLst/>
            <a:ahLst/>
            <a:cxnLst/>
            <a:rect l="l" t="t" r="r" b="b"/>
            <a:pathLst>
              <a:path w="5707875" h="1933355">
                <a:moveTo>
                  <a:pt x="0" y="0"/>
                </a:moveTo>
                <a:lnTo>
                  <a:pt x="5707875" y="0"/>
                </a:lnTo>
                <a:lnTo>
                  <a:pt x="5707875" y="1933355"/>
                </a:lnTo>
                <a:lnTo>
                  <a:pt x="0" y="1933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dirty="0">
                <a:solidFill>
                  <a:srgbClr val="000000"/>
                </a:solidFill>
                <a:latin typeface="Alatsi"/>
                <a:ea typeface="Alatsi"/>
                <a:cs typeface="Alatsi"/>
                <a:sym typeface="Alatsi"/>
              </a:rPr>
              <a:t>CONFIGUR</a:t>
            </a:r>
            <a:r>
              <a:rPr lang="ro-RO" sz="5499" dirty="0">
                <a:solidFill>
                  <a:srgbClr val="000000"/>
                </a:solidFill>
                <a:latin typeface="Alatsi"/>
                <a:ea typeface="Alatsi"/>
                <a:cs typeface="Alatsi"/>
                <a:sym typeface="Alatsi"/>
              </a:rPr>
              <a:t>Ă</a:t>
            </a:r>
            <a:r>
              <a:rPr lang="en-US" sz="5499" dirty="0">
                <a:solidFill>
                  <a:srgbClr val="000000"/>
                </a:solidFill>
                <a:latin typeface="Alatsi"/>
                <a:ea typeface="Alatsi"/>
                <a:cs typeface="Alatsi"/>
                <a:sym typeface="Alatsi"/>
              </a:rPr>
              <a:t>RILE VEHICULELOR</a:t>
            </a:r>
          </a:p>
        </p:txBody>
      </p:sp>
      <p:sp>
        <p:nvSpPr>
          <p:cNvPr id="3" name="TextBox 3"/>
          <p:cNvSpPr txBox="1"/>
          <p:nvPr/>
        </p:nvSpPr>
        <p:spPr>
          <a:xfrm>
            <a:off x="801020" y="3338512"/>
            <a:ext cx="16448755" cy="8604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Vehiculele disponibile și componentele acestora sunt organizate în fișiere json. Fiecare vehicul are mai multe opțiuni de motor, transmisie, suspensii (față si spate), frâne (față și spate).</a:t>
            </a:r>
          </a:p>
        </p:txBody>
      </p:sp>
      <p:sp>
        <p:nvSpPr>
          <p:cNvPr id="4" name="TextBox 4"/>
          <p:cNvSpPr txBox="1"/>
          <p:nvPr/>
        </p:nvSpPr>
        <p:spPr>
          <a:xfrm>
            <a:off x="801020" y="5095875"/>
            <a:ext cx="16458280" cy="21748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Vehiculul și componentele alese de utilizator sunt salvate intr-un fișier json. </a:t>
            </a:r>
          </a:p>
          <a:p>
            <a:pPr algn="l">
              <a:lnSpc>
                <a:spcPts val="3499"/>
              </a:lnSpc>
            </a:pPr>
            <a:r>
              <a:rPr lang="en-US" sz="2499">
                <a:solidFill>
                  <a:srgbClr val="000000"/>
                </a:solidFill>
                <a:latin typeface="Alatsi"/>
                <a:ea typeface="Alatsi"/>
                <a:cs typeface="Alatsi"/>
                <a:sym typeface="Alatsi"/>
              </a:rPr>
              <a:t>Acesta este încarcat în memoria aplicației. </a:t>
            </a:r>
          </a:p>
          <a:p>
            <a:pPr algn="l">
              <a:lnSpc>
                <a:spcPts val="3499"/>
              </a:lnSpc>
            </a:pPr>
            <a:r>
              <a:rPr lang="en-US" sz="2499">
                <a:solidFill>
                  <a:srgbClr val="000000"/>
                </a:solidFill>
                <a:latin typeface="Alatsi"/>
                <a:ea typeface="Alatsi"/>
                <a:cs typeface="Alatsi"/>
                <a:sym typeface="Alatsi"/>
              </a:rPr>
              <a:t>Pentru componentele unde nu a fost specificată o opțiune, sunt selectate opțiuni implicite. </a:t>
            </a:r>
          </a:p>
          <a:p>
            <a:pPr algn="l">
              <a:lnSpc>
                <a:spcPts val="3499"/>
              </a:lnSpc>
            </a:pPr>
            <a:r>
              <a:rPr lang="en-US" sz="2499">
                <a:solidFill>
                  <a:srgbClr val="000000"/>
                </a:solidFill>
                <a:latin typeface="Alatsi"/>
                <a:ea typeface="Alatsi"/>
                <a:cs typeface="Alatsi"/>
                <a:sym typeface="Alatsi"/>
              </a:rPr>
              <a:t>Se validează configurarea finală pentru a nu conține componente ce nu sunt prevăzute în fișiserele sursă, pentru vehiculul ales.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028700" y="1444625"/>
            <a:ext cx="16230600" cy="7790688"/>
          </a:xfrm>
          <a:custGeom>
            <a:avLst/>
            <a:gdLst/>
            <a:ahLst/>
            <a:cxnLst/>
            <a:rect l="l" t="t" r="r" b="b"/>
            <a:pathLst>
              <a:path w="16230600" h="7790688">
                <a:moveTo>
                  <a:pt x="0" y="0"/>
                </a:moveTo>
                <a:lnTo>
                  <a:pt x="16230600" y="0"/>
                </a:lnTo>
                <a:lnTo>
                  <a:pt x="16230600" y="7790688"/>
                </a:lnTo>
                <a:lnTo>
                  <a:pt x="0" y="7790688"/>
                </a:lnTo>
                <a:lnTo>
                  <a:pt x="0" y="0"/>
                </a:lnTo>
                <a:close/>
              </a:path>
            </a:pathLst>
          </a:custGeom>
          <a:blipFill>
            <a:blip r:embed="rId2"/>
            <a:stretch>
              <a:fillRect/>
            </a:stretch>
          </a:blipFill>
        </p:spPr>
      </p:sp>
      <p:sp>
        <p:nvSpPr>
          <p:cNvPr id="3" name="TextBox 3"/>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SIMULATORUL</a:t>
            </a:r>
          </a:p>
        </p:txBody>
      </p:sp>
      <p:sp>
        <p:nvSpPr>
          <p:cNvPr id="4" name="TextBox 4"/>
          <p:cNvSpPr txBox="1"/>
          <p:nvPr/>
        </p:nvSpPr>
        <p:spPr>
          <a:xfrm>
            <a:off x="1972192" y="3024699"/>
            <a:ext cx="14369964" cy="8604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Traseul este același pentru fiecare simulare, fiind predefinit într-un fișier python. Acesta reprezintă o linie curba închisă.</a:t>
            </a:r>
          </a:p>
        </p:txBody>
      </p:sp>
      <p:sp>
        <p:nvSpPr>
          <p:cNvPr id="5" name="TextBox 5"/>
          <p:cNvSpPr txBox="1"/>
          <p:nvPr/>
        </p:nvSpPr>
        <p:spPr>
          <a:xfrm>
            <a:off x="1972192" y="5105400"/>
            <a:ext cx="4733927" cy="2517217"/>
          </a:xfrm>
          <a:prstGeom prst="rect">
            <a:avLst/>
          </a:prstGeom>
        </p:spPr>
        <p:txBody>
          <a:bodyPr lIns="0" tIns="0" rIns="0" bIns="0" rtlCol="0" anchor="t">
            <a:spAutoFit/>
          </a:bodyPr>
          <a:lstStyle/>
          <a:p>
            <a:pPr algn="just">
              <a:lnSpc>
                <a:spcPts val="3381"/>
              </a:lnSpc>
            </a:pPr>
            <a:r>
              <a:rPr lang="en-US" sz="2415">
                <a:solidFill>
                  <a:srgbClr val="000000"/>
                </a:solidFill>
                <a:latin typeface="Alatsi"/>
                <a:ea typeface="Alatsi"/>
                <a:cs typeface="Alatsi"/>
                <a:sym typeface="Alatsi"/>
              </a:rPr>
              <a:t>Inițial, vehiculul este plasat în poziția de start. </a:t>
            </a:r>
          </a:p>
          <a:p>
            <a:pPr algn="just">
              <a:lnSpc>
                <a:spcPts val="3381"/>
              </a:lnSpc>
            </a:pPr>
            <a:r>
              <a:rPr lang="en-US" sz="2415">
                <a:solidFill>
                  <a:srgbClr val="000000"/>
                </a:solidFill>
                <a:latin typeface="Alatsi"/>
                <a:ea typeface="Alatsi"/>
                <a:cs typeface="Alatsi"/>
                <a:sym typeface="Alatsi"/>
              </a:rPr>
              <a:t>Modelul AI utilizat va avea un nivel de agresiune mai ridicat, având mai multe șanse să comită greșeli pe traseu.</a:t>
            </a:r>
          </a:p>
        </p:txBody>
      </p:sp>
      <p:sp>
        <p:nvSpPr>
          <p:cNvPr id="6" name="TextBox 6"/>
          <p:cNvSpPr txBox="1"/>
          <p:nvPr/>
        </p:nvSpPr>
        <p:spPr>
          <a:xfrm>
            <a:off x="3129072" y="1472125"/>
            <a:ext cx="12056203" cy="514350"/>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Alatsi"/>
                <a:ea typeface="Alatsi"/>
                <a:cs typeface="Alatsi"/>
                <a:sym typeface="Alatsi"/>
              </a:rPr>
              <a:t>Pregătirea scenariului</a:t>
            </a:r>
          </a:p>
        </p:txBody>
      </p:sp>
      <p:sp>
        <p:nvSpPr>
          <p:cNvPr id="7" name="TextBox 7"/>
          <p:cNvSpPr txBox="1"/>
          <p:nvPr/>
        </p:nvSpPr>
        <p:spPr>
          <a:xfrm>
            <a:off x="11405273" y="5095875"/>
            <a:ext cx="4936882" cy="1298575"/>
          </a:xfrm>
          <a:prstGeom prst="rect">
            <a:avLst/>
          </a:prstGeom>
        </p:spPr>
        <p:txBody>
          <a:bodyPr lIns="0" tIns="0" rIns="0" bIns="0" rtlCol="0" anchor="t">
            <a:spAutoFit/>
          </a:bodyPr>
          <a:lstStyle/>
          <a:p>
            <a:pPr algn="just">
              <a:lnSpc>
                <a:spcPts val="3499"/>
              </a:lnSpc>
            </a:pPr>
            <a:r>
              <a:rPr lang="en-US" sz="2499">
                <a:solidFill>
                  <a:srgbClr val="000000"/>
                </a:solidFill>
                <a:latin typeface="Alatsi"/>
                <a:ea typeface="Alatsi"/>
                <a:cs typeface="Alatsi"/>
                <a:sym typeface="Alatsi"/>
              </a:rPr>
              <a:t>Biblioteca python beamngpy a fost utilizată pentru a pregăti simularea și a interacționa cu aceasta.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2384076"/>
            <a:ext cx="16230600" cy="8604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Din momentul în care vehiculul se află în poziția de start, un temporizator pornește. Acesta va măsura în cât timp este completat traseul.</a:t>
            </a:r>
          </a:p>
        </p:txBody>
      </p:sp>
      <p:sp>
        <p:nvSpPr>
          <p:cNvPr id="3" name="TextBox 3"/>
          <p:cNvSpPr txBox="1"/>
          <p:nvPr/>
        </p:nvSpPr>
        <p:spPr>
          <a:xfrm>
            <a:off x="1028700" y="5066470"/>
            <a:ext cx="16230600" cy="12985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Pentru a evita cazul în care vehiculul iese de pe carosabil și nu termină traseul, un timp maxim predefinit este pus la dispoziție. </a:t>
            </a:r>
          </a:p>
          <a:p>
            <a:pPr algn="l">
              <a:lnSpc>
                <a:spcPts val="3499"/>
              </a:lnSpc>
            </a:pPr>
            <a:r>
              <a:rPr lang="en-US" sz="2499">
                <a:solidFill>
                  <a:srgbClr val="000000"/>
                </a:solidFill>
                <a:latin typeface="Alatsi"/>
                <a:ea typeface="Alatsi"/>
                <a:cs typeface="Alatsi"/>
                <a:sym typeface="Alatsi"/>
              </a:rPr>
              <a:t>La expirarea acestuia, simularea ia sfârșit și traseul se consideră nefinalizat.</a:t>
            </a:r>
          </a:p>
        </p:txBody>
      </p:sp>
      <p:sp>
        <p:nvSpPr>
          <p:cNvPr id="4" name="TextBox 4"/>
          <p:cNvSpPr txBox="1"/>
          <p:nvPr/>
        </p:nvSpPr>
        <p:spPr>
          <a:xfrm>
            <a:off x="1028700" y="7121525"/>
            <a:ext cx="16230600" cy="42227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Poziția vehiculului din mediul local de simulare este sincronizată la un interval de timp regulat cu serverele BeamNg.</a:t>
            </a:r>
          </a:p>
        </p:txBody>
      </p:sp>
      <p:sp>
        <p:nvSpPr>
          <p:cNvPr id="5" name="TextBox 5"/>
          <p:cNvSpPr txBox="1"/>
          <p:nvPr/>
        </p:nvSpPr>
        <p:spPr>
          <a:xfrm>
            <a:off x="1028700" y="3904082"/>
            <a:ext cx="16230600" cy="860425"/>
          </a:xfrm>
          <a:prstGeom prst="rect">
            <a:avLst/>
          </a:prstGeom>
        </p:spPr>
        <p:txBody>
          <a:bodyPr lIns="0" tIns="0" rIns="0" bIns="0" rtlCol="0" anchor="t">
            <a:spAutoFit/>
          </a:bodyPr>
          <a:lstStyle/>
          <a:p>
            <a:pPr algn="l">
              <a:lnSpc>
                <a:spcPts val="3499"/>
              </a:lnSpc>
            </a:pPr>
            <a:r>
              <a:rPr lang="en-US" sz="2499">
                <a:solidFill>
                  <a:srgbClr val="000000"/>
                </a:solidFill>
                <a:latin typeface="Alatsi"/>
                <a:ea typeface="Alatsi"/>
                <a:cs typeface="Alatsi"/>
                <a:sym typeface="Alatsi"/>
              </a:rPr>
              <a:t>Completarea se consideră atunci când vehiculul ajunge înapoi la poziția de start, cu o eroare maximă permisă predefinită.</a:t>
            </a:r>
          </a:p>
        </p:txBody>
      </p:sp>
      <p:sp>
        <p:nvSpPr>
          <p:cNvPr id="6" name="TextBox 6"/>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LOGICA DE ÎNCHEIERE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742788" y="5542252"/>
            <a:ext cx="2705296" cy="2743943"/>
          </a:xfrm>
          <a:custGeom>
            <a:avLst/>
            <a:gdLst/>
            <a:ahLst/>
            <a:cxnLst/>
            <a:rect l="l" t="t" r="r" b="b"/>
            <a:pathLst>
              <a:path w="2705296" h="2743943">
                <a:moveTo>
                  <a:pt x="0" y="0"/>
                </a:moveTo>
                <a:lnTo>
                  <a:pt x="2705296" y="0"/>
                </a:lnTo>
                <a:lnTo>
                  <a:pt x="2705296" y="2743944"/>
                </a:lnTo>
                <a:lnTo>
                  <a:pt x="0" y="2743944"/>
                </a:lnTo>
                <a:lnTo>
                  <a:pt x="0" y="0"/>
                </a:lnTo>
                <a:close/>
              </a:path>
            </a:pathLst>
          </a:custGeom>
          <a:blipFill>
            <a:blip r:embed="rId2"/>
            <a:stretch>
              <a:fillRect/>
            </a:stretch>
          </a:blipFill>
        </p:spPr>
      </p:sp>
      <p:sp>
        <p:nvSpPr>
          <p:cNvPr id="3" name="Freeform 3"/>
          <p:cNvSpPr/>
          <p:nvPr/>
        </p:nvSpPr>
        <p:spPr>
          <a:xfrm>
            <a:off x="11701822" y="4570148"/>
            <a:ext cx="5247005" cy="4688152"/>
          </a:xfrm>
          <a:custGeom>
            <a:avLst/>
            <a:gdLst/>
            <a:ahLst/>
            <a:cxnLst/>
            <a:rect l="l" t="t" r="r" b="b"/>
            <a:pathLst>
              <a:path w="5247005" h="4688152">
                <a:moveTo>
                  <a:pt x="0" y="0"/>
                </a:moveTo>
                <a:lnTo>
                  <a:pt x="5247005" y="0"/>
                </a:lnTo>
                <a:lnTo>
                  <a:pt x="5247005" y="4688152"/>
                </a:lnTo>
                <a:lnTo>
                  <a:pt x="0" y="4688152"/>
                </a:lnTo>
                <a:lnTo>
                  <a:pt x="0" y="0"/>
                </a:lnTo>
                <a:close/>
              </a:path>
            </a:pathLst>
          </a:custGeom>
          <a:blipFill>
            <a:blip r:embed="rId3"/>
            <a:stretch>
              <a:fillRect/>
            </a:stretch>
          </a:blipFill>
        </p:spPr>
      </p:sp>
      <p:sp>
        <p:nvSpPr>
          <p:cNvPr id="4" name="Freeform 4"/>
          <p:cNvSpPr/>
          <p:nvPr/>
        </p:nvSpPr>
        <p:spPr>
          <a:xfrm>
            <a:off x="6449456" y="4570148"/>
            <a:ext cx="3178550" cy="4688152"/>
          </a:xfrm>
          <a:custGeom>
            <a:avLst/>
            <a:gdLst/>
            <a:ahLst/>
            <a:cxnLst/>
            <a:rect l="l" t="t" r="r" b="b"/>
            <a:pathLst>
              <a:path w="3178550" h="4688152">
                <a:moveTo>
                  <a:pt x="0" y="0"/>
                </a:moveTo>
                <a:lnTo>
                  <a:pt x="3178551" y="0"/>
                </a:lnTo>
                <a:lnTo>
                  <a:pt x="3178551" y="4688152"/>
                </a:lnTo>
                <a:lnTo>
                  <a:pt x="0" y="4688152"/>
                </a:lnTo>
                <a:lnTo>
                  <a:pt x="0" y="0"/>
                </a:lnTo>
                <a:close/>
              </a:path>
            </a:pathLst>
          </a:custGeom>
          <a:blipFill>
            <a:blip r:embed="rId4"/>
            <a:stretch>
              <a:fillRect/>
            </a:stretch>
          </a:blipFill>
        </p:spPr>
      </p:sp>
      <p:sp>
        <p:nvSpPr>
          <p:cNvPr id="5" name="TextBox 5"/>
          <p:cNvSpPr txBox="1"/>
          <p:nvPr/>
        </p:nvSpPr>
        <p:spPr>
          <a:xfrm>
            <a:off x="1028700" y="2347526"/>
            <a:ext cx="15920127" cy="1298575"/>
          </a:xfrm>
          <a:prstGeom prst="rect">
            <a:avLst/>
          </a:prstGeom>
        </p:spPr>
        <p:txBody>
          <a:bodyPr lIns="0" tIns="0" rIns="0" bIns="0" rtlCol="0" anchor="t">
            <a:spAutoFit/>
          </a:bodyPr>
          <a:lstStyle/>
          <a:p>
            <a:pPr algn="just">
              <a:lnSpc>
                <a:spcPts val="3499"/>
              </a:lnSpc>
            </a:pPr>
            <a:r>
              <a:rPr lang="en-US" sz="2499">
                <a:solidFill>
                  <a:srgbClr val="000000"/>
                </a:solidFill>
                <a:latin typeface="Alatsi"/>
                <a:ea typeface="Alatsi"/>
                <a:cs typeface="Alatsi"/>
                <a:sym typeface="Alatsi"/>
              </a:rPr>
              <a:t>Simularea poate fi rulată în două moduri: </a:t>
            </a:r>
          </a:p>
          <a:p>
            <a:pPr marL="539749" lvl="1" indent="-269875" algn="just">
              <a:lnSpc>
                <a:spcPts val="3499"/>
              </a:lnSpc>
              <a:buFont typeface="Arial"/>
              <a:buChar char="•"/>
            </a:pPr>
            <a:r>
              <a:rPr lang="en-US" sz="2499">
                <a:solidFill>
                  <a:srgbClr val="000000"/>
                </a:solidFill>
                <a:latin typeface="Alatsi"/>
                <a:ea typeface="Alatsi"/>
                <a:cs typeface="Alatsi"/>
                <a:sym typeface="Alatsi"/>
              </a:rPr>
              <a:t>pentru a testa performanța unei singure configurări de vehicul;</a:t>
            </a:r>
          </a:p>
          <a:p>
            <a:pPr marL="539749" lvl="1" indent="-269875" algn="just">
              <a:lnSpc>
                <a:spcPts val="3499"/>
              </a:lnSpc>
              <a:buFont typeface="Arial"/>
              <a:buChar char="•"/>
            </a:pPr>
            <a:r>
              <a:rPr lang="en-US" sz="2499">
                <a:solidFill>
                  <a:srgbClr val="000000"/>
                </a:solidFill>
                <a:latin typeface="Alatsi"/>
                <a:ea typeface="Alatsi"/>
                <a:cs typeface="Alatsi"/>
                <a:sym typeface="Alatsi"/>
              </a:rPr>
              <a:t>pentru a compara două configurări. </a:t>
            </a:r>
          </a:p>
        </p:txBody>
      </p:sp>
      <p:sp>
        <p:nvSpPr>
          <p:cNvPr id="6" name="TextBox 6"/>
          <p:cNvSpPr txBox="1"/>
          <p:nvPr/>
        </p:nvSpPr>
        <p:spPr>
          <a:xfrm>
            <a:off x="5916662" y="508000"/>
            <a:ext cx="6656338" cy="936625"/>
          </a:xfrm>
          <a:prstGeom prst="rect">
            <a:avLst/>
          </a:prstGeom>
        </p:spPr>
        <p:txBody>
          <a:bodyPr wrap="square" lIns="0" tIns="0" rIns="0" bIns="0" rtlCol="0" anchor="t">
            <a:spAutoFit/>
          </a:bodyPr>
          <a:lstStyle/>
          <a:p>
            <a:pPr algn="ctr">
              <a:lnSpc>
                <a:spcPts val="7699"/>
              </a:lnSpc>
              <a:spcBef>
                <a:spcPct val="0"/>
              </a:spcBef>
            </a:pPr>
            <a:r>
              <a:rPr lang="en-US" sz="5499" dirty="0">
                <a:solidFill>
                  <a:srgbClr val="000000"/>
                </a:solidFill>
                <a:latin typeface="Alatsi"/>
                <a:ea typeface="Alatsi"/>
                <a:cs typeface="Alatsi"/>
                <a:sym typeface="Alatsi"/>
              </a:rPr>
              <a:t>MODURILE DE RULARE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6674322" y="3682579"/>
            <a:ext cx="4939356" cy="4717078"/>
          </a:xfrm>
          <a:custGeom>
            <a:avLst/>
            <a:gdLst/>
            <a:ahLst/>
            <a:cxnLst/>
            <a:rect l="l" t="t" r="r" b="b"/>
            <a:pathLst>
              <a:path w="4939356" h="4717078">
                <a:moveTo>
                  <a:pt x="0" y="0"/>
                </a:moveTo>
                <a:lnTo>
                  <a:pt x="4939356" y="0"/>
                </a:lnTo>
                <a:lnTo>
                  <a:pt x="4939356" y="4717078"/>
                </a:lnTo>
                <a:lnTo>
                  <a:pt x="0" y="4717078"/>
                </a:lnTo>
                <a:lnTo>
                  <a:pt x="0" y="0"/>
                </a:lnTo>
                <a:close/>
              </a:path>
            </a:pathLst>
          </a:custGeom>
          <a:blipFill>
            <a:blip r:embed="rId2"/>
            <a:stretch>
              <a:fillRect l="-7280" r="-7280" b="-16"/>
            </a:stretch>
          </a:blipFill>
        </p:spPr>
      </p:sp>
      <p:sp>
        <p:nvSpPr>
          <p:cNvPr id="3" name="Freeform 3"/>
          <p:cNvSpPr/>
          <p:nvPr/>
        </p:nvSpPr>
        <p:spPr>
          <a:xfrm>
            <a:off x="12118127" y="3682579"/>
            <a:ext cx="5576616" cy="4717078"/>
          </a:xfrm>
          <a:custGeom>
            <a:avLst/>
            <a:gdLst/>
            <a:ahLst/>
            <a:cxnLst/>
            <a:rect l="l" t="t" r="r" b="b"/>
            <a:pathLst>
              <a:path w="5576616" h="4717078">
                <a:moveTo>
                  <a:pt x="0" y="0"/>
                </a:moveTo>
                <a:lnTo>
                  <a:pt x="5576616" y="0"/>
                </a:lnTo>
                <a:lnTo>
                  <a:pt x="5576616" y="4717078"/>
                </a:lnTo>
                <a:lnTo>
                  <a:pt x="0" y="4717078"/>
                </a:lnTo>
                <a:lnTo>
                  <a:pt x="0" y="0"/>
                </a:lnTo>
                <a:close/>
              </a:path>
            </a:pathLst>
          </a:custGeom>
          <a:blipFill>
            <a:blip r:embed="rId3"/>
            <a:stretch>
              <a:fillRect l="-726" r="-726"/>
            </a:stretch>
          </a:blipFill>
        </p:spPr>
      </p:sp>
      <p:sp>
        <p:nvSpPr>
          <p:cNvPr id="4" name="Freeform 4"/>
          <p:cNvSpPr/>
          <p:nvPr/>
        </p:nvSpPr>
        <p:spPr>
          <a:xfrm>
            <a:off x="1028700" y="3773885"/>
            <a:ext cx="5294160" cy="4625772"/>
          </a:xfrm>
          <a:custGeom>
            <a:avLst/>
            <a:gdLst/>
            <a:ahLst/>
            <a:cxnLst/>
            <a:rect l="l" t="t" r="r" b="b"/>
            <a:pathLst>
              <a:path w="5294160" h="4625772">
                <a:moveTo>
                  <a:pt x="0" y="0"/>
                </a:moveTo>
                <a:lnTo>
                  <a:pt x="5294160" y="0"/>
                </a:lnTo>
                <a:lnTo>
                  <a:pt x="5294160" y="4625772"/>
                </a:lnTo>
                <a:lnTo>
                  <a:pt x="0" y="4625772"/>
                </a:lnTo>
                <a:lnTo>
                  <a:pt x="0" y="0"/>
                </a:lnTo>
                <a:close/>
              </a:path>
            </a:pathLst>
          </a:custGeom>
          <a:blipFill>
            <a:blip r:embed="rId4"/>
            <a:stretch>
              <a:fillRect/>
            </a:stretch>
          </a:blipFill>
        </p:spPr>
      </p:sp>
      <p:sp>
        <p:nvSpPr>
          <p:cNvPr id="5" name="TextBox 5"/>
          <p:cNvSpPr txBox="1"/>
          <p:nvPr/>
        </p:nvSpPr>
        <p:spPr>
          <a:xfrm>
            <a:off x="1028700" y="2562884"/>
            <a:ext cx="16230600" cy="422275"/>
          </a:xfrm>
          <a:prstGeom prst="rect">
            <a:avLst/>
          </a:prstGeom>
        </p:spPr>
        <p:txBody>
          <a:bodyPr lIns="0" tIns="0" rIns="0" bIns="0" rtlCol="0" anchor="t">
            <a:spAutoFit/>
          </a:bodyPr>
          <a:lstStyle/>
          <a:p>
            <a:pPr algn="just">
              <a:lnSpc>
                <a:spcPts val="3499"/>
              </a:lnSpc>
            </a:pPr>
            <a:r>
              <a:rPr lang="en-US" sz="2499">
                <a:solidFill>
                  <a:srgbClr val="000000"/>
                </a:solidFill>
                <a:latin typeface="Alatsi"/>
                <a:ea typeface="Alatsi"/>
                <a:cs typeface="Alatsi"/>
                <a:sym typeface="Alatsi"/>
              </a:rPr>
              <a:t>În urma simulărilor, rezultatele analitice pot fi vizualizate în grafice.</a:t>
            </a:r>
          </a:p>
        </p:txBody>
      </p:sp>
      <p:sp>
        <p:nvSpPr>
          <p:cNvPr id="6" name="TextBox 6"/>
          <p:cNvSpPr txBox="1"/>
          <p:nvPr/>
        </p:nvSpPr>
        <p:spPr>
          <a:xfrm>
            <a:off x="5577929" y="508000"/>
            <a:ext cx="7223671" cy="936625"/>
          </a:xfrm>
          <a:prstGeom prst="rect">
            <a:avLst/>
          </a:prstGeom>
        </p:spPr>
        <p:txBody>
          <a:bodyPr wrap="square" lIns="0" tIns="0" rIns="0" bIns="0" rtlCol="0" anchor="t">
            <a:spAutoFit/>
          </a:bodyPr>
          <a:lstStyle/>
          <a:p>
            <a:pPr algn="ctr">
              <a:lnSpc>
                <a:spcPts val="7699"/>
              </a:lnSpc>
              <a:spcBef>
                <a:spcPct val="0"/>
              </a:spcBef>
            </a:pPr>
            <a:r>
              <a:rPr lang="en-US" sz="5499" dirty="0">
                <a:solidFill>
                  <a:srgbClr val="000000"/>
                </a:solidFill>
                <a:latin typeface="Alatsi"/>
                <a:ea typeface="Alatsi"/>
                <a:cs typeface="Alatsi"/>
                <a:sym typeface="Alatsi"/>
              </a:rPr>
              <a:t>ANALIZA REZULTATELOR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3938117" y="3186659"/>
            <a:ext cx="12632247" cy="1952625"/>
          </a:xfrm>
          <a:prstGeom prst="rect">
            <a:avLst/>
          </a:prstGeom>
        </p:spPr>
        <p:txBody>
          <a:bodyPr lIns="0" tIns="0" rIns="0" bIns="0" rtlCol="0" anchor="t">
            <a:spAutoFit/>
          </a:bodyPr>
          <a:lstStyle/>
          <a:p>
            <a:pPr algn="ctr">
              <a:lnSpc>
                <a:spcPts val="14550"/>
              </a:lnSpc>
            </a:pPr>
            <a:r>
              <a:rPr lang="en-US" sz="15000">
                <a:solidFill>
                  <a:srgbClr val="000000"/>
                </a:solidFill>
                <a:latin typeface="Alatsi"/>
                <a:ea typeface="Alatsi"/>
                <a:cs typeface="Alatsi"/>
                <a:sym typeface="Alatsi"/>
              </a:rPr>
              <a:t>FEEDBACK</a:t>
            </a:r>
          </a:p>
        </p:txBody>
      </p:sp>
      <p:sp>
        <p:nvSpPr>
          <p:cNvPr id="13" name="Freeform 13"/>
          <p:cNvSpPr/>
          <p:nvPr/>
        </p:nvSpPr>
        <p:spPr>
          <a:xfrm>
            <a:off x="13557619" y="-131752"/>
            <a:ext cx="5342052" cy="1809444"/>
          </a:xfrm>
          <a:custGeom>
            <a:avLst/>
            <a:gdLst/>
            <a:ahLst/>
            <a:cxnLst/>
            <a:rect l="l" t="t" r="r" b="b"/>
            <a:pathLst>
              <a:path w="5342052" h="1809444">
                <a:moveTo>
                  <a:pt x="0" y="0"/>
                </a:moveTo>
                <a:lnTo>
                  <a:pt x="5342052" y="0"/>
                </a:lnTo>
                <a:lnTo>
                  <a:pt x="5342052" y="1809445"/>
                </a:lnTo>
                <a:lnTo>
                  <a:pt x="0" y="18094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3938117" y="5034509"/>
            <a:ext cx="12625348" cy="978279"/>
          </a:xfrm>
          <a:prstGeom prst="rect">
            <a:avLst/>
          </a:prstGeom>
        </p:spPr>
        <p:txBody>
          <a:bodyPr lIns="0" tIns="0" rIns="0" bIns="0" rtlCol="0" anchor="t">
            <a:spAutoFit/>
          </a:bodyPr>
          <a:lstStyle/>
          <a:p>
            <a:pPr algn="ctr">
              <a:lnSpc>
                <a:spcPts val="8029"/>
              </a:lnSpc>
            </a:pPr>
            <a:r>
              <a:rPr lang="en-US" sz="5735">
                <a:solidFill>
                  <a:srgbClr val="000000"/>
                </a:solidFill>
                <a:latin typeface="Alatsi"/>
                <a:ea typeface="Alatsi"/>
                <a:cs typeface="Alatsi"/>
                <a:sym typeface="Alatsi"/>
              </a:rPr>
              <a:t>-Partea IV-</a:t>
            </a:r>
          </a:p>
        </p:txBody>
      </p:sp>
      <p:sp>
        <p:nvSpPr>
          <p:cNvPr id="15" name="Freeform 15"/>
          <p:cNvSpPr/>
          <p:nvPr/>
        </p:nvSpPr>
        <p:spPr>
          <a:xfrm>
            <a:off x="13191796" y="9474378"/>
            <a:ext cx="5707875" cy="1933355"/>
          </a:xfrm>
          <a:custGeom>
            <a:avLst/>
            <a:gdLst/>
            <a:ahLst/>
            <a:cxnLst/>
            <a:rect l="l" t="t" r="r" b="b"/>
            <a:pathLst>
              <a:path w="5707875" h="1933355">
                <a:moveTo>
                  <a:pt x="0" y="0"/>
                </a:moveTo>
                <a:lnTo>
                  <a:pt x="5707875" y="0"/>
                </a:lnTo>
                <a:lnTo>
                  <a:pt x="5707875" y="1933355"/>
                </a:lnTo>
                <a:lnTo>
                  <a:pt x="0" y="1933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508000"/>
            <a:ext cx="13180039" cy="936625"/>
          </a:xfrm>
          <a:prstGeom prst="rect">
            <a:avLst/>
          </a:prstGeom>
        </p:spPr>
        <p:txBody>
          <a:bodyPr lIns="0" tIns="0" rIns="0" bIns="0" rtlCol="0" anchor="t">
            <a:spAutoFit/>
          </a:bodyPr>
          <a:lstStyle/>
          <a:p>
            <a:pPr algn="ctr">
              <a:lnSpc>
                <a:spcPts val="7699"/>
              </a:lnSpc>
            </a:pPr>
            <a:r>
              <a:rPr lang="en-US" sz="5499">
                <a:solidFill>
                  <a:srgbClr val="000000"/>
                </a:solidFill>
                <a:latin typeface="Alatsi"/>
                <a:ea typeface="Alatsi"/>
                <a:cs typeface="Alatsi"/>
                <a:sym typeface="Alatsi"/>
              </a:rPr>
              <a:t>FEEDBACK </a:t>
            </a:r>
          </a:p>
        </p:txBody>
      </p:sp>
      <p:sp>
        <p:nvSpPr>
          <p:cNvPr id="3" name="TextBox 3"/>
          <p:cNvSpPr txBox="1"/>
          <p:nvPr/>
        </p:nvSpPr>
        <p:spPr>
          <a:xfrm>
            <a:off x="966605" y="2591392"/>
            <a:ext cx="16354789" cy="6255687"/>
          </a:xfrm>
          <a:prstGeom prst="rect">
            <a:avLst/>
          </a:prstGeom>
        </p:spPr>
        <p:txBody>
          <a:bodyPr lIns="0" tIns="0" rIns="0" bIns="0" rtlCol="0" anchor="t">
            <a:spAutoFit/>
          </a:bodyPr>
          <a:lstStyle/>
          <a:p>
            <a:pPr algn="l">
              <a:lnSpc>
                <a:spcPts val="3499"/>
              </a:lnSpc>
            </a:pPr>
            <a:r>
              <a:rPr lang="en-US" sz="2499" dirty="0" err="1">
                <a:solidFill>
                  <a:srgbClr val="000000"/>
                </a:solidFill>
                <a:latin typeface="Alatsi"/>
                <a:ea typeface="Alatsi"/>
                <a:cs typeface="Alatsi"/>
                <a:sym typeface="Alatsi"/>
              </a:rPr>
              <a:t>Deși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AmbieGen</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este</a:t>
            </a:r>
            <a:r>
              <a:rPr lang="en-US" sz="2499" dirty="0">
                <a:solidFill>
                  <a:srgbClr val="000000"/>
                </a:solidFill>
                <a:latin typeface="Alatsi"/>
                <a:ea typeface="Alatsi"/>
                <a:cs typeface="Alatsi"/>
                <a:sym typeface="Alatsi"/>
              </a:rPr>
              <a:t> un framework generic cu </a:t>
            </a:r>
            <a:r>
              <a:rPr lang="en-US" sz="2499" dirty="0" err="1">
                <a:solidFill>
                  <a:srgbClr val="000000"/>
                </a:solidFill>
                <a:latin typeface="Alatsi"/>
                <a:ea typeface="Alatsi"/>
                <a:cs typeface="Alatsi"/>
                <a:sym typeface="Alatsi"/>
              </a:rPr>
              <a:t>potențial</a:t>
            </a:r>
            <a:r>
              <a:rPr lang="en-US" sz="2499" dirty="0">
                <a:solidFill>
                  <a:srgbClr val="000000"/>
                </a:solidFill>
                <a:latin typeface="Alatsi"/>
                <a:ea typeface="Alatsi"/>
                <a:cs typeface="Alatsi"/>
                <a:sym typeface="Alatsi"/>
              </a:rPr>
              <a:t> mare </a:t>
            </a:r>
            <a:r>
              <a:rPr lang="en-US" sz="2499" dirty="0" err="1">
                <a:solidFill>
                  <a:srgbClr val="000000"/>
                </a:solidFill>
                <a:latin typeface="Alatsi"/>
                <a:ea typeface="Alatsi"/>
                <a:cs typeface="Alatsi"/>
                <a:sym typeface="Alatsi"/>
              </a:rPr>
              <a:t>datorită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modularității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și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compatibilității</a:t>
            </a:r>
            <a:r>
              <a:rPr lang="en-US" sz="2499" dirty="0">
                <a:solidFill>
                  <a:srgbClr val="000000"/>
                </a:solidFill>
                <a:latin typeface="Alatsi"/>
                <a:ea typeface="Alatsi"/>
                <a:cs typeface="Alatsi"/>
                <a:sym typeface="Alatsi"/>
              </a:rPr>
              <a:t> sale cu </a:t>
            </a:r>
            <a:r>
              <a:rPr lang="en-US" sz="2499" dirty="0" err="1">
                <a:solidFill>
                  <a:srgbClr val="000000"/>
                </a:solidFill>
                <a:latin typeface="Alatsi"/>
                <a:ea typeface="Alatsi"/>
                <a:cs typeface="Alatsi"/>
                <a:sym typeface="Alatsi"/>
              </a:rPr>
              <a:t>Pymoo</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există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câteva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lucruri</a:t>
            </a:r>
            <a:r>
              <a:rPr lang="en-US" sz="2499" dirty="0">
                <a:solidFill>
                  <a:srgbClr val="000000"/>
                </a:solidFill>
                <a:latin typeface="Alatsi"/>
                <a:ea typeface="Alatsi"/>
                <a:cs typeface="Alatsi"/>
                <a:sym typeface="Alatsi"/>
              </a:rPr>
              <a:t> pe care le-am </a:t>
            </a:r>
            <a:r>
              <a:rPr lang="en-US" sz="2499" dirty="0" err="1">
                <a:solidFill>
                  <a:srgbClr val="000000"/>
                </a:solidFill>
                <a:latin typeface="Alatsi"/>
                <a:ea typeface="Alatsi"/>
                <a:cs typeface="Alatsi"/>
                <a:sym typeface="Alatsi"/>
              </a:rPr>
              <a:t>observat</a:t>
            </a:r>
            <a:r>
              <a:rPr lang="en-US" sz="2499" dirty="0">
                <a:solidFill>
                  <a:srgbClr val="000000"/>
                </a:solidFill>
                <a:latin typeface="Alatsi"/>
                <a:ea typeface="Alatsi"/>
                <a:cs typeface="Alatsi"/>
                <a:sym typeface="Alatsi"/>
              </a:rPr>
              <a:t> pe </a:t>
            </a:r>
            <a:r>
              <a:rPr lang="en-US" sz="2499" dirty="0" err="1">
                <a:solidFill>
                  <a:srgbClr val="000000"/>
                </a:solidFill>
                <a:latin typeface="Alatsi"/>
                <a:ea typeface="Alatsi"/>
                <a:cs typeface="Alatsi"/>
                <a:sym typeface="Alatsi"/>
              </a:rPr>
              <a:t>parcursul</a:t>
            </a:r>
            <a:r>
              <a:rPr lang="en-US" sz="2499" dirty="0">
                <a:solidFill>
                  <a:srgbClr val="000000"/>
                </a:solidFill>
                <a:latin typeface="Alatsi"/>
                <a:ea typeface="Alatsi"/>
                <a:cs typeface="Alatsi"/>
                <a:sym typeface="Alatsi"/>
              </a:rPr>
              <a:t> research-</a:t>
            </a:r>
            <a:r>
              <a:rPr lang="en-US" sz="2499" dirty="0" err="1">
                <a:solidFill>
                  <a:srgbClr val="000000"/>
                </a:solidFill>
                <a:latin typeface="Alatsi"/>
                <a:ea typeface="Alatsi"/>
                <a:cs typeface="Alatsi"/>
                <a:sym typeface="Alatsi"/>
              </a:rPr>
              <a:t>ului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efectuat</a:t>
            </a:r>
            <a:r>
              <a:rPr lang="en-US" sz="2499" dirty="0">
                <a:solidFill>
                  <a:srgbClr val="000000"/>
                </a:solidFill>
                <a:latin typeface="Alatsi"/>
                <a:ea typeface="Alatsi"/>
                <a:cs typeface="Alatsi"/>
                <a:sym typeface="Alatsi"/>
              </a:rPr>
              <a:t>:</a:t>
            </a:r>
          </a:p>
          <a:p>
            <a:pPr marL="539749" lvl="1" indent="-269875" algn="l">
              <a:lnSpc>
                <a:spcPts val="3499"/>
              </a:lnSpc>
              <a:buAutoNum type="arabicPeriod"/>
            </a:pPr>
            <a:r>
              <a:rPr lang="en-US" sz="2499" dirty="0" err="1">
                <a:solidFill>
                  <a:srgbClr val="000000"/>
                </a:solidFill>
                <a:latin typeface="Alatsi"/>
                <a:ea typeface="Alatsi"/>
                <a:cs typeface="Alatsi"/>
                <a:sym typeface="Alatsi"/>
              </a:rPr>
              <a:t>Pentru</a:t>
            </a:r>
            <a:r>
              <a:rPr lang="en-US" sz="2499" dirty="0">
                <a:solidFill>
                  <a:srgbClr val="000000"/>
                </a:solidFill>
                <a:latin typeface="Alatsi"/>
                <a:ea typeface="Alatsi"/>
                <a:cs typeface="Alatsi"/>
                <a:sym typeface="Alatsi"/>
              </a:rPr>
              <a:t> LKAS </a:t>
            </a:r>
            <a:r>
              <a:rPr lang="en-US" sz="2499" dirty="0" err="1">
                <a:solidFill>
                  <a:srgbClr val="000000"/>
                </a:solidFill>
                <a:latin typeface="Alatsi"/>
                <a:ea typeface="Alatsi"/>
                <a:cs typeface="Alatsi"/>
                <a:sym typeface="Alatsi"/>
              </a:rPr>
              <a:t>AmbieGen</a:t>
            </a:r>
            <a:r>
              <a:rPr lang="en-US" sz="2499" dirty="0">
                <a:solidFill>
                  <a:srgbClr val="000000"/>
                </a:solidFill>
                <a:latin typeface="Alatsi"/>
                <a:ea typeface="Alatsi"/>
                <a:cs typeface="Alatsi"/>
                <a:sym typeface="Alatsi"/>
              </a:rPr>
              <a:t> are </a:t>
            </a:r>
            <a:r>
              <a:rPr lang="en-US" sz="2499" dirty="0" err="1">
                <a:solidFill>
                  <a:srgbClr val="000000"/>
                </a:solidFill>
                <a:latin typeface="Alatsi"/>
                <a:ea typeface="Alatsi"/>
                <a:cs typeface="Alatsi"/>
                <a:sym typeface="Alatsi"/>
              </a:rPr>
              <a:t>rezultate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aproape</a:t>
            </a:r>
            <a:r>
              <a:rPr lang="en-US" sz="2499" dirty="0">
                <a:solidFill>
                  <a:srgbClr val="000000"/>
                </a:solidFill>
                <a:latin typeface="Alatsi"/>
                <a:ea typeface="Alatsi"/>
                <a:cs typeface="Alatsi"/>
                <a:sym typeface="Alatsi"/>
              </a:rPr>
              <a:t> la </a:t>
            </a:r>
            <a:r>
              <a:rPr lang="en-US" sz="2499" dirty="0" err="1">
                <a:solidFill>
                  <a:srgbClr val="000000"/>
                </a:solidFill>
                <a:latin typeface="Alatsi"/>
                <a:ea typeface="Alatsi"/>
                <a:cs typeface="Alatsi"/>
                <a:sym typeface="Alatsi"/>
              </a:rPr>
              <a:t>fel</a:t>
            </a:r>
            <a:r>
              <a:rPr lang="en-US" sz="2499" dirty="0">
                <a:solidFill>
                  <a:srgbClr val="000000"/>
                </a:solidFill>
                <a:latin typeface="Alatsi"/>
                <a:ea typeface="Alatsi"/>
                <a:cs typeface="Alatsi"/>
                <a:sym typeface="Alatsi"/>
              </a:rPr>
              <a:t> de </a:t>
            </a:r>
            <a:r>
              <a:rPr lang="en-US" sz="2499" dirty="0" err="1">
                <a:solidFill>
                  <a:srgbClr val="000000"/>
                </a:solidFill>
                <a:latin typeface="Alatsi"/>
                <a:ea typeface="Alatsi"/>
                <a:cs typeface="Alatsi"/>
                <a:sym typeface="Alatsi"/>
              </a:rPr>
              <a:t>bune</a:t>
            </a:r>
            <a:r>
              <a:rPr lang="en-US" sz="2499" dirty="0">
                <a:solidFill>
                  <a:srgbClr val="000000"/>
                </a:solidFill>
                <a:latin typeface="Alatsi"/>
                <a:ea typeface="Alatsi"/>
                <a:cs typeface="Alatsi"/>
                <a:sym typeface="Alatsi"/>
              </a:rPr>
              <a:t> ca Frenetic, </a:t>
            </a:r>
            <a:r>
              <a:rPr lang="en-US" sz="2499" dirty="0" err="1">
                <a:solidFill>
                  <a:srgbClr val="000000"/>
                </a:solidFill>
                <a:latin typeface="Alatsi"/>
                <a:ea typeface="Alatsi"/>
                <a:cs typeface="Alatsi"/>
                <a:sym typeface="Alatsi"/>
              </a:rPr>
              <a:t>dar</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în</a:t>
            </a:r>
            <a:r>
              <a:rPr lang="en-US" sz="2499" dirty="0">
                <a:solidFill>
                  <a:srgbClr val="000000"/>
                </a:solidFill>
                <a:latin typeface="Alatsi"/>
                <a:ea typeface="Alatsi"/>
                <a:cs typeface="Alatsi"/>
                <a:sym typeface="Alatsi"/>
              </a:rPr>
              <a:t> general Frenetic are o </a:t>
            </a:r>
            <a:r>
              <a:rPr lang="en-US" sz="2499" dirty="0" err="1">
                <a:solidFill>
                  <a:srgbClr val="000000"/>
                </a:solidFill>
                <a:latin typeface="Alatsi"/>
                <a:ea typeface="Alatsi"/>
                <a:cs typeface="Alatsi"/>
                <a:sym typeface="Alatsi"/>
              </a:rPr>
              <a:t>eficiență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mai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bună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și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în</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ciuda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faptului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este</a:t>
            </a:r>
            <a:r>
              <a:rPr lang="en-US" sz="2499" dirty="0">
                <a:solidFill>
                  <a:srgbClr val="000000"/>
                </a:solidFill>
                <a:latin typeface="Alatsi"/>
                <a:ea typeface="Alatsi"/>
                <a:cs typeface="Alatsi"/>
                <a:sym typeface="Alatsi"/>
              </a:rPr>
              <a:t> un tool </a:t>
            </a:r>
            <a:r>
              <a:rPr lang="en-US" sz="2499" dirty="0" err="1">
                <a:solidFill>
                  <a:srgbClr val="000000"/>
                </a:solidFill>
                <a:latin typeface="Alatsi"/>
                <a:ea typeface="Alatsi"/>
                <a:cs typeface="Alatsi"/>
                <a:sym typeface="Alatsi"/>
              </a:rPr>
              <a:t>specializat</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doar</a:t>
            </a:r>
            <a:r>
              <a:rPr lang="en-US" sz="2499" dirty="0">
                <a:solidFill>
                  <a:srgbClr val="000000"/>
                </a:solidFill>
                <a:latin typeface="Alatsi"/>
                <a:ea typeface="Alatsi"/>
                <a:cs typeface="Alatsi"/>
                <a:sym typeface="Alatsi"/>
              </a:rPr>
              <a:t> pe o </a:t>
            </a:r>
            <a:r>
              <a:rPr lang="en-US" sz="2499" dirty="0" err="1">
                <a:solidFill>
                  <a:srgbClr val="000000"/>
                </a:solidFill>
                <a:latin typeface="Alatsi"/>
                <a:ea typeface="Alatsi"/>
                <a:cs typeface="Alatsi"/>
                <a:sym typeface="Alatsi"/>
              </a:rPr>
              <a:t>problemă</a:t>
            </a:r>
            <a:r>
              <a:rPr lang="en-US" sz="2499" dirty="0">
                <a:solidFill>
                  <a:srgbClr val="000000"/>
                </a:solidFill>
                <a:latin typeface="Alatsi"/>
                <a:ea typeface="Alatsi"/>
                <a:cs typeface="Alatsi"/>
                <a:sym typeface="Alatsi"/>
              </a:rPr>
              <a:t>, nu </a:t>
            </a:r>
            <a:r>
              <a:rPr lang="en-US" sz="2499" dirty="0" err="1">
                <a:solidFill>
                  <a:srgbClr val="000000"/>
                </a:solidFill>
                <a:latin typeface="Alatsi"/>
                <a:ea typeface="Alatsi"/>
                <a:cs typeface="Alatsi"/>
                <a:sym typeface="Alatsi"/>
              </a:rPr>
              <a:t>credem</a:t>
            </a:r>
            <a:r>
              <a:rPr lang="en-US" sz="2499" dirty="0">
                <a:solidFill>
                  <a:srgbClr val="000000"/>
                </a:solidFill>
                <a:latin typeface="Alatsi"/>
                <a:ea typeface="Alatsi"/>
                <a:cs typeface="Alatsi"/>
                <a:sym typeface="Alatsi"/>
              </a:rPr>
              <a:t> ca tool-urile </a:t>
            </a:r>
            <a:r>
              <a:rPr lang="en-US" sz="2499" dirty="0" err="1">
                <a:solidFill>
                  <a:srgbClr val="000000"/>
                </a:solidFill>
                <a:latin typeface="Alatsi"/>
                <a:ea typeface="Alatsi"/>
                <a:cs typeface="Alatsi"/>
                <a:sym typeface="Alatsi"/>
              </a:rPr>
              <a:t>specializate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vor</a:t>
            </a:r>
            <a:r>
              <a:rPr lang="en-US" sz="2499" dirty="0">
                <a:solidFill>
                  <a:srgbClr val="000000"/>
                </a:solidFill>
                <a:latin typeface="Alatsi"/>
                <a:ea typeface="Alatsi"/>
                <a:cs typeface="Alatsi"/>
                <a:sym typeface="Alatsi"/>
              </a:rPr>
              <a:t> fi </a:t>
            </a:r>
            <a:r>
              <a:rPr lang="en-US" sz="2499" dirty="0" err="1">
                <a:solidFill>
                  <a:srgbClr val="000000"/>
                </a:solidFill>
                <a:latin typeface="Alatsi"/>
                <a:ea typeface="Alatsi"/>
                <a:cs typeface="Alatsi"/>
                <a:sym typeface="Alatsi"/>
              </a:rPr>
              <a:t>înlocuite</a:t>
            </a:r>
            <a:r>
              <a:rPr lang="en-US" sz="2499" dirty="0">
                <a:solidFill>
                  <a:srgbClr val="000000"/>
                </a:solidFill>
                <a:latin typeface="Alatsi"/>
                <a:ea typeface="Alatsi"/>
                <a:cs typeface="Alatsi"/>
                <a:sym typeface="Alatsi"/>
              </a:rPr>
              <a:t> de </a:t>
            </a:r>
            <a:r>
              <a:rPr lang="en-US" sz="2499" dirty="0" err="1">
                <a:solidFill>
                  <a:srgbClr val="000000"/>
                </a:solidFill>
                <a:latin typeface="Alatsi"/>
                <a:ea typeface="Alatsi"/>
                <a:cs typeface="Alatsi"/>
                <a:sym typeface="Alatsi"/>
              </a:rPr>
              <a:t>frameworkuri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generice</a:t>
            </a:r>
            <a:r>
              <a:rPr lang="en-US" sz="2499" dirty="0">
                <a:solidFill>
                  <a:srgbClr val="000000"/>
                </a:solidFill>
                <a:latin typeface="Alatsi"/>
                <a:ea typeface="Alatsi"/>
                <a:cs typeface="Alatsi"/>
                <a:sym typeface="Alatsi"/>
              </a:rPr>
              <a:t> precum </a:t>
            </a:r>
            <a:r>
              <a:rPr lang="en-US" sz="2499" dirty="0" err="1">
                <a:solidFill>
                  <a:srgbClr val="000000"/>
                </a:solidFill>
                <a:latin typeface="Alatsi"/>
                <a:ea typeface="Alatsi"/>
                <a:cs typeface="Alatsi"/>
                <a:sym typeface="Alatsi"/>
              </a:rPr>
              <a:t>AmbieGen</a:t>
            </a:r>
            <a:r>
              <a:rPr lang="en-US" sz="2499" dirty="0">
                <a:solidFill>
                  <a:srgbClr val="000000"/>
                </a:solidFill>
                <a:latin typeface="Alatsi"/>
                <a:ea typeface="Alatsi"/>
                <a:cs typeface="Alatsi"/>
                <a:sym typeface="Alatsi"/>
              </a:rPr>
              <a:t>.</a:t>
            </a:r>
          </a:p>
          <a:p>
            <a:pPr marL="539749" lvl="1" indent="-269875" algn="l">
              <a:lnSpc>
                <a:spcPts val="3499"/>
              </a:lnSpc>
              <a:buAutoNum type="arabicPeriod"/>
            </a:pPr>
            <a:r>
              <a:rPr lang="en-US" sz="2499" dirty="0" err="1">
                <a:solidFill>
                  <a:srgbClr val="000000"/>
                </a:solidFill>
                <a:latin typeface="Alatsi"/>
                <a:ea typeface="Alatsi"/>
                <a:cs typeface="Alatsi"/>
                <a:sym typeface="Alatsi"/>
              </a:rPr>
              <a:t>Câteodată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când</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rulam</a:t>
            </a:r>
            <a:r>
              <a:rPr lang="en-US" sz="2499" dirty="0">
                <a:solidFill>
                  <a:srgbClr val="000000"/>
                </a:solidFill>
                <a:latin typeface="Alatsi"/>
                <a:ea typeface="Alatsi"/>
                <a:cs typeface="Alatsi"/>
                <a:sym typeface="Alatsi"/>
              </a:rPr>
              <a:t> direct </a:t>
            </a:r>
            <a:r>
              <a:rPr lang="en-US" sz="2499" dirty="0" err="1">
                <a:solidFill>
                  <a:srgbClr val="000000"/>
                </a:solidFill>
                <a:latin typeface="Alatsi"/>
                <a:ea typeface="Alatsi"/>
                <a:cs typeface="Alatsi"/>
                <a:sym typeface="Alatsi"/>
              </a:rPr>
              <a:t>codul</a:t>
            </a:r>
            <a:r>
              <a:rPr lang="en-US" sz="2499" dirty="0">
                <a:solidFill>
                  <a:srgbClr val="000000"/>
                </a:solidFill>
                <a:latin typeface="Alatsi"/>
                <a:ea typeface="Alatsi"/>
                <a:cs typeface="Alatsi"/>
                <a:sym typeface="Alatsi"/>
              </a:rPr>
              <a:t> de la </a:t>
            </a:r>
            <a:r>
              <a:rPr lang="en-US" sz="2499" dirty="0" err="1">
                <a:solidFill>
                  <a:srgbClr val="000000"/>
                </a:solidFill>
                <a:latin typeface="Alatsi"/>
                <a:ea typeface="Alatsi"/>
                <a:cs typeface="Alatsi"/>
                <a:sym typeface="Alatsi"/>
              </a:rPr>
              <a:t>AmbieGen</a:t>
            </a:r>
            <a:r>
              <a:rPr lang="en-US" sz="2499" dirty="0">
                <a:solidFill>
                  <a:srgbClr val="000000"/>
                </a:solidFill>
                <a:latin typeface="Alatsi"/>
                <a:ea typeface="Alatsi"/>
                <a:cs typeface="Alatsi"/>
                <a:sym typeface="Alatsi"/>
              </a:rPr>
              <a:t> de pe GitHub </a:t>
            </a:r>
            <a:r>
              <a:rPr lang="en-US" sz="2499" dirty="0" err="1">
                <a:solidFill>
                  <a:srgbClr val="000000"/>
                </a:solidFill>
                <a:latin typeface="Alatsi"/>
                <a:ea typeface="Alatsi"/>
                <a:cs typeface="Alatsi"/>
                <a:sym typeface="Alatsi"/>
              </a:rPr>
              <a:t>pentru</a:t>
            </a:r>
            <a:r>
              <a:rPr lang="en-US" sz="2499" dirty="0">
                <a:solidFill>
                  <a:srgbClr val="000000"/>
                </a:solidFill>
                <a:latin typeface="Alatsi"/>
                <a:ea typeface="Alatsi"/>
                <a:cs typeface="Alatsi"/>
                <a:sym typeface="Alatsi"/>
              </a:rPr>
              <a:t> a </a:t>
            </a:r>
            <a:r>
              <a:rPr lang="en-US" sz="2499" dirty="0" err="1">
                <a:solidFill>
                  <a:srgbClr val="000000"/>
                </a:solidFill>
                <a:latin typeface="Alatsi"/>
                <a:ea typeface="Alatsi"/>
                <a:cs typeface="Alatsi"/>
                <a:sym typeface="Alatsi"/>
              </a:rPr>
              <a:t>obține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anumite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rezultate</a:t>
            </a:r>
            <a:r>
              <a:rPr lang="en-US" sz="2499" dirty="0">
                <a:solidFill>
                  <a:srgbClr val="000000"/>
                </a:solidFill>
                <a:latin typeface="Alatsi"/>
                <a:ea typeface="Alatsi"/>
                <a:cs typeface="Alatsi"/>
                <a:sym typeface="Alatsi"/>
              </a:rPr>
              <a:t>/</a:t>
            </a:r>
            <a:r>
              <a:rPr lang="en-US" sz="2499" dirty="0" err="1">
                <a:solidFill>
                  <a:srgbClr val="000000"/>
                </a:solidFill>
                <a:latin typeface="Alatsi"/>
                <a:ea typeface="Alatsi"/>
                <a:cs typeface="Alatsi"/>
                <a:sym typeface="Alatsi"/>
              </a:rPr>
              <a:t>grafice</a:t>
            </a:r>
            <a:r>
              <a:rPr lang="en-US" sz="2499" dirty="0">
                <a:solidFill>
                  <a:srgbClr val="000000"/>
                </a:solidFill>
                <a:latin typeface="Alatsi"/>
                <a:ea typeface="Alatsi"/>
                <a:cs typeface="Alatsi"/>
                <a:sym typeface="Alatsi"/>
              </a:rPr>
              <a:t>, fitness-</a:t>
            </a:r>
            <a:r>
              <a:rPr lang="en-US" sz="2499" dirty="0" err="1">
                <a:solidFill>
                  <a:srgbClr val="000000"/>
                </a:solidFill>
                <a:latin typeface="Alatsi"/>
                <a:ea typeface="Alatsi"/>
                <a:cs typeface="Alatsi"/>
                <a:sym typeface="Alatsi"/>
              </a:rPr>
              <a:t>ul</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scădea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în</a:t>
            </a:r>
            <a:r>
              <a:rPr lang="en-US" sz="2499" dirty="0">
                <a:solidFill>
                  <a:srgbClr val="000000"/>
                </a:solidFill>
                <a:latin typeface="Alatsi"/>
                <a:ea typeface="Alatsi"/>
                <a:cs typeface="Alatsi"/>
                <a:sym typeface="Alatsi"/>
              </a:rPr>
              <a:t> penultima </a:t>
            </a:r>
            <a:r>
              <a:rPr lang="en-US" sz="2499" dirty="0" err="1">
                <a:solidFill>
                  <a:srgbClr val="000000"/>
                </a:solidFill>
                <a:latin typeface="Alatsi"/>
                <a:ea typeface="Alatsi"/>
                <a:cs typeface="Alatsi"/>
                <a:sym typeface="Alatsi"/>
              </a:rPr>
              <a:t>generație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fapt</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ce</a:t>
            </a:r>
            <a:r>
              <a:rPr lang="en-US" sz="2499" dirty="0">
                <a:solidFill>
                  <a:srgbClr val="000000"/>
                </a:solidFill>
                <a:latin typeface="Alatsi"/>
                <a:ea typeface="Alatsi"/>
                <a:cs typeface="Alatsi"/>
                <a:sym typeface="Alatsi"/>
              </a:rPr>
              <a:t> nu </a:t>
            </a:r>
            <a:r>
              <a:rPr lang="en-US" sz="2499" dirty="0" err="1">
                <a:solidFill>
                  <a:srgbClr val="000000"/>
                </a:solidFill>
                <a:latin typeface="Alatsi"/>
                <a:ea typeface="Alatsi"/>
                <a:cs typeface="Alatsi"/>
                <a:sym typeface="Alatsi"/>
              </a:rPr>
              <a:t>ar</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trebuie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să</a:t>
            </a:r>
            <a:r>
              <a:rPr lang="en-US" sz="2499" dirty="0">
                <a:solidFill>
                  <a:srgbClr val="000000"/>
                </a:solidFill>
                <a:latin typeface="Alatsi"/>
                <a:ea typeface="Alatsi"/>
                <a:cs typeface="Alatsi"/>
                <a:sym typeface="Alatsi"/>
              </a:rPr>
              <a:t> se </a:t>
            </a:r>
            <a:r>
              <a:rPr lang="en-US" sz="2499" dirty="0" err="1">
                <a:solidFill>
                  <a:srgbClr val="000000"/>
                </a:solidFill>
                <a:latin typeface="Alatsi"/>
                <a:ea typeface="Alatsi"/>
                <a:cs typeface="Alatsi"/>
                <a:sym typeface="Alatsi"/>
              </a:rPr>
              <a:t>întâmple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niciodată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când</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aveam</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puține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generații</a:t>
            </a:r>
            <a:r>
              <a:rPr lang="en-US" sz="2499" dirty="0">
                <a:solidFill>
                  <a:srgbClr val="000000"/>
                </a:solidFill>
                <a:latin typeface="Alatsi"/>
                <a:ea typeface="Alatsi"/>
                <a:cs typeface="Alatsi"/>
                <a:sym typeface="Alatsi"/>
              </a:rPr>
              <a:t> (10).</a:t>
            </a:r>
          </a:p>
          <a:p>
            <a:pPr marL="539749" lvl="1" indent="-269875" algn="l">
              <a:lnSpc>
                <a:spcPts val="3499"/>
              </a:lnSpc>
              <a:buAutoNum type="arabicPeriod"/>
            </a:pPr>
            <a:r>
              <a:rPr lang="en-US" sz="2499" dirty="0" err="1">
                <a:solidFill>
                  <a:srgbClr val="000000"/>
                </a:solidFill>
                <a:latin typeface="Alatsi"/>
                <a:ea typeface="Alatsi"/>
                <a:cs typeface="Alatsi"/>
                <a:sym typeface="Alatsi"/>
              </a:rPr>
              <a:t>Cazurile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prezentate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în</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lucrare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unde</a:t>
            </a:r>
            <a:r>
              <a:rPr lang="en-US" sz="2499" dirty="0">
                <a:solidFill>
                  <a:srgbClr val="000000"/>
                </a:solidFill>
                <a:latin typeface="Alatsi"/>
                <a:ea typeface="Alatsi"/>
                <a:cs typeface="Alatsi"/>
                <a:sym typeface="Alatsi"/>
              </a:rPr>
              <a:t> se </a:t>
            </a:r>
            <a:r>
              <a:rPr lang="en-US" sz="2499" dirty="0" err="1">
                <a:solidFill>
                  <a:srgbClr val="000000"/>
                </a:solidFill>
                <a:latin typeface="Alatsi"/>
                <a:ea typeface="Alatsi"/>
                <a:cs typeface="Alatsi"/>
                <a:sym typeface="Alatsi"/>
              </a:rPr>
              <a:t>găsesc</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scenarii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critice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pentru</a:t>
            </a:r>
            <a:r>
              <a:rPr lang="en-US" sz="2499" dirty="0">
                <a:solidFill>
                  <a:srgbClr val="000000"/>
                </a:solidFill>
                <a:latin typeface="Alatsi"/>
                <a:ea typeface="Alatsi"/>
                <a:cs typeface="Alatsi"/>
                <a:sym typeface="Alatsi"/>
              </a:rPr>
              <a:t> diverse </a:t>
            </a:r>
            <a:r>
              <a:rPr lang="en-US" sz="2499" dirty="0" err="1">
                <a:solidFill>
                  <a:srgbClr val="000000"/>
                </a:solidFill>
                <a:latin typeface="Alatsi"/>
                <a:ea typeface="Alatsi"/>
                <a:cs typeface="Alatsi"/>
                <a:sym typeface="Alatsi"/>
              </a:rPr>
              <a:t>experimente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scenariul</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pentru</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robotul</a:t>
            </a:r>
            <a:r>
              <a:rPr lang="en-US" sz="2499" dirty="0">
                <a:solidFill>
                  <a:srgbClr val="000000"/>
                </a:solidFill>
                <a:latin typeface="Alatsi"/>
                <a:ea typeface="Alatsi"/>
                <a:cs typeface="Alatsi"/>
                <a:sym typeface="Alatsi"/>
              </a:rPr>
              <a:t> Pioneer 3-AT </a:t>
            </a:r>
            <a:r>
              <a:rPr lang="en-US" sz="2499" dirty="0" err="1">
                <a:solidFill>
                  <a:srgbClr val="000000"/>
                </a:solidFill>
                <a:latin typeface="Alatsi"/>
                <a:ea typeface="Alatsi"/>
                <a:cs typeface="Alatsi"/>
                <a:sym typeface="Alatsi"/>
              </a:rPr>
              <a:t>este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unul</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rudimentar</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iar</a:t>
            </a:r>
            <a:r>
              <a:rPr lang="en-US" sz="2499" dirty="0">
                <a:solidFill>
                  <a:srgbClr val="000000"/>
                </a:solidFill>
                <a:latin typeface="Alatsi"/>
                <a:ea typeface="Alatsi"/>
                <a:cs typeface="Alatsi"/>
                <a:sym typeface="Alatsi"/>
              </a:rPr>
              <a:t> cel </a:t>
            </a:r>
            <a:r>
              <a:rPr lang="en-US" sz="2499" dirty="0" err="1">
                <a:solidFill>
                  <a:srgbClr val="000000"/>
                </a:solidFill>
                <a:latin typeface="Alatsi"/>
                <a:ea typeface="Alatsi"/>
                <a:cs typeface="Alatsi"/>
                <a:sym typeface="Alatsi"/>
              </a:rPr>
              <a:t>pentru</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mașina</a:t>
            </a:r>
            <a:r>
              <a:rPr lang="en-US" sz="2499" dirty="0">
                <a:solidFill>
                  <a:srgbClr val="000000"/>
                </a:solidFill>
                <a:latin typeface="Alatsi"/>
                <a:ea typeface="Alatsi"/>
                <a:cs typeface="Alatsi"/>
                <a:sym typeface="Alatsi"/>
              </a:rPr>
              <a:t> din </a:t>
            </a:r>
            <a:r>
              <a:rPr lang="en-US" sz="2499" dirty="0" err="1">
                <a:solidFill>
                  <a:srgbClr val="000000"/>
                </a:solidFill>
                <a:latin typeface="Alatsi"/>
                <a:ea typeface="Alatsi"/>
                <a:cs typeface="Alatsi"/>
                <a:sym typeface="Alatsi"/>
              </a:rPr>
              <a:t>BeamNg</a:t>
            </a:r>
            <a:r>
              <a:rPr lang="en-US" sz="2499" dirty="0">
                <a:solidFill>
                  <a:srgbClr val="000000"/>
                </a:solidFill>
                <a:latin typeface="Alatsi"/>
                <a:ea typeface="Alatsi"/>
                <a:cs typeface="Alatsi"/>
                <a:sym typeface="Alatsi"/>
              </a:rPr>
              <a:t> nu a </a:t>
            </a:r>
            <a:r>
              <a:rPr lang="en-US" sz="2499" dirty="0" err="1">
                <a:solidFill>
                  <a:srgbClr val="000000"/>
                </a:solidFill>
                <a:latin typeface="Alatsi"/>
                <a:ea typeface="Alatsi"/>
                <a:cs typeface="Alatsi"/>
                <a:sym typeface="Alatsi"/>
              </a:rPr>
              <a:t>fost</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șters</a:t>
            </a:r>
            <a:r>
              <a:rPr lang="en-US" sz="2499" dirty="0">
                <a:solidFill>
                  <a:srgbClr val="000000"/>
                </a:solidFill>
                <a:latin typeface="Alatsi"/>
                <a:ea typeface="Alatsi"/>
                <a:cs typeface="Alatsi"/>
                <a:sym typeface="Alatsi"/>
              </a:rPr>
              <a:t>.</a:t>
            </a:r>
          </a:p>
          <a:p>
            <a:pPr marL="539749" lvl="1" indent="-269875" algn="l">
              <a:lnSpc>
                <a:spcPts val="3499"/>
              </a:lnSpc>
              <a:buAutoNum type="arabicPeriod"/>
            </a:pPr>
            <a:r>
              <a:rPr lang="en-US" sz="2499" dirty="0" err="1">
                <a:solidFill>
                  <a:srgbClr val="000000"/>
                </a:solidFill>
                <a:latin typeface="Alatsi"/>
                <a:ea typeface="Alatsi"/>
                <a:cs typeface="Alatsi"/>
                <a:sym typeface="Alatsi"/>
              </a:rPr>
              <a:t>Experimentul</a:t>
            </a:r>
            <a:r>
              <a:rPr lang="en-US" sz="2499" dirty="0">
                <a:solidFill>
                  <a:srgbClr val="000000"/>
                </a:solidFill>
                <a:latin typeface="Alatsi"/>
                <a:ea typeface="Alatsi"/>
                <a:cs typeface="Alatsi"/>
                <a:sym typeface="Alatsi"/>
              </a:rPr>
              <a:t> cu </a:t>
            </a:r>
            <a:r>
              <a:rPr lang="en-US" sz="2499" dirty="0" err="1">
                <a:solidFill>
                  <a:srgbClr val="000000"/>
                </a:solidFill>
                <a:latin typeface="Alatsi"/>
                <a:ea typeface="Alatsi"/>
                <a:cs typeface="Alatsi"/>
                <a:sym typeface="Alatsi"/>
              </a:rPr>
              <a:t>termostat</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este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prezentat</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în</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lucrarea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inițială</a:t>
            </a:r>
            <a:r>
              <a:rPr lang="en-US" sz="2499" dirty="0">
                <a:solidFill>
                  <a:srgbClr val="000000"/>
                </a:solidFill>
                <a:latin typeface="Alatsi"/>
                <a:ea typeface="Alatsi"/>
                <a:cs typeface="Alatsi"/>
                <a:sym typeface="Alatsi"/>
              </a:rPr>
              <a:t> cu </a:t>
            </a:r>
            <a:r>
              <a:rPr lang="en-US" sz="2499" dirty="0" err="1">
                <a:solidFill>
                  <a:srgbClr val="000000"/>
                </a:solidFill>
                <a:latin typeface="Alatsi"/>
                <a:ea typeface="Alatsi"/>
                <a:cs typeface="Alatsi"/>
                <a:sym typeface="Alatsi"/>
              </a:rPr>
              <a:t>rezultate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obținute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însă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acesta</a:t>
            </a:r>
            <a:r>
              <a:rPr lang="en-US" sz="2499" dirty="0">
                <a:solidFill>
                  <a:srgbClr val="000000"/>
                </a:solidFill>
                <a:latin typeface="Alatsi"/>
                <a:ea typeface="Alatsi"/>
                <a:cs typeface="Alatsi"/>
                <a:sym typeface="Alatsi"/>
              </a:rPr>
              <a:t> nu </a:t>
            </a:r>
            <a:r>
              <a:rPr lang="en-US" sz="2499" dirty="0" err="1">
                <a:solidFill>
                  <a:srgbClr val="000000"/>
                </a:solidFill>
                <a:latin typeface="Alatsi"/>
                <a:ea typeface="Alatsi"/>
                <a:cs typeface="Alatsi"/>
                <a:sym typeface="Alatsi"/>
              </a:rPr>
              <a:t>este</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deloc</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menționat</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în</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lucrarea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principală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cea</a:t>
            </a:r>
            <a:r>
              <a:rPr lang="en-US" sz="2499" dirty="0">
                <a:solidFill>
                  <a:srgbClr val="000000"/>
                </a:solidFill>
                <a:latin typeface="Alatsi"/>
                <a:ea typeface="Alatsi"/>
                <a:cs typeface="Alatsi"/>
                <a:sym typeface="Alatsi"/>
              </a:rPr>
              <a:t> de a </a:t>
            </a:r>
            <a:r>
              <a:rPr lang="en-US" sz="2499" dirty="0" err="1">
                <a:solidFill>
                  <a:srgbClr val="000000"/>
                </a:solidFill>
                <a:latin typeface="Alatsi"/>
                <a:ea typeface="Alatsi"/>
                <a:cs typeface="Alatsi"/>
                <a:sym typeface="Alatsi"/>
              </a:rPr>
              <a:t>doua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lucrare</a:t>
            </a:r>
            <a:r>
              <a:rPr lang="en-US" sz="2499" dirty="0">
                <a:solidFill>
                  <a:srgbClr val="000000"/>
                </a:solidFill>
                <a:latin typeface="Alatsi"/>
                <a:ea typeface="Alatsi"/>
                <a:cs typeface="Alatsi"/>
                <a:sym typeface="Alatsi"/>
              </a:rPr>
              <a:t>).</a:t>
            </a:r>
          </a:p>
          <a:p>
            <a:pPr marL="539749" lvl="1" indent="-269875" algn="l">
              <a:lnSpc>
                <a:spcPts val="3499"/>
              </a:lnSpc>
              <a:buAutoNum type="arabicPeriod"/>
            </a:pPr>
            <a:r>
              <a:rPr lang="en-US" sz="2499" dirty="0" err="1">
                <a:solidFill>
                  <a:srgbClr val="000000"/>
                </a:solidFill>
                <a:latin typeface="Alatsi"/>
                <a:ea typeface="Alatsi"/>
                <a:cs typeface="Alatsi"/>
                <a:sym typeface="Alatsi"/>
              </a:rPr>
              <a:t>În</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lucrarea</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principală</a:t>
            </a:r>
            <a:r>
              <a:rPr lang="en-US" sz="2499" dirty="0">
                <a:solidFill>
                  <a:srgbClr val="000000"/>
                </a:solidFill>
                <a:latin typeface="Alatsi"/>
                <a:ea typeface="Alatsi"/>
                <a:cs typeface="Alatsi"/>
                <a:sym typeface="Alatsi"/>
              </a:rPr>
              <a:t> se </a:t>
            </a:r>
            <a:r>
              <a:rPr lang="en-US" sz="2499" dirty="0" err="1">
                <a:solidFill>
                  <a:srgbClr val="000000"/>
                </a:solidFill>
                <a:latin typeface="Alatsi"/>
                <a:ea typeface="Alatsi"/>
                <a:cs typeface="Alatsi"/>
                <a:sym typeface="Alatsi"/>
              </a:rPr>
              <a:t>menționează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faptul</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că</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AmbieGen</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ajută</a:t>
            </a:r>
            <a:r>
              <a:rPr lang="en-US" sz="2499" dirty="0">
                <a:solidFill>
                  <a:srgbClr val="000000"/>
                </a:solidFill>
                <a:latin typeface="Alatsi"/>
                <a:ea typeface="Alatsi"/>
                <a:cs typeface="Alatsi"/>
                <a:sym typeface="Alatsi"/>
              </a:rPr>
              <a:t> la a </a:t>
            </a:r>
            <a:r>
              <a:rPr lang="en-US" sz="2499" dirty="0" err="1">
                <a:solidFill>
                  <a:srgbClr val="000000"/>
                </a:solidFill>
                <a:latin typeface="Alatsi"/>
                <a:ea typeface="Alatsi"/>
                <a:cs typeface="Alatsi"/>
                <a:sym typeface="Alatsi"/>
              </a:rPr>
              <a:t>răspunde</a:t>
            </a:r>
            <a:r>
              <a:rPr lang="en-US" sz="2499" dirty="0">
                <a:solidFill>
                  <a:srgbClr val="000000"/>
                </a:solidFill>
                <a:latin typeface="Alatsi"/>
                <a:ea typeface="Alatsi"/>
                <a:cs typeface="Alatsi"/>
                <a:sym typeface="Alatsi"/>
              </a:rPr>
              <a:t> la </a:t>
            </a:r>
            <a:r>
              <a:rPr lang="en-US" sz="2499" dirty="0" err="1">
                <a:solidFill>
                  <a:srgbClr val="000000"/>
                </a:solidFill>
                <a:latin typeface="Alatsi"/>
                <a:ea typeface="Alatsi"/>
                <a:cs typeface="Alatsi"/>
                <a:sym typeface="Alatsi"/>
              </a:rPr>
              <a:t>întrebări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mai</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puțin</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discutate</a:t>
            </a:r>
            <a:r>
              <a:rPr lang="en-US" sz="2499" dirty="0">
                <a:solidFill>
                  <a:srgbClr val="000000"/>
                </a:solidFill>
                <a:latin typeface="Alatsi"/>
                <a:ea typeface="Alatsi"/>
                <a:cs typeface="Alatsi"/>
                <a:sym typeface="Alatsi"/>
              </a:rPr>
              <a:t> din </a:t>
            </a:r>
            <a:r>
              <a:rPr lang="en-US" sz="2499" dirty="0" err="1">
                <a:solidFill>
                  <a:srgbClr val="000000"/>
                </a:solidFill>
                <a:latin typeface="Alatsi"/>
                <a:ea typeface="Alatsi"/>
                <a:cs typeface="Alatsi"/>
                <a:sym typeface="Alatsi"/>
              </a:rPr>
              <a:t>mediu</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și</a:t>
            </a:r>
            <a:r>
              <a:rPr lang="en-US" sz="2499" dirty="0">
                <a:solidFill>
                  <a:srgbClr val="000000"/>
                </a:solidFill>
                <a:latin typeface="Alatsi"/>
                <a:ea typeface="Alatsi"/>
                <a:cs typeface="Alatsi"/>
                <a:sym typeface="Alatsi"/>
              </a:rPr>
              <a:t> se </a:t>
            </a:r>
            <a:r>
              <a:rPr lang="en-US" sz="2499" dirty="0" err="1">
                <a:solidFill>
                  <a:srgbClr val="000000"/>
                </a:solidFill>
                <a:latin typeface="Alatsi"/>
                <a:ea typeface="Alatsi"/>
                <a:cs typeface="Alatsi"/>
                <a:sym typeface="Alatsi"/>
              </a:rPr>
              <a:t>prezintă</a:t>
            </a:r>
            <a:r>
              <a:rPr lang="en-US" sz="2499" dirty="0">
                <a:solidFill>
                  <a:srgbClr val="000000"/>
                </a:solidFill>
                <a:latin typeface="Alatsi"/>
                <a:ea typeface="Alatsi"/>
                <a:cs typeface="Alatsi"/>
                <a:sym typeface="Alatsi"/>
              </a:rPr>
              <a:t> 3 </a:t>
            </a:r>
            <a:r>
              <a:rPr lang="en-US" sz="2499" dirty="0" err="1">
                <a:solidFill>
                  <a:srgbClr val="000000"/>
                </a:solidFill>
                <a:latin typeface="Alatsi"/>
                <a:ea typeface="Alatsi"/>
                <a:cs typeface="Alatsi"/>
                <a:sym typeface="Alatsi"/>
              </a:rPr>
              <a:t>cazuri</a:t>
            </a:r>
            <a:r>
              <a:rPr lang="en-US" sz="2499" dirty="0">
                <a:solidFill>
                  <a:srgbClr val="000000"/>
                </a:solidFill>
                <a:latin typeface="Alatsi"/>
                <a:ea typeface="Alatsi"/>
                <a:cs typeface="Alatsi"/>
                <a:sym typeface="Alatsi"/>
              </a:rPr>
              <a:t> high</a:t>
            </a:r>
            <a:r>
              <a:rPr lang="ro-RO" sz="2499" dirty="0">
                <a:solidFill>
                  <a:srgbClr val="000000"/>
                </a:solidFill>
                <a:latin typeface="Alatsi"/>
                <a:ea typeface="Alatsi"/>
                <a:cs typeface="Alatsi"/>
                <a:sym typeface="Alatsi"/>
              </a:rPr>
              <a:t>-</a:t>
            </a:r>
            <a:r>
              <a:rPr lang="en-US" sz="2499" dirty="0">
                <a:solidFill>
                  <a:srgbClr val="000000"/>
                </a:solidFill>
                <a:latin typeface="Alatsi"/>
                <a:ea typeface="Alatsi"/>
                <a:cs typeface="Alatsi"/>
                <a:sym typeface="Alatsi"/>
              </a:rPr>
              <a:t>level, </a:t>
            </a:r>
            <a:r>
              <a:rPr lang="en-US" sz="2499" dirty="0" err="1">
                <a:solidFill>
                  <a:srgbClr val="000000"/>
                </a:solidFill>
                <a:latin typeface="Alatsi"/>
                <a:ea typeface="Alatsi"/>
                <a:cs typeface="Alatsi"/>
                <a:sym typeface="Alatsi"/>
              </a:rPr>
              <a:t>însă</a:t>
            </a:r>
            <a:r>
              <a:rPr lang="en-US" sz="2499" dirty="0">
                <a:solidFill>
                  <a:srgbClr val="000000"/>
                </a:solidFill>
                <a:latin typeface="Alatsi"/>
                <a:ea typeface="Alatsi"/>
                <a:cs typeface="Alatsi"/>
                <a:sym typeface="Alatsi"/>
              </a:rPr>
              <a:t> nu se </a:t>
            </a:r>
            <a:r>
              <a:rPr lang="en-US" sz="2499" dirty="0" err="1">
                <a:solidFill>
                  <a:srgbClr val="000000"/>
                </a:solidFill>
                <a:latin typeface="Alatsi"/>
                <a:ea typeface="Alatsi"/>
                <a:cs typeface="Alatsi"/>
                <a:sym typeface="Alatsi"/>
              </a:rPr>
              <a:t>dau</a:t>
            </a:r>
            <a:r>
              <a:rPr lang="en-US" sz="2499" dirty="0">
                <a:solidFill>
                  <a:srgbClr val="000000"/>
                </a:solidFill>
                <a:latin typeface="Alatsi"/>
                <a:ea typeface="Alatsi"/>
                <a:cs typeface="Alatsi"/>
                <a:sym typeface="Alatsi"/>
              </a:rPr>
              <a:t> </a:t>
            </a:r>
            <a:r>
              <a:rPr lang="en-US" sz="2499" dirty="0" err="1">
                <a:solidFill>
                  <a:srgbClr val="000000"/>
                </a:solidFill>
                <a:latin typeface="Alatsi"/>
                <a:ea typeface="Alatsi"/>
                <a:cs typeface="Alatsi"/>
                <a:sym typeface="Alatsi"/>
              </a:rPr>
              <a:t>exemple</a:t>
            </a:r>
            <a:r>
              <a:rPr lang="en-US" sz="2499" dirty="0">
                <a:solidFill>
                  <a:srgbClr val="000000"/>
                </a:solidFill>
                <a:latin typeface="Alatsi"/>
                <a:ea typeface="Alatsi"/>
                <a:cs typeface="Alatsi"/>
                <a:sym typeface="Alatsi"/>
              </a:rPr>
              <a:t> concrete.</a:t>
            </a:r>
          </a:p>
          <a:p>
            <a:pPr algn="l">
              <a:lnSpc>
                <a:spcPts val="3499"/>
              </a:lnSpc>
            </a:pPr>
            <a:endParaRPr lang="en-US" sz="2499" dirty="0">
              <a:solidFill>
                <a:srgbClr val="000000"/>
              </a:solidFill>
              <a:latin typeface="Alatsi"/>
              <a:ea typeface="Alatsi"/>
              <a:cs typeface="Alatsi"/>
              <a:sym typeface="Alats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4554977" y="3748035"/>
            <a:ext cx="11627497" cy="2514704"/>
          </a:xfrm>
          <a:prstGeom prst="rect">
            <a:avLst/>
          </a:prstGeom>
        </p:spPr>
        <p:txBody>
          <a:bodyPr lIns="0" tIns="0" rIns="0" bIns="0" rtlCol="0" anchor="t">
            <a:spAutoFit/>
          </a:bodyPr>
          <a:lstStyle/>
          <a:p>
            <a:pPr algn="ctr">
              <a:lnSpc>
                <a:spcPts val="20573"/>
              </a:lnSpc>
            </a:pPr>
            <a:r>
              <a:rPr lang="en-US" sz="14695">
                <a:solidFill>
                  <a:srgbClr val="000000"/>
                </a:solidFill>
                <a:latin typeface="Alatsi"/>
                <a:ea typeface="Alatsi"/>
                <a:cs typeface="Alatsi"/>
                <a:sym typeface="Alatsi"/>
              </a:rPr>
              <a:t>THANK YOU</a:t>
            </a:r>
          </a:p>
        </p:txBody>
      </p:sp>
      <p:grpSp>
        <p:nvGrpSpPr>
          <p:cNvPr id="3" name="Group 3"/>
          <p:cNvGrpSpPr/>
          <p:nvPr/>
        </p:nvGrpSpPr>
        <p:grpSpPr>
          <a:xfrm>
            <a:off x="-31071" y="0"/>
            <a:ext cx="4239083" cy="10287000"/>
            <a:chOff x="0" y="0"/>
            <a:chExt cx="5652111" cy="13716000"/>
          </a:xfrm>
        </p:grpSpPr>
        <p:grpSp>
          <p:nvGrpSpPr>
            <p:cNvPr id="4" name="Group 4"/>
            <p:cNvGrpSpPr/>
            <p:nvPr/>
          </p:nvGrpSpPr>
          <p:grpSpPr>
            <a:xfrm>
              <a:off x="2826056" y="0"/>
              <a:ext cx="2826056" cy="13716000"/>
              <a:chOff x="0" y="0"/>
              <a:chExt cx="558233" cy="2709333"/>
            </a:xfrm>
          </p:grpSpPr>
          <p:sp>
            <p:nvSpPr>
              <p:cNvPr id="5" name="Freeform 5"/>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6" name="TextBox 6"/>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413028" y="0"/>
              <a:ext cx="2826056" cy="13716000"/>
              <a:chOff x="0" y="0"/>
              <a:chExt cx="558233" cy="2709333"/>
            </a:xfrm>
          </p:grpSpPr>
          <p:sp>
            <p:nvSpPr>
              <p:cNvPr id="8" name="Freeform 8"/>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9" name="TextBox 9"/>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2826056" cy="13716000"/>
              <a:chOff x="0" y="0"/>
              <a:chExt cx="558233" cy="2709333"/>
            </a:xfrm>
          </p:grpSpPr>
          <p:sp>
            <p:nvSpPr>
              <p:cNvPr id="11" name="Freeform 11"/>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2" name="TextBox 12"/>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3" name="Freeform 13"/>
          <p:cNvSpPr/>
          <p:nvPr/>
        </p:nvSpPr>
        <p:spPr>
          <a:xfrm>
            <a:off x="12412831" y="80262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1413653" y="-573693"/>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2082</Words>
  <Application>Microsoft Office PowerPoint</Application>
  <PresentationFormat>Custom</PresentationFormat>
  <Paragraphs>189</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Alatsi</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TSIS</dc:title>
  <cp:lastModifiedBy>DRAGOS ADRIAN CUCIUREANU</cp:lastModifiedBy>
  <cp:revision>2</cp:revision>
  <dcterms:created xsi:type="dcterms:W3CDTF">2006-08-16T00:00:00Z</dcterms:created>
  <dcterms:modified xsi:type="dcterms:W3CDTF">2025-01-08T12:56:32Z</dcterms:modified>
  <dc:identifier>DAGbRNXqq4w</dc:identifier>
</cp:coreProperties>
</file>