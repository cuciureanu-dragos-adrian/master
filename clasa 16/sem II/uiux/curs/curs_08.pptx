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changesInfos/changesInfo1.xml" ContentType="application/vnd.ms-powerpoint.changes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1" r:id="rId1"/>
  </p:sldMasterIdLst>
  <p:notesMasterIdLst>
    <p:notesMasterId r:id="rId31"/>
  </p:notesMasterIdLst>
  <p:sldIdLst>
    <p:sldId id="256" r:id="rId2"/>
    <p:sldId id="362" r:id="rId3"/>
    <p:sldId id="364" r:id="rId4"/>
    <p:sldId id="368" r:id="rId5"/>
    <p:sldId id="356" r:id="rId6"/>
    <p:sldId id="393" r:id="rId7"/>
    <p:sldId id="394" r:id="rId8"/>
    <p:sldId id="395" r:id="rId9"/>
    <p:sldId id="396" r:id="rId10"/>
    <p:sldId id="398" r:id="rId11"/>
    <p:sldId id="399" r:id="rId12"/>
    <p:sldId id="387" r:id="rId13"/>
    <p:sldId id="405" r:id="rId14"/>
    <p:sldId id="402" r:id="rId15"/>
    <p:sldId id="404" r:id="rId16"/>
    <p:sldId id="406" r:id="rId17"/>
    <p:sldId id="401" r:id="rId18"/>
    <p:sldId id="407" r:id="rId19"/>
    <p:sldId id="408" r:id="rId20"/>
    <p:sldId id="419" r:id="rId21"/>
    <p:sldId id="420" r:id="rId22"/>
    <p:sldId id="421" r:id="rId23"/>
    <p:sldId id="413" r:id="rId24"/>
    <p:sldId id="422" r:id="rId25"/>
    <p:sldId id="423" r:id="rId26"/>
    <p:sldId id="424" r:id="rId27"/>
    <p:sldId id="425" r:id="rId28"/>
    <p:sldId id="426" r:id="rId29"/>
    <p:sldId id="42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D8235AE-4C38-4C16-AAE8-E5DB9181E816}">
          <p14:sldIdLst>
            <p14:sldId id="256"/>
            <p14:sldId id="362"/>
            <p14:sldId id="364"/>
            <p14:sldId id="368"/>
            <p14:sldId id="356"/>
            <p14:sldId id="393"/>
            <p14:sldId id="394"/>
            <p14:sldId id="395"/>
            <p14:sldId id="396"/>
            <p14:sldId id="398"/>
            <p14:sldId id="399"/>
            <p14:sldId id="387"/>
            <p14:sldId id="405"/>
            <p14:sldId id="402"/>
            <p14:sldId id="404"/>
            <p14:sldId id="406"/>
            <p14:sldId id="401"/>
            <p14:sldId id="407"/>
            <p14:sldId id="408"/>
            <p14:sldId id="419"/>
            <p14:sldId id="420"/>
            <p14:sldId id="421"/>
            <p14:sldId id="413"/>
            <p14:sldId id="422"/>
            <p14:sldId id="423"/>
            <p14:sldId id="424"/>
            <p14:sldId id="425"/>
            <p14:sldId id="426"/>
            <p14:sldId id="4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A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hai Sorin Stupariu" userId="9325f0a2-807e-4494-81c6-34e78a3af472" providerId="ADAL" clId="{8357912E-5E7B-41F1-B99C-93CBB372427B}"/>
    <pc:docChg chg="modSld">
      <pc:chgData name="Mihai Sorin Stupariu" userId="9325f0a2-807e-4494-81c6-34e78a3af472" providerId="ADAL" clId="{8357912E-5E7B-41F1-B99C-93CBB372427B}" dt="2024-03-17T18:46:42.125" v="1" actId="20577"/>
      <pc:docMkLst>
        <pc:docMk/>
      </pc:docMkLst>
      <pc:sldChg chg="modSp mod">
        <pc:chgData name="Mihai Sorin Stupariu" userId="9325f0a2-807e-4494-81c6-34e78a3af472" providerId="ADAL" clId="{8357912E-5E7B-41F1-B99C-93CBB372427B}" dt="2024-03-17T18:46:42.125" v="1" actId="20577"/>
        <pc:sldMkLst>
          <pc:docMk/>
          <pc:sldMk cId="3840909421" sldId="256"/>
        </pc:sldMkLst>
        <pc:spChg chg="mod">
          <ac:chgData name="Mihai Sorin Stupariu" userId="9325f0a2-807e-4494-81c6-34e78a3af472" providerId="ADAL" clId="{8357912E-5E7B-41F1-B99C-93CBB372427B}" dt="2024-03-17T18:46:42.125" v="1" actId="20577"/>
          <ac:spMkLst>
            <pc:docMk/>
            <pc:sldMk cId="3840909421" sldId="256"/>
            <ac:spMk id="3" creationId="{E9CB0EF9-0780-DB11-85D8-1EED3A2A3FD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8ADED-99B5-4593-AC97-948B10095E73}" type="datetimeFigureOut">
              <a:rPr lang="en-GB" smtClean="0"/>
              <a:t>14/04/2024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907B23-44BF-4274-99EE-5A1AB3FC95D8}" type="slidenum">
              <a:rPr lang="en-GB" smtClean="0"/>
              <a:t>‹#›</a:t>
            </a:fld>
            <a:endParaRPr lang="en-GB"/>
          </a:p>
        </p:txBody>
      </p:sp>
    </p:spTree>
    <p:extLst>
      <p:ext uri="{BB962C8B-B14F-4D97-AF65-F5344CB8AC3E}">
        <p14:creationId xmlns:p14="http://schemas.microsoft.com/office/powerpoint/2010/main" val="70743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907B23-44BF-4274-99EE-5A1AB3FC95D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82982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8C1E1FAD-7351-4908-963A-08EA8E4AB7A0}" type="datetimeFigureOut">
              <a:rPr lang="en-US" smtClean="0"/>
              <a:t>4/14/2024</a:t>
            </a:fld>
            <a:endParaRPr lang="en-US"/>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1CF2D47E-0AF1-4C27-801F-64E3E5BF7F72}" type="slidenum">
              <a:rPr lang="en-US" smtClean="0"/>
              <a:t>‹#›</a:t>
            </a:fld>
            <a:endParaRPr lang="en-US"/>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48991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493674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73831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718897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556848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1E1FAD-7351-4908-963A-08EA8E4AB7A0}" type="datetimeFigureOut">
              <a:rPr lang="en-US" smtClean="0"/>
              <a:t>4/14/2024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801305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1E1FAD-7351-4908-963A-08EA8E4AB7A0}" type="datetimeFigureOut">
              <a:rPr lang="en-US" smtClean="0"/>
              <a:t>4/14/2024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815364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2583291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t>4/14/2024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515519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1390438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745672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6960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11285961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2562876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55847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3037787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24105557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604164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8C1E1FAD-7351-4908-963A-08EA8E4AB7A0}" type="datetimeFigureOut">
              <a:rPr lang="en-US" smtClean="0"/>
              <a:pPr/>
              <a:t>4/14/2024</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1CF2D47E-0AF1-4C27-801F-64E3E5BF7F72}" type="slidenum">
              <a:rPr lang="en-US" smtClean="0"/>
              <a:t>‹#›</a:t>
            </a:fld>
            <a:endParaRPr lang="en-US" dirty="0"/>
          </a:p>
        </p:txBody>
      </p:sp>
    </p:spTree>
    <p:extLst>
      <p:ext uri="{BB962C8B-B14F-4D97-AF65-F5344CB8AC3E}">
        <p14:creationId xmlns:p14="http://schemas.microsoft.com/office/powerpoint/2010/main" val="1967770090"/>
      </p:ext>
    </p:extLst>
  </p:cSld>
  <p:clrMap bg1="lt1" tx1="dk1" bg2="lt2" tx2="dk2" accent1="accent1" accent2="accent2" accent3="accent3" accent4="accent4" accent5="accent5" accent6="accent6" hlink="hlink" folHlink="folHlink"/>
  <p:sldLayoutIdLst>
    <p:sldLayoutId id="2147484242" r:id="rId1"/>
    <p:sldLayoutId id="2147484243" r:id="rId2"/>
    <p:sldLayoutId id="2147484244" r:id="rId3"/>
    <p:sldLayoutId id="2147484245" r:id="rId4"/>
    <p:sldLayoutId id="2147484246" r:id="rId5"/>
    <p:sldLayoutId id="2147484247" r:id="rId6"/>
    <p:sldLayoutId id="2147484248" r:id="rId7"/>
    <p:sldLayoutId id="2147484249" r:id="rId8"/>
    <p:sldLayoutId id="2147484250" r:id="rId9"/>
    <p:sldLayoutId id="2147484251" r:id="rId10"/>
    <p:sldLayoutId id="2147484252" r:id="rId11"/>
    <p:sldLayoutId id="2147484253" r:id="rId12"/>
    <p:sldLayoutId id="2147484254" r:id="rId13"/>
    <p:sldLayoutId id="2147484255" r:id="rId14"/>
    <p:sldLayoutId id="2147484256" r:id="rId15"/>
    <p:sldLayoutId id="2147484257" r:id="rId16"/>
    <p:sldLayoutId id="2147484258" r:id="rId17"/>
    <p:sldLayoutId id="2147484259"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6.jpg"/><Relationship Id="rId5" Type="http://schemas.openxmlformats.org/officeDocument/2006/relationships/image" Target="../media/image5.jpe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jpg"/><Relationship Id="rId7"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nngroup.com/articles/icon-usabilit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hyperlink" Target="https://www.nngroup.com/articles/bad-icons/" TargetMode="External"/><Relationship Id="rId4" Type="http://schemas.openxmlformats.org/officeDocument/2006/relationships/hyperlink" Target="https://www.nngroup.com/articles/icon-testing/?lm=icon-text-labels&amp;pt=youtubevideo"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www.nngroup.com/articles/icon-usability/"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hyperlink" Target="https://www.nngroup.com/articles/transactional-and-confirmation-email/"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jpg"/><Relationship Id="rId7" Type="http://schemas.openxmlformats.org/officeDocument/2006/relationships/hyperlink" Target="https://www.troyhunt.com/the-cobra-effect-that-is-disabling/" TargetMode="External"/><Relationship Id="rId2" Type="http://schemas.openxmlformats.org/officeDocument/2006/relationships/image" Target="../media/image2.jpeg"/><Relationship Id="rId1" Type="http://schemas.openxmlformats.org/officeDocument/2006/relationships/slideLayout" Target="../slideLayouts/slideLayout9.xml"/><Relationship Id="rId6" Type="http://schemas.openxmlformats.org/officeDocument/2006/relationships/hyperlink" Target="https://medium.com/@flik185/designing-a-better-password-input-field-140446e0ed08" TargetMode="External"/><Relationship Id="rId5" Type="http://schemas.openxmlformats.org/officeDocument/2006/relationships/hyperlink" Target="https://www.nngroup.com/articles/password-creation/" TargetMode="External"/><Relationship Id="rId4" Type="http://schemas.openxmlformats.org/officeDocument/2006/relationships/hyperlink" Target="https://www.nngroup.com/articles/passwords-memory/"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6" Type="http://schemas.openxmlformats.org/officeDocument/2006/relationships/hyperlink" Target="https://www.interaction-design.org/literature/article/ui-animation-how-to-apply-disney-s-12-principles-of-animation-to-ui-design" TargetMode="External"/><Relationship Id="rId5" Type="http://schemas.openxmlformats.org/officeDocument/2006/relationships/image" Target="../media/image22.png"/><Relationship Id="rId4" Type="http://schemas.openxmlformats.org/officeDocument/2006/relationships/hyperlink" Target="https://www.interaction-design.org/literature/topics/interaction-design"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5" Type="http://schemas.openxmlformats.org/officeDocument/2006/relationships/hyperlink" Target="https://www.nngroup.com/articles/web-form-design/" TargetMode="Externa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5" Type="http://schemas.openxmlformats.org/officeDocument/2006/relationships/hyperlink" Target="https://www.w3.org/WAI/WCAG21/Techniques/general/G85" TargetMode="Externa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nngroup.com/articles/progress-indicators/"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C143-C00F-011F-D6D3-E661091ABCD1}"/>
              </a:ext>
            </a:extLst>
          </p:cNvPr>
          <p:cNvSpPr>
            <a:spLocks noGrp="1"/>
          </p:cNvSpPr>
          <p:nvPr>
            <p:ph type="ctrTitle"/>
          </p:nvPr>
        </p:nvSpPr>
        <p:spPr>
          <a:xfrm>
            <a:off x="7464612" y="1275959"/>
            <a:ext cx="4087306" cy="2889114"/>
          </a:xfrm>
        </p:spPr>
        <p:txBody>
          <a:bodyPr anchor="b">
            <a:normAutofit/>
          </a:bodyPr>
          <a:lstStyle/>
          <a:p>
            <a:pPr algn="l"/>
            <a:r>
              <a:rPr lang="en-GB" sz="3400" b="1" i="0" dirty="0" err="1">
                <a:latin typeface="Courier New" panose="02070309020205020404" pitchFamily="49" charset="0"/>
                <a:ea typeface="Tahoma" panose="020B0604030504040204" pitchFamily="34" charset="0"/>
                <a:cs typeface="Courier New" panose="02070309020205020404" pitchFamily="49" charset="0"/>
              </a:rPr>
              <a:t>Experien</a:t>
            </a:r>
            <a:r>
              <a:rPr lang="ro-RO" sz="3400" b="1" i="0" dirty="0">
                <a:latin typeface="Courier New" panose="02070309020205020404" pitchFamily="49" charset="0"/>
                <a:ea typeface="Tahoma" panose="020B0604030504040204" pitchFamily="34" charset="0"/>
                <a:cs typeface="Courier New" panose="02070309020205020404" pitchFamily="49" charset="0"/>
              </a:rPr>
              <a:t>ța de utilizare și interacțiunea cu utilizatorul</a:t>
            </a:r>
            <a:br>
              <a:rPr lang="ro-RO" sz="3400" b="1" i="0" dirty="0">
                <a:latin typeface="Courier New" panose="02070309020205020404" pitchFamily="49" charset="0"/>
                <a:ea typeface="Tahoma" panose="020B0604030504040204" pitchFamily="34" charset="0"/>
                <a:cs typeface="Courier New" panose="02070309020205020404" pitchFamily="49" charset="0"/>
              </a:rPr>
            </a:br>
            <a:r>
              <a:rPr lang="ro-RO" sz="3400" b="1" i="0" dirty="0">
                <a:latin typeface="Courier New" panose="02070309020205020404" pitchFamily="49" charset="0"/>
                <a:ea typeface="Tahoma" panose="020B0604030504040204" pitchFamily="34" charset="0"/>
                <a:cs typeface="Courier New" panose="02070309020205020404" pitchFamily="49" charset="0"/>
              </a:rPr>
              <a:t>UX/UI Design</a:t>
            </a:r>
            <a:endParaRPr lang="en-GB" sz="3400" b="1" i="0" dirty="0">
              <a:latin typeface="Courier New" panose="02070309020205020404" pitchFamily="49" charset="0"/>
              <a:ea typeface="Tahoma" panose="020B0604030504040204" pitchFamily="34" charset="0"/>
              <a:cs typeface="Courier New" panose="02070309020205020404" pitchFamily="49" charset="0"/>
            </a:endParaRPr>
          </a:p>
        </p:txBody>
      </p:sp>
      <p:sp>
        <p:nvSpPr>
          <p:cNvPr id="3" name="Subtitle 2">
            <a:extLst>
              <a:ext uri="{FF2B5EF4-FFF2-40B4-BE49-F238E27FC236}">
                <a16:creationId xmlns:a16="http://schemas.microsoft.com/office/drawing/2014/main" id="{E9CB0EF9-0780-DB11-85D8-1EED3A2A3FD0}"/>
              </a:ext>
            </a:extLst>
          </p:cNvPr>
          <p:cNvSpPr>
            <a:spLocks noGrp="1"/>
          </p:cNvSpPr>
          <p:nvPr>
            <p:ph type="subTitle" idx="1"/>
          </p:nvPr>
        </p:nvSpPr>
        <p:spPr>
          <a:xfrm>
            <a:off x="7464612" y="4750893"/>
            <a:ext cx="4087305" cy="1147863"/>
          </a:xfrm>
        </p:spPr>
        <p:txBody>
          <a:bodyPr anchor="t">
            <a:normAutofit/>
          </a:bodyPr>
          <a:lstStyle/>
          <a:p>
            <a:pPr algn="l"/>
            <a:r>
              <a:rPr lang="ro-RO" sz="2000" b="1" dirty="0">
                <a:latin typeface="Courier New" panose="02070309020205020404" pitchFamily="49" charset="0"/>
                <a:cs typeface="Courier New" panose="02070309020205020404" pitchFamily="49" charset="0"/>
              </a:rPr>
              <a:t>Mihai-Sorin Stupariu</a:t>
            </a:r>
          </a:p>
          <a:p>
            <a:pPr algn="l"/>
            <a:r>
              <a:rPr lang="ro-RO" sz="2000" b="1" dirty="0">
                <a:latin typeface="Courier New" panose="02070309020205020404" pitchFamily="49" charset="0"/>
                <a:cs typeface="Courier New" panose="02070309020205020404" pitchFamily="49" charset="0"/>
              </a:rPr>
              <a:t>202</a:t>
            </a:r>
            <a:r>
              <a:rPr lang="en-GB" sz="2000" b="1" dirty="0">
                <a:latin typeface="Courier New" panose="02070309020205020404" pitchFamily="49" charset="0"/>
                <a:cs typeface="Courier New" panose="02070309020205020404" pitchFamily="49" charset="0"/>
              </a:rPr>
              <a:t>3</a:t>
            </a:r>
            <a:r>
              <a:rPr lang="ro-RO" sz="2000" b="1" dirty="0">
                <a:latin typeface="Courier New" panose="02070309020205020404" pitchFamily="49" charset="0"/>
                <a:cs typeface="Courier New" panose="02070309020205020404" pitchFamily="49" charset="0"/>
              </a:rPr>
              <a:t>-202</a:t>
            </a:r>
            <a:r>
              <a:rPr lang="en-GB" sz="2000" b="1">
                <a:latin typeface="Courier New" panose="02070309020205020404" pitchFamily="49" charset="0"/>
                <a:cs typeface="Courier New" panose="02070309020205020404" pitchFamily="49" charset="0"/>
              </a:rPr>
              <a:t>4</a:t>
            </a:r>
            <a:endParaRPr lang="en-GB" sz="2000" b="1" dirty="0">
              <a:latin typeface="Courier New" panose="02070309020205020404" pitchFamily="49" charset="0"/>
              <a:cs typeface="Courier New" panose="02070309020205020404" pitchFamily="49" charset="0"/>
            </a:endParaRPr>
          </a:p>
        </p:txBody>
      </p:sp>
      <p:pic>
        <p:nvPicPr>
          <p:cNvPr id="20" name="Picture 3" descr="Lightbulb idea concept">
            <a:extLst>
              <a:ext uri="{FF2B5EF4-FFF2-40B4-BE49-F238E27FC236}">
                <a16:creationId xmlns:a16="http://schemas.microsoft.com/office/drawing/2014/main" id="{A636C389-5482-1FDB-2F0A-A5A010A48910}"/>
              </a:ext>
            </a:extLst>
          </p:cNvPr>
          <p:cNvPicPr>
            <a:picLocks noChangeAspect="1"/>
          </p:cNvPicPr>
          <p:nvPr/>
        </p:nvPicPr>
        <p:blipFill rotWithShape="1">
          <a:blip r:embed="rId2"/>
          <a:srcRect r="31589"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384090942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4C886762-16F0-4868-B83A-2617462141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61" name="Freeform 11">
            <a:extLst>
              <a:ext uri="{FF2B5EF4-FFF2-40B4-BE49-F238E27FC236}">
                <a16:creationId xmlns:a16="http://schemas.microsoft.com/office/drawing/2014/main" id="{D2B54B4E-3454-4B76-B85A-8512B7729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3" name="Freeform 13">
            <a:extLst>
              <a:ext uri="{FF2B5EF4-FFF2-40B4-BE49-F238E27FC236}">
                <a16:creationId xmlns:a16="http://schemas.microsoft.com/office/drawing/2014/main" id="{7EFFE965-5586-4889-A74D-3A6080D04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5" name="Freeform 25">
            <a:extLst>
              <a:ext uri="{FF2B5EF4-FFF2-40B4-BE49-F238E27FC236}">
                <a16:creationId xmlns:a16="http://schemas.microsoft.com/office/drawing/2014/main" id="{5BC4125D-18D9-4A65-82B6-C24FE9434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7" name="Freeform 14">
            <a:extLst>
              <a:ext uri="{FF2B5EF4-FFF2-40B4-BE49-F238E27FC236}">
                <a16:creationId xmlns:a16="http://schemas.microsoft.com/office/drawing/2014/main" id="{A86DE327-0F45-4F54-BB6C-68A093CE5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69" name="5-Point Star 24">
            <a:extLst>
              <a:ext uri="{FF2B5EF4-FFF2-40B4-BE49-F238E27FC236}">
                <a16:creationId xmlns:a16="http://schemas.microsoft.com/office/drawing/2014/main" id="{795857C2-E6E7-405A-B5A3-4DE3B50A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71" name="Picture 70">
            <a:extLst>
              <a:ext uri="{FF2B5EF4-FFF2-40B4-BE49-F238E27FC236}">
                <a16:creationId xmlns:a16="http://schemas.microsoft.com/office/drawing/2014/main" id="{2C53C8BF-9653-4474-9153-4FE835420D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73" name="Rectangle 72">
            <a:extLst>
              <a:ext uri="{FF2B5EF4-FFF2-40B4-BE49-F238E27FC236}">
                <a16:creationId xmlns:a16="http://schemas.microsoft.com/office/drawing/2014/main" id="{7C08F021-28CE-479A-B96B-5252A9DDF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7" y="0"/>
            <a:ext cx="7107594" cy="6858000"/>
          </a:xfrm>
          <a:prstGeom prst="rect">
            <a:avLst/>
          </a:pr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5">
            <a:extLst>
              <a:ext uri="{FF2B5EF4-FFF2-40B4-BE49-F238E27FC236}">
                <a16:creationId xmlns:a16="http://schemas.microsoft.com/office/drawing/2014/main" id="{09507514-A010-4863-8E99-AB3983760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61" y="0"/>
            <a:ext cx="6756015" cy="6576643"/>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0" y="-84231"/>
            <a:ext cx="5778684" cy="2437198"/>
          </a:xfrm>
        </p:spPr>
        <p:txBody>
          <a:bodyPr vert="horz" lIns="91440" tIns="45720" rIns="91440" bIns="45720" rtlCol="0" anchor="b">
            <a:normAutofit/>
          </a:bodyPr>
          <a:lstStyle/>
          <a:p>
            <a:pPr lvl="0" algn="r"/>
            <a:r>
              <a:rPr lang="en-US" sz="7400" dirty="0">
                <a:latin typeface="Tahoma" panose="020B0604030504040204" pitchFamily="34" charset="0"/>
                <a:ea typeface="Tahoma" panose="020B0604030504040204" pitchFamily="34" charset="0"/>
                <a:cs typeface="Tahoma" panose="020B0604030504040204" pitchFamily="34" charset="0"/>
              </a:rPr>
              <a:t>6. PRINCIPII DE DESIGN</a:t>
            </a:r>
          </a:p>
        </p:txBody>
      </p:sp>
      <p:sp>
        <p:nvSpPr>
          <p:cNvPr id="77" name="Rectangle 76">
            <a:extLst>
              <a:ext uri="{FF2B5EF4-FFF2-40B4-BE49-F238E27FC236}">
                <a16:creationId xmlns:a16="http://schemas.microsoft.com/office/drawing/2014/main" id="{C015C3BB-3CA4-4964-8FB4-7DA3FBB63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8" y="0"/>
            <a:ext cx="6720840"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9" name="Rectangle 78">
            <a:extLst>
              <a:ext uri="{FF2B5EF4-FFF2-40B4-BE49-F238E27FC236}">
                <a16:creationId xmlns:a16="http://schemas.microsoft.com/office/drawing/2014/main" id="{7941F53E-EAF1-4AF0-9386-A74DFBA20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8" y="5762147"/>
            <a:ext cx="6720840"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1" name="Rectangle 80">
            <a:extLst>
              <a:ext uri="{FF2B5EF4-FFF2-40B4-BE49-F238E27FC236}">
                <a16:creationId xmlns:a16="http://schemas.microsoft.com/office/drawing/2014/main" id="{D7210737-D731-4ED9-8D08-A238C71DD3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188" y="450792"/>
            <a:ext cx="4171517" cy="5950008"/>
          </a:xfrm>
          <a:prstGeom prst="rect">
            <a:avLst/>
          </a:prstGeom>
          <a:solidFill>
            <a:schemeClr val="bg1"/>
          </a:solidFill>
          <a:ln w="57150" cmpd="thinThick">
            <a:noFill/>
            <a:miter lim="800000"/>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79253E6-104A-0EC8-1732-5378A3646AF4}"/>
              </a:ext>
            </a:extLst>
          </p:cNvPr>
          <p:cNvPicPr>
            <a:picLocks noChangeAspect="1"/>
          </p:cNvPicPr>
          <p:nvPr/>
        </p:nvPicPr>
        <p:blipFill rotWithShape="1">
          <a:blip r:embed="rId5"/>
          <a:srcRect l="22781" r="15504"/>
          <a:stretch/>
        </p:blipFill>
        <p:spPr>
          <a:xfrm rot="43200000">
            <a:off x="7798182" y="684680"/>
            <a:ext cx="3697956" cy="5482657"/>
          </a:xfrm>
          <a:prstGeom prst="rect">
            <a:avLst/>
          </a:prstGeom>
        </p:spPr>
      </p:pic>
      <p:pic>
        <p:nvPicPr>
          <p:cNvPr id="5" name="Picture 4" descr="A person walking a path with text above&#10;&#10;Description automatically generated">
            <a:extLst>
              <a:ext uri="{FF2B5EF4-FFF2-40B4-BE49-F238E27FC236}">
                <a16:creationId xmlns:a16="http://schemas.microsoft.com/office/drawing/2014/main" id="{BDFEDC2D-208C-60C0-93A8-6EF5723285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6130" y="2201695"/>
            <a:ext cx="4618548" cy="3544467"/>
          </a:xfrm>
          <a:prstGeom prst="rect">
            <a:avLst/>
          </a:prstGeom>
        </p:spPr>
      </p:pic>
    </p:spTree>
    <p:extLst>
      <p:ext uri="{BB962C8B-B14F-4D97-AF65-F5344CB8AC3E}">
        <p14:creationId xmlns:p14="http://schemas.microsoft.com/office/powerpoint/2010/main" val="25772543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08710" y="279400"/>
            <a:ext cx="10396882" cy="797615"/>
          </a:xfrm>
        </p:spPr>
        <p:txBody>
          <a:bodyPr>
            <a:normAutofit/>
          </a:bodyPr>
          <a:lstStyle/>
          <a:p>
            <a:r>
              <a:rPr lang="en-GB" sz="4400" cap="none" dirty="0">
                <a:latin typeface="Tahoma" panose="020B0604030504040204" pitchFamily="34" charset="0"/>
                <a:ea typeface="Tahoma" panose="020B0604030504040204" pitchFamily="34" charset="0"/>
                <a:cs typeface="Tahoma" panose="020B0604030504040204" pitchFamily="34" charset="0"/>
              </a:rPr>
              <a:t>Principii de design</a:t>
            </a:r>
          </a:p>
        </p:txBody>
      </p:sp>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08710" y="1077016"/>
            <a:ext cx="10671797" cy="4297570"/>
          </a:xfrm>
        </p:spPr>
        <p:txBody>
          <a:bodyPr>
            <a:normAutofit/>
          </a:bodyPr>
          <a:lstStyle/>
          <a:p>
            <a:r>
              <a:rPr lang="en-GB" cap="none" dirty="0" err="1">
                <a:latin typeface="Tahoma" panose="020B0604030504040204" pitchFamily="34" charset="0"/>
                <a:ea typeface="Tahoma" panose="020B0604030504040204" pitchFamily="34" charset="0"/>
                <a:cs typeface="Tahoma" panose="020B0604030504040204" pitchFamily="34" charset="0"/>
              </a:rPr>
              <a:t>Referin</a:t>
            </a:r>
            <a:r>
              <a:rPr lang="ro-RO" cap="none" dirty="0">
                <a:latin typeface="Tahoma" panose="020B0604030504040204" pitchFamily="34" charset="0"/>
                <a:ea typeface="Tahoma" panose="020B0604030504040204" pitchFamily="34" charset="0"/>
                <a:cs typeface="Tahoma" panose="020B0604030504040204" pitchFamily="34" charset="0"/>
              </a:rPr>
              <a:t>ță: </a:t>
            </a:r>
            <a:r>
              <a:rPr lang="en-GB" cap="none" dirty="0">
                <a:latin typeface="Tahoma" panose="020B0604030504040204" pitchFamily="34" charset="0"/>
                <a:ea typeface="Tahoma" panose="020B0604030504040204" pitchFamily="34" charset="0"/>
                <a:cs typeface="Tahoma" panose="020B0604030504040204" pitchFamily="34" charset="0"/>
              </a:rPr>
              <a:t>W. Grant - </a:t>
            </a:r>
            <a:r>
              <a:rPr lang="en-GB" i="1" cap="none" dirty="0">
                <a:latin typeface="Tahoma" panose="020B0604030504040204" pitchFamily="34" charset="0"/>
                <a:ea typeface="Tahoma" panose="020B0604030504040204" pitchFamily="34" charset="0"/>
                <a:cs typeface="Tahoma" panose="020B0604030504040204" pitchFamily="34" charset="0"/>
              </a:rPr>
              <a:t>101 UX Principles Second Edition: Actionable Solutions for Product Design Success</a:t>
            </a:r>
            <a:endParaRPr lang="ro-RO" i="1" cap="none" dirty="0">
              <a:latin typeface="Tahoma" panose="020B0604030504040204" pitchFamily="34" charset="0"/>
              <a:ea typeface="Tahoma" panose="020B0604030504040204" pitchFamily="34" charset="0"/>
              <a:cs typeface="Tahoma" panose="020B0604030504040204" pitchFamily="34" charset="0"/>
            </a:endParaRPr>
          </a:p>
          <a:p>
            <a:r>
              <a:rPr lang="ro-RO" cap="none" dirty="0">
                <a:latin typeface="Tahoma" panose="020B0604030504040204" pitchFamily="34" charset="0"/>
                <a:ea typeface="Tahoma" panose="020B0604030504040204" pitchFamily="34" charset="0"/>
                <a:cs typeface="Tahoma" panose="020B0604030504040204" pitchFamily="34" charset="0"/>
              </a:rPr>
              <a:t>Principiile enumerate: punct de plecare. Pot fi găsite argumente pro și contra. O decizie poate fi luată în funcție de experiență / situații concrete / evoluția standardelor.</a:t>
            </a:r>
          </a:p>
          <a:p>
            <a:r>
              <a:rPr lang="ro-RO" cap="none" dirty="0">
                <a:latin typeface="Tahoma" panose="020B0604030504040204" pitchFamily="34" charset="0"/>
                <a:ea typeface="Tahoma" panose="020B0604030504040204" pitchFamily="34" charset="0"/>
                <a:cs typeface="Tahoma" panose="020B0604030504040204" pitchFamily="34" charset="0"/>
              </a:rPr>
              <a:t>Ce categorii pot fi luate în considerare? Ce pot viza aceste principii?</a:t>
            </a:r>
          </a:p>
        </p:txBody>
      </p:sp>
    </p:spTree>
    <p:extLst>
      <p:ext uri="{BB962C8B-B14F-4D97-AF65-F5344CB8AC3E}">
        <p14:creationId xmlns:p14="http://schemas.microsoft.com/office/powerpoint/2010/main" val="154755720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08710" y="279400"/>
            <a:ext cx="10396882" cy="797615"/>
          </a:xfrm>
        </p:spPr>
        <p:txBody>
          <a:bodyPr>
            <a:normAutofit/>
          </a:bodyPr>
          <a:lstStyle/>
          <a:p>
            <a:r>
              <a:rPr lang="en-GB" sz="4400" cap="none" dirty="0">
                <a:latin typeface="Tahoma" panose="020B0604030504040204" pitchFamily="34" charset="0"/>
                <a:ea typeface="Tahoma" panose="020B0604030504040204" pitchFamily="34" charset="0"/>
                <a:cs typeface="Tahoma" panose="020B0604030504040204" pitchFamily="34" charset="0"/>
              </a:rPr>
              <a:t>Principii de design</a:t>
            </a:r>
          </a:p>
        </p:txBody>
      </p:sp>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08710" y="979054"/>
            <a:ext cx="10671797" cy="4627419"/>
          </a:xfrm>
        </p:spPr>
        <p:txBody>
          <a:bodyPr>
            <a:normAutofit/>
          </a:bodyPr>
          <a:lstStyle/>
          <a:p>
            <a:r>
              <a:rPr lang="ro-RO" cap="none" dirty="0">
                <a:latin typeface="Tahoma" panose="020B0604030504040204" pitchFamily="34" charset="0"/>
                <a:ea typeface="Tahoma" panose="020B0604030504040204" pitchFamily="34" charset="0"/>
                <a:cs typeface="Tahoma" panose="020B0604030504040204" pitchFamily="34" charset="0"/>
              </a:rPr>
              <a:t>Elemente tipografice (</a:t>
            </a:r>
            <a:r>
              <a:rPr lang="ro-RO" i="1" cap="none" dirty="0">
                <a:latin typeface="Tahoma" panose="020B0604030504040204" pitchFamily="34" charset="0"/>
                <a:ea typeface="Tahoma" panose="020B0604030504040204" pitchFamily="34" charset="0"/>
                <a:cs typeface="Tahoma" panose="020B0604030504040204" pitchFamily="34" charset="0"/>
              </a:rPr>
              <a:t>typography</a:t>
            </a:r>
            <a:r>
              <a:rPr lang="ro-RO" cap="none" dirty="0">
                <a:latin typeface="Tahoma" panose="020B0604030504040204" pitchFamily="34" charset="0"/>
                <a:ea typeface="Tahoma" panose="020B0604030504040204" pitchFamily="34" charset="0"/>
                <a:cs typeface="Tahoma" panose="020B0604030504040204" pitchFamily="34" charset="0"/>
              </a:rPr>
              <a:t>)</a:t>
            </a:r>
          </a:p>
          <a:p>
            <a:r>
              <a:rPr lang="ro-RO" cap="none" dirty="0">
                <a:latin typeface="Tahoma" panose="020B0604030504040204" pitchFamily="34" charset="0"/>
                <a:ea typeface="Tahoma" panose="020B0604030504040204" pitchFamily="34" charset="0"/>
                <a:cs typeface="Tahoma" panose="020B0604030504040204" pitchFamily="34" charset="0"/>
              </a:rPr>
              <a:t>Elemente de control (</a:t>
            </a:r>
            <a:r>
              <a:rPr lang="ro-RO" i="1" cap="none" dirty="0">
                <a:latin typeface="Tahoma" panose="020B0604030504040204" pitchFamily="34" charset="0"/>
                <a:ea typeface="Tahoma" panose="020B0604030504040204" pitchFamily="34" charset="0"/>
                <a:cs typeface="Tahoma" panose="020B0604030504040204" pitchFamily="34" charset="0"/>
              </a:rPr>
              <a:t>controls</a:t>
            </a:r>
            <a:r>
              <a:rPr lang="ro-RO" cap="none" dirty="0">
                <a:latin typeface="Tahoma" panose="020B0604030504040204" pitchFamily="34" charset="0"/>
                <a:ea typeface="Tahoma" panose="020B0604030504040204" pitchFamily="34" charset="0"/>
                <a:cs typeface="Tahoma" panose="020B0604030504040204" pitchFamily="34" charset="0"/>
              </a:rPr>
              <a:t>)</a:t>
            </a:r>
          </a:p>
          <a:p>
            <a:r>
              <a:rPr lang="ro-RO" cap="none" dirty="0">
                <a:latin typeface="Tahoma" panose="020B0604030504040204" pitchFamily="34" charset="0"/>
                <a:ea typeface="Tahoma" panose="020B0604030504040204" pitchFamily="34" charset="0"/>
                <a:cs typeface="Tahoma" panose="020B0604030504040204" pitchFamily="34" charset="0"/>
              </a:rPr>
              <a:t>Elemente de conținut (</a:t>
            </a:r>
            <a:r>
              <a:rPr lang="ro-RO" i="1" cap="none" dirty="0">
                <a:latin typeface="Tahoma" panose="020B0604030504040204" pitchFamily="34" charset="0"/>
                <a:ea typeface="Tahoma" panose="020B0604030504040204" pitchFamily="34" charset="0"/>
                <a:cs typeface="Tahoma" panose="020B0604030504040204" pitchFamily="34" charset="0"/>
              </a:rPr>
              <a:t>contents</a:t>
            </a:r>
            <a:r>
              <a:rPr lang="ro-RO" cap="none" dirty="0">
                <a:latin typeface="Tahoma" panose="020B0604030504040204" pitchFamily="34" charset="0"/>
                <a:ea typeface="Tahoma" panose="020B0604030504040204" pitchFamily="34" charset="0"/>
                <a:cs typeface="Tahoma" panose="020B0604030504040204" pitchFamily="34" charset="0"/>
              </a:rPr>
              <a:t>)</a:t>
            </a:r>
          </a:p>
          <a:p>
            <a:r>
              <a:rPr lang="ro-RO" cap="none" dirty="0">
                <a:latin typeface="Tahoma" panose="020B0604030504040204" pitchFamily="34" charset="0"/>
                <a:ea typeface="Tahoma" panose="020B0604030504040204" pitchFamily="34" charset="0"/>
                <a:cs typeface="Tahoma" panose="020B0604030504040204" pitchFamily="34" charset="0"/>
              </a:rPr>
              <a:t>Elemente de navigare (</a:t>
            </a:r>
            <a:r>
              <a:rPr lang="ro-RO" i="1" cap="none" dirty="0">
                <a:latin typeface="Tahoma" panose="020B0604030504040204" pitchFamily="34" charset="0"/>
                <a:ea typeface="Tahoma" panose="020B0604030504040204" pitchFamily="34" charset="0"/>
                <a:cs typeface="Tahoma" panose="020B0604030504040204" pitchFamily="34" charset="0"/>
              </a:rPr>
              <a:t>navigation</a:t>
            </a:r>
            <a:r>
              <a:rPr lang="ro-RO" cap="none" dirty="0">
                <a:latin typeface="Tahoma" panose="020B0604030504040204" pitchFamily="34" charset="0"/>
                <a:ea typeface="Tahoma" panose="020B0604030504040204" pitchFamily="34" charset="0"/>
                <a:cs typeface="Tahoma" panose="020B0604030504040204" pitchFamily="34" charset="0"/>
              </a:rPr>
              <a:t>)</a:t>
            </a:r>
          </a:p>
          <a:p>
            <a:r>
              <a:rPr lang="ro-RO" cap="none" dirty="0">
                <a:latin typeface="Tahoma" panose="020B0604030504040204" pitchFamily="34" charset="0"/>
                <a:ea typeface="Tahoma" panose="020B0604030504040204" pitchFamily="34" charset="0"/>
                <a:cs typeface="Tahoma" panose="020B0604030504040204" pitchFamily="34" charset="0"/>
              </a:rPr>
              <a:t>Pictograme (</a:t>
            </a:r>
            <a:r>
              <a:rPr lang="ro-RO" i="1" cap="none" dirty="0">
                <a:latin typeface="Tahoma" panose="020B0604030504040204" pitchFamily="34" charset="0"/>
                <a:ea typeface="Tahoma" panose="020B0604030504040204" pitchFamily="34" charset="0"/>
                <a:cs typeface="Tahoma" panose="020B0604030504040204" pitchFamily="34" charset="0"/>
              </a:rPr>
              <a:t>iconography</a:t>
            </a:r>
            <a:r>
              <a:rPr lang="ro-RO" cap="none" dirty="0">
                <a:latin typeface="Tahoma" panose="020B0604030504040204" pitchFamily="34" charset="0"/>
                <a:ea typeface="Tahoma" panose="020B0604030504040204" pitchFamily="34" charset="0"/>
                <a:cs typeface="Tahoma" panose="020B0604030504040204" pitchFamily="34" charset="0"/>
              </a:rPr>
              <a:t>)</a:t>
            </a:r>
          </a:p>
          <a:p>
            <a:r>
              <a:rPr lang="ro-RO" cap="none" dirty="0">
                <a:latin typeface="Tahoma" panose="020B0604030504040204" pitchFamily="34" charset="0"/>
                <a:ea typeface="Tahoma" panose="020B0604030504040204" pitchFamily="34" charset="0"/>
                <a:cs typeface="Tahoma" panose="020B0604030504040204" pitchFamily="34" charset="0"/>
              </a:rPr>
              <a:t>Elemente de </a:t>
            </a:r>
            <a:r>
              <a:rPr lang="ro-RO" i="1" cap="none" dirty="0">
                <a:latin typeface="Tahoma" panose="020B0604030504040204" pitchFamily="34" charset="0"/>
                <a:ea typeface="Tahoma" panose="020B0604030504040204" pitchFamily="34" charset="0"/>
                <a:cs typeface="Tahoma" panose="020B0604030504040204" pitchFamily="34" charset="0"/>
              </a:rPr>
              <a:t>input</a:t>
            </a:r>
          </a:p>
          <a:p>
            <a:r>
              <a:rPr lang="ro-RO" cap="none" dirty="0">
                <a:latin typeface="Tahoma" panose="020B0604030504040204" pitchFamily="34" charset="0"/>
                <a:ea typeface="Tahoma" panose="020B0604030504040204" pitchFamily="34" charset="0"/>
                <a:cs typeface="Tahoma" panose="020B0604030504040204" pitchFamily="34" charset="0"/>
              </a:rPr>
              <a:t>Formulare</a:t>
            </a:r>
          </a:p>
          <a:p>
            <a:r>
              <a:rPr lang="ro-RO" cap="none" dirty="0">
                <a:latin typeface="Tahoma" panose="020B0604030504040204" pitchFamily="34" charset="0"/>
                <a:ea typeface="Tahoma" panose="020B0604030504040204" pitchFamily="34" charset="0"/>
                <a:cs typeface="Tahoma" panose="020B0604030504040204" pitchFamily="34" charset="0"/>
              </a:rPr>
              <a:t>Progres, notificări</a:t>
            </a:r>
          </a:p>
          <a:p>
            <a:r>
              <a:rPr lang="ro-RO" cap="none"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932694838"/>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2679E24-B442-48DA-91F5-D20C35276B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47FFD68E-AD03-4180-8BBB-B3E7DE0D1C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B36C81B8-0929-4B46-BCB0-00954C0E7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A771D040-DA75-4CDB-859B-07D4C8094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4C97C64C-CFCE-45F6-B8D4-4B46AB898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139" name="Picture 138">
            <a:extLst>
              <a:ext uri="{FF2B5EF4-FFF2-40B4-BE49-F238E27FC236}">
                <a16:creationId xmlns:a16="http://schemas.microsoft.com/office/drawing/2014/main" id="{91AB8A88-A60F-421C-9564-D5A7639EA5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41" name="Rectangle 140">
            <a:extLst>
              <a:ext uri="{FF2B5EF4-FFF2-40B4-BE49-F238E27FC236}">
                <a16:creationId xmlns:a16="http://schemas.microsoft.com/office/drawing/2014/main" id="{832D3A04-3120-4CF3-8F9E-6DCF218BA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3" name="Freeform 9">
            <a:extLst>
              <a:ext uri="{FF2B5EF4-FFF2-40B4-BE49-F238E27FC236}">
                <a16:creationId xmlns:a16="http://schemas.microsoft.com/office/drawing/2014/main" id="{98D68143-E11F-49D9-A842-E52CB4364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45" name="Rectangle 144">
            <a:extLst>
              <a:ext uri="{FF2B5EF4-FFF2-40B4-BE49-F238E27FC236}">
                <a16:creationId xmlns:a16="http://schemas.microsoft.com/office/drawing/2014/main" id="{70D81F57-CC57-46AD-86A2-54F697BD5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094412"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685799" y="690479"/>
            <a:ext cx="4957275" cy="1146825"/>
          </a:xfrm>
        </p:spPr>
        <p:txBody>
          <a:bodyPr vert="horz" lIns="91440" tIns="45720" rIns="91440" bIns="45720" rtlCol="0" anchor="ctr">
            <a:noAutofit/>
          </a:bodyPr>
          <a:lstStyle/>
          <a:p>
            <a:pPr algn="l"/>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Pictograme (</a:t>
            </a:r>
            <a:r>
              <a:rPr lang="ro-RO" sz="4300" i="1" cap="none" dirty="0">
                <a:solidFill>
                  <a:schemeClr val="bg1"/>
                </a:solidFill>
                <a:latin typeface="Tahoma" panose="020B0604030504040204" pitchFamily="34" charset="0"/>
                <a:ea typeface="Tahoma" panose="020B0604030504040204" pitchFamily="34" charset="0"/>
                <a:cs typeface="Tahoma" panose="020B0604030504040204" pitchFamily="34" charset="0"/>
              </a:rPr>
              <a:t>iconography</a:t>
            </a:r>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4300" cap="non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98F2A94A-0481-521E-3EB4-9E75519A989F}"/>
              </a:ext>
            </a:extLst>
          </p:cNvPr>
          <p:cNvSpPr txBox="1"/>
          <p:nvPr/>
        </p:nvSpPr>
        <p:spPr>
          <a:xfrm>
            <a:off x="6160654" y="477204"/>
            <a:ext cx="5345547" cy="5526432"/>
          </a:xfrm>
          <a:prstGeom prst="rect">
            <a:avLst/>
          </a:prstGeom>
        </p:spPr>
        <p:txBody>
          <a:bodyPr vert="horz" lIns="91440" tIns="45720" rIns="91440" bIns="45720" rtlCol="0" anchor="ctr">
            <a:normAutofit/>
          </a:bodyPr>
          <a:lstStyle/>
          <a:p>
            <a:pPr marL="571500" indent="-457200" defTabSz="914400">
              <a:lnSpc>
                <a:spcPct val="110000"/>
              </a:lnSpc>
              <a:spcAft>
                <a:spcPts val="300"/>
              </a:spcAft>
              <a:buClr>
                <a:schemeClr val="accent1"/>
              </a:buClr>
              <a:buSzPct val="1600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Consistență</a:t>
            </a:r>
            <a:endParaRPr lang="en-US" sz="24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Ce este de fapt o pictogramă?</a:t>
            </a:r>
            <a:endParaRPr lang="en-US" sz="2000" i="1"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Stilul pictogramelor să fie consistent în cadrul produsului - bine definit de la începutul realizării produsului</a:t>
            </a:r>
            <a:endParaRPr lang="en-US"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Exemplu de inconsistență (cf. W. Grant)</a:t>
            </a:r>
          </a:p>
          <a:p>
            <a:pPr marL="857250" lvl="1" indent="-285750" defTabSz="914400">
              <a:lnSpc>
                <a:spcPct val="110000"/>
              </a:lnSpc>
              <a:spcAft>
                <a:spcPts val="300"/>
              </a:spcAft>
              <a:buClr>
                <a:schemeClr val="accent1"/>
              </a:buClr>
              <a:buSzPct val="1600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3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Dacă este necesar, investit timp pentru a crea un stil coerent (mai bună uzabilitate)</a:t>
            </a:r>
            <a:endParaRPr lang="en-US" sz="22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960BC793-9B01-35C0-CBFB-79B4B5B0C692}"/>
              </a:ext>
            </a:extLst>
          </p:cNvPr>
          <p:cNvPicPr>
            <a:picLocks noChangeAspect="1"/>
          </p:cNvPicPr>
          <p:nvPr/>
        </p:nvPicPr>
        <p:blipFill>
          <a:blip r:embed="rId4"/>
          <a:stretch>
            <a:fillRect/>
          </a:stretch>
        </p:blipFill>
        <p:spPr>
          <a:xfrm>
            <a:off x="977684" y="2042620"/>
            <a:ext cx="1019317" cy="4124901"/>
          </a:xfrm>
          <a:prstGeom prst="rect">
            <a:avLst/>
          </a:prstGeom>
        </p:spPr>
      </p:pic>
      <p:pic>
        <p:nvPicPr>
          <p:cNvPr id="6" name="Picture 5">
            <a:extLst>
              <a:ext uri="{FF2B5EF4-FFF2-40B4-BE49-F238E27FC236}">
                <a16:creationId xmlns:a16="http://schemas.microsoft.com/office/drawing/2014/main" id="{253BC8DF-C596-4542-B8DE-DD57934DB582}"/>
              </a:ext>
            </a:extLst>
          </p:cNvPr>
          <p:cNvPicPr>
            <a:picLocks noChangeAspect="1"/>
          </p:cNvPicPr>
          <p:nvPr/>
        </p:nvPicPr>
        <p:blipFill>
          <a:blip r:embed="rId5"/>
          <a:stretch>
            <a:fillRect/>
          </a:stretch>
        </p:blipFill>
        <p:spPr>
          <a:xfrm>
            <a:off x="8082473" y="2905521"/>
            <a:ext cx="2001209" cy="1831794"/>
          </a:xfrm>
          <a:prstGeom prst="rect">
            <a:avLst/>
          </a:prstGeom>
        </p:spPr>
      </p:pic>
    </p:spTree>
    <p:extLst>
      <p:ext uri="{BB962C8B-B14F-4D97-AF65-F5344CB8AC3E}">
        <p14:creationId xmlns:p14="http://schemas.microsoft.com/office/powerpoint/2010/main" val="308133998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2679E24-B442-48DA-91F5-D20C35276B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47FFD68E-AD03-4180-8BBB-B3E7DE0D1C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B36C81B8-0929-4B46-BCB0-00954C0E7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A771D040-DA75-4CDB-859B-07D4C8094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4C97C64C-CFCE-45F6-B8D4-4B46AB898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139" name="Picture 138">
            <a:extLst>
              <a:ext uri="{FF2B5EF4-FFF2-40B4-BE49-F238E27FC236}">
                <a16:creationId xmlns:a16="http://schemas.microsoft.com/office/drawing/2014/main" id="{91AB8A88-A60F-421C-9564-D5A7639EA5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41" name="Rectangle 140">
            <a:extLst>
              <a:ext uri="{FF2B5EF4-FFF2-40B4-BE49-F238E27FC236}">
                <a16:creationId xmlns:a16="http://schemas.microsoft.com/office/drawing/2014/main" id="{832D3A04-3120-4CF3-8F9E-6DCF218BA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3" name="Freeform 9">
            <a:extLst>
              <a:ext uri="{FF2B5EF4-FFF2-40B4-BE49-F238E27FC236}">
                <a16:creationId xmlns:a16="http://schemas.microsoft.com/office/drawing/2014/main" id="{98D68143-E11F-49D9-A842-E52CB4364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45" name="Rectangle 144">
            <a:extLst>
              <a:ext uri="{FF2B5EF4-FFF2-40B4-BE49-F238E27FC236}">
                <a16:creationId xmlns:a16="http://schemas.microsoft.com/office/drawing/2014/main" id="{70D81F57-CC57-46AD-86A2-54F697BD5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094412"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685799" y="690479"/>
            <a:ext cx="4957275" cy="1146825"/>
          </a:xfrm>
        </p:spPr>
        <p:txBody>
          <a:bodyPr vert="horz" lIns="91440" tIns="45720" rIns="91440" bIns="45720" rtlCol="0" anchor="ctr">
            <a:noAutofit/>
          </a:bodyPr>
          <a:lstStyle/>
          <a:p>
            <a:pPr algn="l"/>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Pictograme (</a:t>
            </a:r>
            <a:r>
              <a:rPr lang="ro-RO" sz="4300" i="1" cap="none" dirty="0">
                <a:solidFill>
                  <a:schemeClr val="bg1"/>
                </a:solidFill>
                <a:latin typeface="Tahoma" panose="020B0604030504040204" pitchFamily="34" charset="0"/>
                <a:ea typeface="Tahoma" panose="020B0604030504040204" pitchFamily="34" charset="0"/>
                <a:cs typeface="Tahoma" panose="020B0604030504040204" pitchFamily="34" charset="0"/>
              </a:rPr>
              <a:t>iconography</a:t>
            </a:r>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4300" cap="non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98F2A94A-0481-521E-3EB4-9E75519A989F}"/>
              </a:ext>
            </a:extLst>
          </p:cNvPr>
          <p:cNvSpPr txBox="1"/>
          <p:nvPr/>
        </p:nvSpPr>
        <p:spPr>
          <a:xfrm>
            <a:off x="6160654" y="477204"/>
            <a:ext cx="5345547" cy="5526432"/>
          </a:xfrm>
          <a:prstGeom prst="rect">
            <a:avLst/>
          </a:prstGeom>
        </p:spPr>
        <p:txBody>
          <a:bodyPr vert="horz" lIns="91440" tIns="45720" rIns="91440" bIns="45720" rtlCol="0" anchor="ctr">
            <a:normAutofit/>
          </a:bodyPr>
          <a:lstStyle/>
          <a:p>
            <a:pPr marL="342900" indent="-228600" defTabSz="914400">
              <a:lnSpc>
                <a:spcPct val="110000"/>
              </a:lnSpc>
              <a:spcAft>
                <a:spcPts val="600"/>
              </a:spcAft>
              <a:buClr>
                <a:schemeClr val="accent1"/>
              </a:buClr>
              <a:buSzPct val="1600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Pictograme demodate? (</a:t>
            </a:r>
            <a:r>
              <a:rPr lang="ro-RO" sz="2400" i="1" dirty="0">
                <a:latin typeface="Tahoma" panose="020B0604030504040204" pitchFamily="34" charset="0"/>
                <a:ea typeface="Tahoma" panose="020B0604030504040204" pitchFamily="34" charset="0"/>
                <a:cs typeface="Tahoma" panose="020B0604030504040204" pitchFamily="34" charset="0"/>
              </a:rPr>
              <a:t>obsolete</a:t>
            </a:r>
            <a:r>
              <a:rPr lang="ro-RO" sz="2400" dirty="0">
                <a:latin typeface="Tahoma" panose="020B0604030504040204" pitchFamily="34" charset="0"/>
                <a:ea typeface="Tahoma" panose="020B0604030504040204" pitchFamily="34" charset="0"/>
                <a:cs typeface="Tahoma" panose="020B0604030504040204" pitchFamily="34" charset="0"/>
              </a:rPr>
              <a:t>)</a:t>
            </a:r>
            <a:endParaRPr lang="en-US" sz="24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Pot fi argumente pro și contra</a:t>
            </a:r>
            <a:endParaRPr lang="en-US" sz="2000" i="1"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Important este și cui se adresează produsul (grupe de vârstă, cultură, etc.) este vorba de experiența de utilizare. O pictogramă este o metaforă.</a:t>
            </a:r>
            <a:endParaRPr lang="en-GB"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en-GB" sz="2000" dirty="0">
                <a:latin typeface="Tahoma" panose="020B0604030504040204" pitchFamily="34" charset="0"/>
                <a:ea typeface="Tahoma" panose="020B0604030504040204" pitchFamily="34" charset="0"/>
                <a:cs typeface="Tahoma" panose="020B0604030504040204" pitchFamily="34" charset="0"/>
              </a:rPr>
              <a:t>Pe de alt</a:t>
            </a:r>
            <a:r>
              <a:rPr lang="ro-RO" sz="2000" dirty="0">
                <a:latin typeface="Tahoma" panose="020B0604030504040204" pitchFamily="34" charset="0"/>
                <a:ea typeface="Tahoma" panose="020B0604030504040204" pitchFamily="34" charset="0"/>
                <a:cs typeface="Tahoma" panose="020B0604030504040204" pitchFamily="34" charset="0"/>
              </a:rPr>
              <a:t>ă parte, este vorba și de experiența anterioară, scop ultim: </a:t>
            </a:r>
            <a:r>
              <a:rPr lang="ro-RO" sz="2000" i="1" dirty="0">
                <a:latin typeface="Tahoma" panose="020B0604030504040204" pitchFamily="34" charset="0"/>
                <a:ea typeface="Tahoma" panose="020B0604030504040204" pitchFamily="34" charset="0"/>
                <a:cs typeface="Tahoma" panose="020B0604030504040204" pitchFamily="34" charset="0"/>
                <a:hlinkClick r:id="rId4"/>
              </a:rPr>
              <a:t>usability</a:t>
            </a:r>
            <a:endParaRPr lang="ro-RO" sz="20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Interacțiunea cu utilizatorii: esențială</a:t>
            </a:r>
            <a:endParaRPr 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EB21EF64-675A-87D5-7F3F-290092D7098C}"/>
              </a:ext>
            </a:extLst>
          </p:cNvPr>
          <p:cNvPicPr>
            <a:picLocks noChangeAspect="1"/>
          </p:cNvPicPr>
          <p:nvPr/>
        </p:nvPicPr>
        <p:blipFill>
          <a:blip r:embed="rId5"/>
          <a:stretch>
            <a:fillRect/>
          </a:stretch>
        </p:blipFill>
        <p:spPr>
          <a:xfrm>
            <a:off x="131751" y="2903670"/>
            <a:ext cx="1678576" cy="1468754"/>
          </a:xfrm>
          <a:prstGeom prst="rect">
            <a:avLst/>
          </a:prstGeom>
        </p:spPr>
      </p:pic>
      <p:pic>
        <p:nvPicPr>
          <p:cNvPr id="8" name="Picture 7">
            <a:extLst>
              <a:ext uri="{FF2B5EF4-FFF2-40B4-BE49-F238E27FC236}">
                <a16:creationId xmlns:a16="http://schemas.microsoft.com/office/drawing/2014/main" id="{78C4CC12-2E53-8D3D-9EE0-6DC935129C0D}"/>
              </a:ext>
            </a:extLst>
          </p:cNvPr>
          <p:cNvPicPr>
            <a:picLocks noChangeAspect="1"/>
          </p:cNvPicPr>
          <p:nvPr/>
        </p:nvPicPr>
        <p:blipFill>
          <a:blip r:embed="rId6"/>
          <a:stretch>
            <a:fillRect/>
          </a:stretch>
        </p:blipFill>
        <p:spPr>
          <a:xfrm>
            <a:off x="2727481" y="2650428"/>
            <a:ext cx="3090539" cy="1338683"/>
          </a:xfrm>
          <a:prstGeom prst="rect">
            <a:avLst/>
          </a:prstGeom>
        </p:spPr>
      </p:pic>
      <p:pic>
        <p:nvPicPr>
          <p:cNvPr id="12" name="Picture 11">
            <a:extLst>
              <a:ext uri="{FF2B5EF4-FFF2-40B4-BE49-F238E27FC236}">
                <a16:creationId xmlns:a16="http://schemas.microsoft.com/office/drawing/2014/main" id="{B76859A8-E388-880F-CAE8-406FA9CCC5EE}"/>
              </a:ext>
            </a:extLst>
          </p:cNvPr>
          <p:cNvPicPr>
            <a:picLocks noChangeAspect="1"/>
          </p:cNvPicPr>
          <p:nvPr/>
        </p:nvPicPr>
        <p:blipFill>
          <a:blip r:embed="rId7"/>
          <a:stretch>
            <a:fillRect/>
          </a:stretch>
        </p:blipFill>
        <p:spPr>
          <a:xfrm>
            <a:off x="131751" y="4376437"/>
            <a:ext cx="2212800" cy="1223778"/>
          </a:xfrm>
          <a:prstGeom prst="rect">
            <a:avLst/>
          </a:prstGeom>
        </p:spPr>
      </p:pic>
      <p:pic>
        <p:nvPicPr>
          <p:cNvPr id="16" name="Picture 15">
            <a:extLst>
              <a:ext uri="{FF2B5EF4-FFF2-40B4-BE49-F238E27FC236}">
                <a16:creationId xmlns:a16="http://schemas.microsoft.com/office/drawing/2014/main" id="{DBBE7B2E-5526-2784-84B8-476F9A624840}"/>
              </a:ext>
            </a:extLst>
          </p:cNvPr>
          <p:cNvPicPr>
            <a:picLocks noChangeAspect="1"/>
          </p:cNvPicPr>
          <p:nvPr/>
        </p:nvPicPr>
        <p:blipFill>
          <a:blip r:embed="rId8"/>
          <a:stretch>
            <a:fillRect/>
          </a:stretch>
        </p:blipFill>
        <p:spPr>
          <a:xfrm>
            <a:off x="3398982" y="3997225"/>
            <a:ext cx="2419038" cy="1626523"/>
          </a:xfrm>
          <a:prstGeom prst="rect">
            <a:avLst/>
          </a:prstGeom>
        </p:spPr>
      </p:pic>
    </p:spTree>
    <p:extLst>
      <p:ext uri="{BB962C8B-B14F-4D97-AF65-F5344CB8AC3E}">
        <p14:creationId xmlns:p14="http://schemas.microsoft.com/office/powerpoint/2010/main" val="19330603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2679E24-B442-48DA-91F5-D20C35276B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47FFD68E-AD03-4180-8BBB-B3E7DE0D1C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B36C81B8-0929-4B46-BCB0-00954C0E7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A771D040-DA75-4CDB-859B-07D4C8094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4C97C64C-CFCE-45F6-B8D4-4B46AB898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139" name="Picture 138">
            <a:extLst>
              <a:ext uri="{FF2B5EF4-FFF2-40B4-BE49-F238E27FC236}">
                <a16:creationId xmlns:a16="http://schemas.microsoft.com/office/drawing/2014/main" id="{91AB8A88-A60F-421C-9564-D5A7639EA5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41" name="Rectangle 140">
            <a:extLst>
              <a:ext uri="{FF2B5EF4-FFF2-40B4-BE49-F238E27FC236}">
                <a16:creationId xmlns:a16="http://schemas.microsoft.com/office/drawing/2014/main" id="{832D3A04-3120-4CF3-8F9E-6DCF218BA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3" name="Freeform 9">
            <a:extLst>
              <a:ext uri="{FF2B5EF4-FFF2-40B4-BE49-F238E27FC236}">
                <a16:creationId xmlns:a16="http://schemas.microsoft.com/office/drawing/2014/main" id="{98D68143-E11F-49D9-A842-E52CB4364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45" name="Rectangle 144">
            <a:extLst>
              <a:ext uri="{FF2B5EF4-FFF2-40B4-BE49-F238E27FC236}">
                <a16:creationId xmlns:a16="http://schemas.microsoft.com/office/drawing/2014/main" id="{70D81F57-CC57-46AD-86A2-54F697BD5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094412"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685799" y="690479"/>
            <a:ext cx="4957275" cy="1146825"/>
          </a:xfrm>
        </p:spPr>
        <p:txBody>
          <a:bodyPr vert="horz" lIns="91440" tIns="45720" rIns="91440" bIns="45720" rtlCol="0" anchor="ctr">
            <a:noAutofit/>
          </a:bodyPr>
          <a:lstStyle/>
          <a:p>
            <a:pPr algn="l"/>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Pictograme (</a:t>
            </a:r>
            <a:r>
              <a:rPr lang="ro-RO" sz="4300" i="1" cap="none" dirty="0">
                <a:solidFill>
                  <a:schemeClr val="bg1"/>
                </a:solidFill>
                <a:latin typeface="Tahoma" panose="020B0604030504040204" pitchFamily="34" charset="0"/>
                <a:ea typeface="Tahoma" panose="020B0604030504040204" pitchFamily="34" charset="0"/>
                <a:cs typeface="Tahoma" panose="020B0604030504040204" pitchFamily="34" charset="0"/>
              </a:rPr>
              <a:t>iconography</a:t>
            </a:r>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4300" cap="non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98F2A94A-0481-521E-3EB4-9E75519A989F}"/>
              </a:ext>
            </a:extLst>
          </p:cNvPr>
          <p:cNvSpPr txBox="1"/>
          <p:nvPr/>
        </p:nvSpPr>
        <p:spPr>
          <a:xfrm>
            <a:off x="6160654" y="477204"/>
            <a:ext cx="5345547" cy="5526432"/>
          </a:xfrm>
          <a:prstGeom prst="rect">
            <a:avLst/>
          </a:prstGeom>
        </p:spPr>
        <p:txBody>
          <a:bodyPr vert="horz" lIns="91440" tIns="45720" rIns="91440" bIns="45720" rtlCol="0" anchor="ctr">
            <a:normAutofit/>
          </a:bodyPr>
          <a:lstStyle/>
          <a:p>
            <a:pPr marL="342900" indent="-228600" defTabSz="914400">
              <a:lnSpc>
                <a:spcPct val="110000"/>
              </a:lnSpc>
              <a:spcAft>
                <a:spcPts val="600"/>
              </a:spcAft>
              <a:buClr>
                <a:schemeClr val="accent1"/>
              </a:buClr>
              <a:buSzPct val="1600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Pictograme noi</a:t>
            </a:r>
            <a:endParaRPr lang="en-US" sz="24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Situații rare: noi pictograme pentru idei noi - majoritatea situațiilor sunt acoperite de tiparele și de convențiile actuale</a:t>
            </a: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Nu este recomandat să fie utilizată o pictogramă existentă pentru a ilustra un concept nou</a:t>
            </a: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en-GB" sz="2000" dirty="0">
                <a:latin typeface="Tahoma" panose="020B0604030504040204" pitchFamily="34" charset="0"/>
                <a:ea typeface="Tahoma" panose="020B0604030504040204" pitchFamily="34" charset="0"/>
                <a:cs typeface="Tahoma" panose="020B0604030504040204" pitchFamily="34" charset="0"/>
              </a:rPr>
              <a:t>Eventual </a:t>
            </a:r>
            <a:r>
              <a:rPr lang="en-GB" sz="2000" dirty="0" err="1">
                <a:latin typeface="Tahoma" panose="020B0604030504040204" pitchFamily="34" charset="0"/>
                <a:ea typeface="Tahoma" panose="020B0604030504040204" pitchFamily="34" charset="0"/>
                <a:cs typeface="Tahoma" panose="020B0604030504040204" pitchFamily="34" charset="0"/>
              </a:rPr>
              <a:t>testat</a:t>
            </a:r>
            <a:r>
              <a:rPr lang="ro-RO" sz="2000" dirty="0">
                <a:latin typeface="Tahoma" panose="020B0604030504040204" pitchFamily="34" charset="0"/>
                <a:ea typeface="Tahoma" panose="020B0604030504040204" pitchFamily="34" charset="0"/>
                <a:cs typeface="Tahoma" panose="020B0604030504040204" pitchFamily="34" charset="0"/>
              </a:rPr>
              <a:t>ă </a:t>
            </a:r>
            <a:r>
              <a:rPr lang="ro-RO" sz="2000" dirty="0">
                <a:latin typeface="Tahoma" panose="020B0604030504040204" pitchFamily="34" charset="0"/>
                <a:ea typeface="Tahoma" panose="020B0604030504040204" pitchFamily="34" charset="0"/>
                <a:cs typeface="Tahoma" panose="020B0604030504040204" pitchFamily="34" charset="0"/>
                <a:hlinkClick r:id="rId4"/>
              </a:rPr>
              <a:t>uzabilitatea</a:t>
            </a:r>
            <a:r>
              <a:rPr lang="en-GB" sz="2000" dirty="0">
                <a:latin typeface="Tahoma" panose="020B0604030504040204" pitchFamily="34" charset="0"/>
                <a:ea typeface="Tahoma" panose="020B0604030504040204" pitchFamily="34" charset="0"/>
                <a:cs typeface="Tahoma" panose="020B0604030504040204" pitchFamily="34" charset="0"/>
              </a:rPr>
              <a:t>. </a:t>
            </a:r>
            <a:r>
              <a:rPr lang="ro-RO" sz="2000" dirty="0">
                <a:latin typeface="Tahoma" panose="020B0604030504040204" pitchFamily="34" charset="0"/>
                <a:ea typeface="Tahoma" panose="020B0604030504040204" pitchFamily="34" charset="0"/>
                <a:cs typeface="Tahoma" panose="020B0604030504040204" pitchFamily="34" charset="0"/>
              </a:rPr>
              <a:t>Alte </a:t>
            </a:r>
            <a:r>
              <a:rPr lang="ro-RO" sz="2000" dirty="0">
                <a:latin typeface="Tahoma" panose="020B0604030504040204" pitchFamily="34" charset="0"/>
                <a:ea typeface="Tahoma" panose="020B0604030504040204" pitchFamily="34" charset="0"/>
                <a:cs typeface="Tahoma" panose="020B0604030504040204" pitchFamily="34" charset="0"/>
                <a:hlinkClick r:id="rId5"/>
              </a:rPr>
              <a:t>recomandări</a:t>
            </a:r>
            <a:endParaRPr 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7FB6CFCA-AA1C-3516-EF58-2984E0547496}"/>
              </a:ext>
            </a:extLst>
          </p:cNvPr>
          <p:cNvPicPr>
            <a:picLocks noChangeAspect="1"/>
          </p:cNvPicPr>
          <p:nvPr/>
        </p:nvPicPr>
        <p:blipFill>
          <a:blip r:embed="rId6"/>
          <a:stretch>
            <a:fillRect/>
          </a:stretch>
        </p:blipFill>
        <p:spPr>
          <a:xfrm>
            <a:off x="685799" y="4222016"/>
            <a:ext cx="1133765" cy="1426351"/>
          </a:xfrm>
          <a:prstGeom prst="rect">
            <a:avLst/>
          </a:prstGeom>
        </p:spPr>
      </p:pic>
      <p:pic>
        <p:nvPicPr>
          <p:cNvPr id="6" name="Picture 5">
            <a:extLst>
              <a:ext uri="{FF2B5EF4-FFF2-40B4-BE49-F238E27FC236}">
                <a16:creationId xmlns:a16="http://schemas.microsoft.com/office/drawing/2014/main" id="{97B0E50E-C3B6-7F92-5090-52CC28A6F41E}"/>
              </a:ext>
            </a:extLst>
          </p:cNvPr>
          <p:cNvPicPr>
            <a:picLocks noChangeAspect="1"/>
          </p:cNvPicPr>
          <p:nvPr/>
        </p:nvPicPr>
        <p:blipFill>
          <a:blip r:embed="rId7"/>
          <a:stretch>
            <a:fillRect/>
          </a:stretch>
        </p:blipFill>
        <p:spPr>
          <a:xfrm>
            <a:off x="2078182" y="4214242"/>
            <a:ext cx="1431733" cy="1431733"/>
          </a:xfrm>
          <a:prstGeom prst="rect">
            <a:avLst/>
          </a:prstGeom>
        </p:spPr>
      </p:pic>
    </p:spTree>
    <p:extLst>
      <p:ext uri="{BB962C8B-B14F-4D97-AF65-F5344CB8AC3E}">
        <p14:creationId xmlns:p14="http://schemas.microsoft.com/office/powerpoint/2010/main" val="2264825929"/>
      </p:ext>
    </p:extLst>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2679E24-B442-48DA-91F5-D20C35276B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47FFD68E-AD03-4180-8BBB-B3E7DE0D1C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B36C81B8-0929-4B46-BCB0-00954C0E7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A771D040-DA75-4CDB-859B-07D4C8094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4C97C64C-CFCE-45F6-B8D4-4B46AB898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139" name="Picture 138">
            <a:extLst>
              <a:ext uri="{FF2B5EF4-FFF2-40B4-BE49-F238E27FC236}">
                <a16:creationId xmlns:a16="http://schemas.microsoft.com/office/drawing/2014/main" id="{91AB8A88-A60F-421C-9564-D5A7639EA5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41" name="Rectangle 140">
            <a:extLst>
              <a:ext uri="{FF2B5EF4-FFF2-40B4-BE49-F238E27FC236}">
                <a16:creationId xmlns:a16="http://schemas.microsoft.com/office/drawing/2014/main" id="{832D3A04-3120-4CF3-8F9E-6DCF218BA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3" name="Freeform 9">
            <a:extLst>
              <a:ext uri="{FF2B5EF4-FFF2-40B4-BE49-F238E27FC236}">
                <a16:creationId xmlns:a16="http://schemas.microsoft.com/office/drawing/2014/main" id="{98D68143-E11F-49D9-A842-E52CB4364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45" name="Rectangle 144">
            <a:extLst>
              <a:ext uri="{FF2B5EF4-FFF2-40B4-BE49-F238E27FC236}">
                <a16:creationId xmlns:a16="http://schemas.microsoft.com/office/drawing/2014/main" id="{70D81F57-CC57-46AD-86A2-54F697BD5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094412"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685799" y="690479"/>
            <a:ext cx="4957275" cy="1146825"/>
          </a:xfrm>
        </p:spPr>
        <p:txBody>
          <a:bodyPr vert="horz" lIns="91440" tIns="45720" rIns="91440" bIns="45720" rtlCol="0" anchor="ctr">
            <a:noAutofit/>
          </a:bodyPr>
          <a:lstStyle/>
          <a:p>
            <a:pPr algn="l"/>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Pictograme (</a:t>
            </a:r>
            <a:r>
              <a:rPr lang="ro-RO" sz="4300" i="1" cap="none" dirty="0">
                <a:solidFill>
                  <a:schemeClr val="bg1"/>
                </a:solidFill>
                <a:latin typeface="Tahoma" panose="020B0604030504040204" pitchFamily="34" charset="0"/>
                <a:ea typeface="Tahoma" panose="020B0604030504040204" pitchFamily="34" charset="0"/>
                <a:cs typeface="Tahoma" panose="020B0604030504040204" pitchFamily="34" charset="0"/>
              </a:rPr>
              <a:t>iconography</a:t>
            </a:r>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4300" cap="non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98F2A94A-0481-521E-3EB4-9E75519A989F}"/>
              </a:ext>
            </a:extLst>
          </p:cNvPr>
          <p:cNvSpPr txBox="1"/>
          <p:nvPr/>
        </p:nvSpPr>
        <p:spPr>
          <a:xfrm>
            <a:off x="6160654" y="0"/>
            <a:ext cx="5345547" cy="6003636"/>
          </a:xfrm>
          <a:prstGeom prst="rect">
            <a:avLst/>
          </a:prstGeom>
        </p:spPr>
        <p:txBody>
          <a:bodyPr vert="horz" lIns="91440" tIns="45720" rIns="91440" bIns="45720" rtlCol="0" anchor="ctr">
            <a:normAutofit fontScale="77500" lnSpcReduction="20000"/>
          </a:bodyPr>
          <a:lstStyle/>
          <a:p>
            <a:pPr marL="342900" indent="-228600" defTabSz="914400">
              <a:lnSpc>
                <a:spcPct val="110000"/>
              </a:lnSpc>
              <a:spcAft>
                <a:spcPts val="600"/>
              </a:spcAft>
              <a:buClr>
                <a:schemeClr val="accent1"/>
              </a:buClr>
              <a:buSzPct val="160000"/>
              <a:buFont typeface="Arial" panose="020B0604020202020204" pitchFamily="34" charset="0"/>
              <a:buChar char="•"/>
            </a:pPr>
            <a:r>
              <a:rPr lang="ro-RO" sz="2800" dirty="0">
                <a:latin typeface="Tahoma" panose="020B0604030504040204" pitchFamily="34" charset="0"/>
                <a:ea typeface="Tahoma" panose="020B0604030504040204" pitchFamily="34" charset="0"/>
                <a:cs typeface="Tahoma" panose="020B0604030504040204" pitchFamily="34" charset="0"/>
              </a:rPr>
              <a:t>Etichete pentru pictograme</a:t>
            </a:r>
            <a:endParaRPr lang="en-US" sz="28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200" dirty="0">
                <a:latin typeface="Tahoma" panose="020B0604030504040204" pitchFamily="34" charset="0"/>
                <a:ea typeface="Tahoma" panose="020B0604030504040204" pitchFamily="34" charset="0"/>
                <a:cs typeface="Tahoma" panose="020B0604030504040204" pitchFamily="34" charset="0"/>
              </a:rPr>
              <a:t>Text explicativ lângă pictogramă</a:t>
            </a: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200" dirty="0">
                <a:latin typeface="Tahoma" panose="020B0604030504040204" pitchFamily="34" charset="0"/>
                <a:ea typeface="Tahoma" panose="020B0604030504040204" pitchFamily="34" charset="0"/>
                <a:cs typeface="Tahoma" panose="020B0604030504040204" pitchFamily="34" charset="0"/>
              </a:rPr>
              <a:t>Componentă a </a:t>
            </a:r>
            <a:r>
              <a:rPr lang="ro-RO" sz="2200" dirty="0">
                <a:latin typeface="Tahoma" panose="020B0604030504040204" pitchFamily="34" charset="0"/>
                <a:ea typeface="Tahoma" panose="020B0604030504040204" pitchFamily="34" charset="0"/>
                <a:cs typeface="Tahoma" panose="020B0604030504040204" pitchFamily="34" charset="0"/>
                <a:hlinkClick r:id="rId4"/>
              </a:rPr>
              <a:t>uzabilității</a:t>
            </a:r>
            <a:r>
              <a:rPr lang="ro-RO" sz="2200" dirty="0">
                <a:latin typeface="Tahoma" panose="020B0604030504040204" pitchFamily="34" charset="0"/>
                <a:ea typeface="Tahoma" panose="020B0604030504040204" pitchFamily="34" charset="0"/>
                <a:cs typeface="Tahoma" panose="020B0604030504040204" pitchFamily="34" charset="0"/>
              </a:rPr>
              <a:t> – regula celor 5 secunde </a:t>
            </a:r>
            <a:endParaRPr lang="en-US" sz="22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200" dirty="0">
                <a:latin typeface="Tahoma" panose="020B0604030504040204" pitchFamily="34" charset="0"/>
                <a:ea typeface="Tahoma" panose="020B0604030504040204" pitchFamily="34" charset="0"/>
                <a:cs typeface="Tahoma" panose="020B0604030504040204" pitchFamily="34" charset="0"/>
              </a:rPr>
              <a:t>Util îndeosebi la prima utilizare</a:t>
            </a:r>
            <a:endParaRPr lang="en-US" sz="22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200" dirty="0">
                <a:latin typeface="Tahoma" panose="020B0604030504040204" pitchFamily="34" charset="0"/>
                <a:ea typeface="Tahoma" panose="020B0604030504040204" pitchFamily="34" charset="0"/>
                <a:cs typeface="Tahoma" panose="020B0604030504040204" pitchFamily="34" charset="0"/>
              </a:rPr>
              <a:t>Legătură cu contextul (de exemplu o pictogramă cu ceas - ce reprezintă în contextul respectiv?)</a:t>
            </a:r>
            <a:endParaRPr lang="en-US" sz="22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200" dirty="0">
                <a:latin typeface="Tahoma" panose="020B0604030504040204" pitchFamily="34" charset="0"/>
                <a:ea typeface="Tahoma" panose="020B0604030504040204" pitchFamily="34" charset="0"/>
                <a:cs typeface="Tahoma" panose="020B0604030504040204" pitchFamily="34" charset="0"/>
              </a:rPr>
              <a:t>Etichetele - utile și pe telefonul mobil</a:t>
            </a:r>
          </a:p>
          <a:p>
            <a:pPr marL="857250" lvl="1" indent="-285750" defTabSz="914400">
              <a:lnSpc>
                <a:spcPct val="110000"/>
              </a:lnSpc>
              <a:spcAft>
                <a:spcPts val="600"/>
              </a:spcAft>
              <a:buClr>
                <a:schemeClr val="accent1"/>
              </a:buClr>
              <a:buSzPct val="160000"/>
              <a:buFont typeface="Courier New" panose="02070309020205020404" pitchFamily="49" charset="0"/>
              <a:buChar char="o"/>
            </a:pPr>
            <a:endParaRPr lang="ro-RO" sz="22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endParaRPr lang="ro-RO" sz="2200" dirty="0">
              <a:latin typeface="Tahoma" panose="020B0604030504040204" pitchFamily="34" charset="0"/>
              <a:ea typeface="Tahoma" panose="020B0604030504040204" pitchFamily="34" charset="0"/>
              <a:cs typeface="Tahoma" panose="020B0604030504040204" pitchFamily="34" charset="0"/>
            </a:endParaRPr>
          </a:p>
          <a:p>
            <a:pPr marL="571500" lvl="1" defTabSz="914400">
              <a:lnSpc>
                <a:spcPct val="110000"/>
              </a:lnSpc>
              <a:spcAft>
                <a:spcPts val="600"/>
              </a:spcAft>
              <a:buClr>
                <a:schemeClr val="accent1"/>
              </a:buClr>
              <a:buSzPct val="160000"/>
            </a:pPr>
            <a:endParaRPr lang="en-US" sz="22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200" dirty="0">
                <a:latin typeface="Tahoma" panose="020B0604030504040204" pitchFamily="34" charset="0"/>
                <a:ea typeface="Tahoma" panose="020B0604030504040204" pitchFamily="34" charset="0"/>
                <a:cs typeface="Tahoma" panose="020B0604030504040204" pitchFamily="34" charset="0"/>
              </a:rPr>
              <a:t>Excepții: elementele de control utilizate frecvent (ex. selecție bold, italic) - poate fi inclusă o etichetă pentru asistență</a:t>
            </a:r>
          </a:p>
          <a:p>
            <a:pPr marL="571500" lvl="1" defTabSz="914400">
              <a:lnSpc>
                <a:spcPct val="110000"/>
              </a:lnSpc>
              <a:spcAft>
                <a:spcPts val="600"/>
              </a:spcAft>
              <a:buClr>
                <a:schemeClr val="accent1"/>
              </a:buClr>
              <a:buSzPct val="160000"/>
            </a:pPr>
            <a:endParaRPr lang="ro-RO" sz="22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endParaRPr lang="en-US" sz="22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200" dirty="0">
                <a:latin typeface="Tahoma" panose="020B0604030504040204" pitchFamily="34" charset="0"/>
                <a:ea typeface="Tahoma" panose="020B0604030504040204" pitchFamily="34" charset="0"/>
                <a:cs typeface="Tahoma" panose="020B0604030504040204" pitchFamily="34" charset="0"/>
              </a:rPr>
              <a:t>În aplicațiile interne ale companiilor: unele etichete pot fi generice și ușor recunoscute</a:t>
            </a:r>
            <a:endParaRPr lang="en-US" sz="2200" i="1"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7A6DD263-E54E-599F-877F-B8B2B3C34923}"/>
              </a:ext>
            </a:extLst>
          </p:cNvPr>
          <p:cNvPicPr>
            <a:picLocks noChangeAspect="1"/>
          </p:cNvPicPr>
          <p:nvPr/>
        </p:nvPicPr>
        <p:blipFill>
          <a:blip r:embed="rId5"/>
          <a:stretch>
            <a:fillRect/>
          </a:stretch>
        </p:blipFill>
        <p:spPr>
          <a:xfrm>
            <a:off x="416444" y="4801731"/>
            <a:ext cx="5261524" cy="850952"/>
          </a:xfrm>
          <a:prstGeom prst="rect">
            <a:avLst/>
          </a:prstGeom>
        </p:spPr>
      </p:pic>
      <p:pic>
        <p:nvPicPr>
          <p:cNvPr id="6" name="Picture 5">
            <a:extLst>
              <a:ext uri="{FF2B5EF4-FFF2-40B4-BE49-F238E27FC236}">
                <a16:creationId xmlns:a16="http://schemas.microsoft.com/office/drawing/2014/main" id="{29A1E9E1-D2B2-8FC7-684A-DC7C64B4AD96}"/>
              </a:ext>
            </a:extLst>
          </p:cNvPr>
          <p:cNvPicPr>
            <a:picLocks noChangeAspect="1"/>
          </p:cNvPicPr>
          <p:nvPr/>
        </p:nvPicPr>
        <p:blipFill>
          <a:blip r:embed="rId6"/>
          <a:stretch>
            <a:fillRect/>
          </a:stretch>
        </p:blipFill>
        <p:spPr>
          <a:xfrm>
            <a:off x="7306611" y="3109603"/>
            <a:ext cx="3053632" cy="698771"/>
          </a:xfrm>
          <a:prstGeom prst="rect">
            <a:avLst/>
          </a:prstGeom>
        </p:spPr>
      </p:pic>
      <p:pic>
        <p:nvPicPr>
          <p:cNvPr id="8" name="Picture 7">
            <a:extLst>
              <a:ext uri="{FF2B5EF4-FFF2-40B4-BE49-F238E27FC236}">
                <a16:creationId xmlns:a16="http://schemas.microsoft.com/office/drawing/2014/main" id="{92493BE8-68BC-AAB0-0DF9-7321CFA21626}"/>
              </a:ext>
            </a:extLst>
          </p:cNvPr>
          <p:cNvPicPr>
            <a:picLocks noChangeAspect="1"/>
          </p:cNvPicPr>
          <p:nvPr/>
        </p:nvPicPr>
        <p:blipFill>
          <a:blip r:embed="rId7"/>
          <a:stretch>
            <a:fillRect/>
          </a:stretch>
        </p:blipFill>
        <p:spPr>
          <a:xfrm>
            <a:off x="7280623" y="4684072"/>
            <a:ext cx="3260595" cy="441539"/>
          </a:xfrm>
          <a:prstGeom prst="rect">
            <a:avLst/>
          </a:prstGeom>
        </p:spPr>
      </p:pic>
    </p:spTree>
    <p:extLst>
      <p:ext uri="{BB962C8B-B14F-4D97-AF65-F5344CB8AC3E}">
        <p14:creationId xmlns:p14="http://schemas.microsoft.com/office/powerpoint/2010/main" val="156039367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2679E24-B442-48DA-91F5-D20C35276B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47FFD68E-AD03-4180-8BBB-B3E7DE0D1C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B36C81B8-0929-4B46-BCB0-00954C0E7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A771D040-DA75-4CDB-859B-07D4C8094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4C97C64C-CFCE-45F6-B8D4-4B46AB898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139" name="Picture 138">
            <a:extLst>
              <a:ext uri="{FF2B5EF4-FFF2-40B4-BE49-F238E27FC236}">
                <a16:creationId xmlns:a16="http://schemas.microsoft.com/office/drawing/2014/main" id="{91AB8A88-A60F-421C-9564-D5A7639EA5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41" name="Rectangle 140">
            <a:extLst>
              <a:ext uri="{FF2B5EF4-FFF2-40B4-BE49-F238E27FC236}">
                <a16:creationId xmlns:a16="http://schemas.microsoft.com/office/drawing/2014/main" id="{832D3A04-3120-4CF3-8F9E-6DCF218BA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3" name="Freeform 9">
            <a:extLst>
              <a:ext uri="{FF2B5EF4-FFF2-40B4-BE49-F238E27FC236}">
                <a16:creationId xmlns:a16="http://schemas.microsoft.com/office/drawing/2014/main" id="{98D68143-E11F-49D9-A842-E52CB4364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45" name="Rectangle 144">
            <a:extLst>
              <a:ext uri="{FF2B5EF4-FFF2-40B4-BE49-F238E27FC236}">
                <a16:creationId xmlns:a16="http://schemas.microsoft.com/office/drawing/2014/main" id="{70D81F57-CC57-46AD-86A2-54F697BD5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094412"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685799" y="690479"/>
            <a:ext cx="4957275" cy="1146825"/>
          </a:xfrm>
        </p:spPr>
        <p:txBody>
          <a:bodyPr vert="horz" lIns="91440" tIns="45720" rIns="91440" bIns="45720" rtlCol="0" anchor="ctr">
            <a:noAutofit/>
          </a:bodyPr>
          <a:lstStyle/>
          <a:p>
            <a:pPr algn="l"/>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Pictograme (</a:t>
            </a:r>
            <a:r>
              <a:rPr lang="ro-RO" sz="4300" i="1" cap="none" dirty="0">
                <a:solidFill>
                  <a:schemeClr val="bg1"/>
                </a:solidFill>
                <a:latin typeface="Tahoma" panose="020B0604030504040204" pitchFamily="34" charset="0"/>
                <a:ea typeface="Tahoma" panose="020B0604030504040204" pitchFamily="34" charset="0"/>
                <a:cs typeface="Tahoma" panose="020B0604030504040204" pitchFamily="34" charset="0"/>
              </a:rPr>
              <a:t>iconography</a:t>
            </a:r>
            <a:r>
              <a:rPr lang="ro-RO" sz="4300" cap="none" dirty="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4300" cap="non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98F2A94A-0481-521E-3EB4-9E75519A989F}"/>
              </a:ext>
            </a:extLst>
          </p:cNvPr>
          <p:cNvSpPr txBox="1"/>
          <p:nvPr/>
        </p:nvSpPr>
        <p:spPr>
          <a:xfrm>
            <a:off x="6160654" y="477204"/>
            <a:ext cx="5345547" cy="5526432"/>
          </a:xfrm>
          <a:prstGeom prst="rect">
            <a:avLst/>
          </a:prstGeom>
        </p:spPr>
        <p:txBody>
          <a:bodyPr vert="horz" lIns="91440" tIns="45720" rIns="91440" bIns="45720" rtlCol="0" anchor="ctr">
            <a:normAutofit/>
          </a:bodyPr>
          <a:lstStyle/>
          <a:p>
            <a:pPr marL="342900" indent="-228600" defTabSz="914400">
              <a:lnSpc>
                <a:spcPct val="110000"/>
              </a:lnSpc>
              <a:spcAft>
                <a:spcPts val="600"/>
              </a:spcAft>
              <a:buClr>
                <a:schemeClr val="accent1"/>
              </a:buClr>
              <a:buSzPct val="160000"/>
              <a:buFont typeface="Arial" panose="020B0604020202020204" pitchFamily="34" charset="0"/>
              <a:buChar char="•"/>
            </a:pPr>
            <a:r>
              <a:rPr lang="ro-RO" sz="2800" dirty="0">
                <a:latin typeface="Tahoma" panose="020B0604030504040204" pitchFamily="34" charset="0"/>
                <a:ea typeface="Tahoma" panose="020B0604030504040204" pitchFamily="34" charset="0"/>
                <a:cs typeface="Tahoma" panose="020B0604030504040204" pitchFamily="34" charset="0"/>
              </a:rPr>
              <a:t>Pictograme și text</a:t>
            </a:r>
            <a:endParaRPr lang="en-US" sz="2800"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Textul NU trebuie afișat în interiorul pictogramei</a:t>
            </a:r>
            <a:endParaRPr lang="en-US" sz="2000" i="1" dirty="0">
              <a:latin typeface="Tahoma" panose="020B0604030504040204" pitchFamily="34" charset="0"/>
              <a:ea typeface="Tahoma" panose="020B0604030504040204" pitchFamily="34" charset="0"/>
              <a:cs typeface="Tahoma" panose="020B0604030504040204" pitchFamily="34" charset="0"/>
            </a:endParaRPr>
          </a:p>
          <a:p>
            <a:pPr marL="857250" lvl="1" indent="-285750" defTabSz="914400">
              <a:lnSpc>
                <a:spcPct val="110000"/>
              </a:lnSpc>
              <a:spcAft>
                <a:spcPts val="600"/>
              </a:spcAft>
              <a:buClr>
                <a:schemeClr val="accent1"/>
              </a:buClr>
              <a:buSzPct val="1600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Argument: textul nu poate fi tradus de servicii online de traducere și pot apărea confuzii. Aceeași problemă poate să apară pentru utilizatorii cu necesități speciale de accesibilitate</a:t>
            </a:r>
            <a:endParaRPr 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2" name="Picture 1">
            <a:extLst>
              <a:ext uri="{FF2B5EF4-FFF2-40B4-BE49-F238E27FC236}">
                <a16:creationId xmlns:a16="http://schemas.microsoft.com/office/drawing/2014/main" id="{BB0B8695-65DE-13FE-8E92-B4D457C13F3B}"/>
              </a:ext>
            </a:extLst>
          </p:cNvPr>
          <p:cNvPicPr>
            <a:picLocks noChangeAspect="1"/>
          </p:cNvPicPr>
          <p:nvPr/>
        </p:nvPicPr>
        <p:blipFill>
          <a:blip r:embed="rId4"/>
          <a:stretch>
            <a:fillRect/>
          </a:stretch>
        </p:blipFill>
        <p:spPr>
          <a:xfrm>
            <a:off x="416444" y="4801731"/>
            <a:ext cx="5261524" cy="850952"/>
          </a:xfrm>
          <a:prstGeom prst="rect">
            <a:avLst/>
          </a:prstGeom>
        </p:spPr>
      </p:pic>
    </p:spTree>
    <p:extLst>
      <p:ext uri="{BB962C8B-B14F-4D97-AF65-F5344CB8AC3E}">
        <p14:creationId xmlns:p14="http://schemas.microsoft.com/office/powerpoint/2010/main" val="216764889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3"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5"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7"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9"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21"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23" name="Rectangle 122">
            <a:extLst>
              <a:ext uri="{FF2B5EF4-FFF2-40B4-BE49-F238E27FC236}">
                <a16:creationId xmlns:a16="http://schemas.microsoft.com/office/drawing/2014/main" id="{81DCCE50-5BF6-42F8-A562-F8C543ADF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3922621" y="321367"/>
            <a:ext cx="10024288" cy="720823"/>
          </a:xfrm>
        </p:spPr>
        <p:txBody>
          <a:bodyPr vert="horz" lIns="91440" tIns="45720" rIns="91440" bIns="45720" rtlCol="0" anchor="b">
            <a:normAutofit fontScale="90000"/>
          </a:bodyPr>
          <a:lstStyle/>
          <a:p>
            <a:pPr algn="l"/>
            <a:r>
              <a:rPr lang="en-US" sz="4800" cap="none" dirty="0" err="1">
                <a:latin typeface="Tahoma" panose="020B0604030504040204" pitchFamily="34" charset="0"/>
                <a:ea typeface="Tahoma" panose="020B0604030504040204" pitchFamily="34" charset="0"/>
                <a:cs typeface="Tahoma" panose="020B0604030504040204" pitchFamily="34" charset="0"/>
              </a:rPr>
              <a:t>Elemente</a:t>
            </a:r>
            <a:r>
              <a:rPr lang="en-US" sz="4800" cap="none" dirty="0">
                <a:latin typeface="Tahoma" panose="020B0604030504040204" pitchFamily="34" charset="0"/>
                <a:ea typeface="Tahoma" panose="020B0604030504040204" pitchFamily="34" charset="0"/>
                <a:cs typeface="Tahoma" panose="020B0604030504040204" pitchFamily="34" charset="0"/>
              </a:rPr>
              <a:t> de </a:t>
            </a:r>
            <a:r>
              <a:rPr lang="ro-RO" sz="4800" i="1" cap="none" dirty="0">
                <a:latin typeface="Tahoma" panose="020B0604030504040204" pitchFamily="34" charset="0"/>
                <a:ea typeface="Tahoma" panose="020B0604030504040204" pitchFamily="34" charset="0"/>
                <a:cs typeface="Tahoma" panose="020B0604030504040204" pitchFamily="34" charset="0"/>
              </a:rPr>
              <a:t>input</a:t>
            </a:r>
            <a:endParaRPr lang="en-US" sz="3200" dirty="0"/>
          </a:p>
        </p:txBody>
      </p:sp>
      <p:sp>
        <p:nvSpPr>
          <p:cNvPr id="125" name="Rectangle 124">
            <a:extLst>
              <a:ext uri="{FF2B5EF4-FFF2-40B4-BE49-F238E27FC236}">
                <a16:creationId xmlns:a16="http://schemas.microsoft.com/office/drawing/2014/main" id="{D78A776B-E301-4D5C-A1B5-A17C1BE1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7" name="Rectangle 126">
            <a:extLst>
              <a:ext uri="{FF2B5EF4-FFF2-40B4-BE49-F238E27FC236}">
                <a16:creationId xmlns:a16="http://schemas.microsoft.com/office/drawing/2014/main" id="{0DDFA573-E787-440F-8A24-6F6D3D54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12188952" cy="780581"/>
          </a:xfrm>
          <a:prstGeom prst="rect">
            <a:avLst/>
          </a:prstGeom>
          <a:gradFill flip="none" rotWithShape="1">
            <a:gsLst>
              <a:gs pos="49000">
                <a:schemeClr val="accent1"/>
              </a:gs>
              <a:gs pos="100000">
                <a:schemeClr val="accent1">
                  <a:lumMod val="62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TextBox 4">
            <a:extLst>
              <a:ext uri="{FF2B5EF4-FFF2-40B4-BE49-F238E27FC236}">
                <a16:creationId xmlns:a16="http://schemas.microsoft.com/office/drawing/2014/main" id="{98F2A94A-0481-521E-3EB4-9E75519A989F}"/>
              </a:ext>
            </a:extLst>
          </p:cNvPr>
          <p:cNvSpPr txBox="1"/>
          <p:nvPr/>
        </p:nvSpPr>
        <p:spPr>
          <a:xfrm>
            <a:off x="256216" y="1380511"/>
            <a:ext cx="6211748" cy="2677656"/>
          </a:xfrm>
          <a:prstGeom prst="rect">
            <a:avLst/>
          </a:prstGeom>
          <a:noFill/>
        </p:spPr>
        <p:txBody>
          <a:bodyPr wrap="square" rtlCol="0">
            <a:spAutoFit/>
          </a:bodyPr>
          <a:lstStyle/>
          <a:p>
            <a:pPr marL="342900" indent="-3429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Utilizarea caracteristicilor native ale dispozitivelor</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Valorificarea resurselor dispozitivelor și a elementelor UI deja existente - un element în minus de învățat de către utilizatori</a:t>
            </a:r>
            <a:endParaRPr lang="ro-RO" sz="2000" i="1"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Exemplu: tastaturi numerice pentru numere, sume de bani, etc.</a:t>
            </a:r>
          </a:p>
          <a:p>
            <a:pPr marL="800100" lvl="1" indent="-3429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AF118FD-2C01-D6F5-8578-90426904CF3A}"/>
              </a:ext>
            </a:extLst>
          </p:cNvPr>
          <p:cNvPicPr>
            <a:picLocks noChangeAspect="1"/>
          </p:cNvPicPr>
          <p:nvPr/>
        </p:nvPicPr>
        <p:blipFill>
          <a:blip r:embed="rId4"/>
          <a:stretch>
            <a:fillRect/>
          </a:stretch>
        </p:blipFill>
        <p:spPr>
          <a:xfrm>
            <a:off x="9210676" y="1137332"/>
            <a:ext cx="1929686" cy="3993894"/>
          </a:xfrm>
          <a:prstGeom prst="rect">
            <a:avLst/>
          </a:prstGeom>
        </p:spPr>
      </p:pic>
    </p:spTree>
    <p:extLst>
      <p:ext uri="{BB962C8B-B14F-4D97-AF65-F5344CB8AC3E}">
        <p14:creationId xmlns:p14="http://schemas.microsoft.com/office/powerpoint/2010/main" val="246780992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3"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5"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7"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9"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21"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23" name="Rectangle 122">
            <a:extLst>
              <a:ext uri="{FF2B5EF4-FFF2-40B4-BE49-F238E27FC236}">
                <a16:creationId xmlns:a16="http://schemas.microsoft.com/office/drawing/2014/main" id="{81DCCE50-5BF6-42F8-A562-F8C543ADF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3922621" y="321367"/>
            <a:ext cx="10024288" cy="720823"/>
          </a:xfrm>
        </p:spPr>
        <p:txBody>
          <a:bodyPr vert="horz" lIns="91440" tIns="45720" rIns="91440" bIns="45720" rtlCol="0" anchor="b">
            <a:normAutofit fontScale="90000"/>
          </a:bodyPr>
          <a:lstStyle/>
          <a:p>
            <a:pPr algn="l"/>
            <a:r>
              <a:rPr lang="en-US" sz="4800" cap="none" dirty="0" err="1">
                <a:latin typeface="Tahoma" panose="020B0604030504040204" pitchFamily="34" charset="0"/>
                <a:ea typeface="Tahoma" panose="020B0604030504040204" pitchFamily="34" charset="0"/>
                <a:cs typeface="Tahoma" panose="020B0604030504040204" pitchFamily="34" charset="0"/>
              </a:rPr>
              <a:t>Elemente</a:t>
            </a:r>
            <a:r>
              <a:rPr lang="en-US" sz="4800" cap="none" dirty="0">
                <a:latin typeface="Tahoma" panose="020B0604030504040204" pitchFamily="34" charset="0"/>
                <a:ea typeface="Tahoma" panose="020B0604030504040204" pitchFamily="34" charset="0"/>
                <a:cs typeface="Tahoma" panose="020B0604030504040204" pitchFamily="34" charset="0"/>
              </a:rPr>
              <a:t> de </a:t>
            </a:r>
            <a:r>
              <a:rPr lang="ro-RO" sz="4800" i="1" cap="none" dirty="0">
                <a:latin typeface="Tahoma" panose="020B0604030504040204" pitchFamily="34" charset="0"/>
                <a:ea typeface="Tahoma" panose="020B0604030504040204" pitchFamily="34" charset="0"/>
                <a:cs typeface="Tahoma" panose="020B0604030504040204" pitchFamily="34" charset="0"/>
              </a:rPr>
              <a:t>input</a:t>
            </a:r>
            <a:endParaRPr lang="en-US" sz="3200" dirty="0"/>
          </a:p>
        </p:txBody>
      </p:sp>
      <p:sp>
        <p:nvSpPr>
          <p:cNvPr id="125" name="Rectangle 124">
            <a:extLst>
              <a:ext uri="{FF2B5EF4-FFF2-40B4-BE49-F238E27FC236}">
                <a16:creationId xmlns:a16="http://schemas.microsoft.com/office/drawing/2014/main" id="{D78A776B-E301-4D5C-A1B5-A17C1BE1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7" name="Rectangle 126">
            <a:extLst>
              <a:ext uri="{FF2B5EF4-FFF2-40B4-BE49-F238E27FC236}">
                <a16:creationId xmlns:a16="http://schemas.microsoft.com/office/drawing/2014/main" id="{0DDFA573-E787-440F-8A24-6F6D3D54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12188952" cy="780581"/>
          </a:xfrm>
          <a:prstGeom prst="rect">
            <a:avLst/>
          </a:prstGeom>
          <a:gradFill flip="none" rotWithShape="1">
            <a:gsLst>
              <a:gs pos="49000">
                <a:schemeClr val="accent1"/>
              </a:gs>
              <a:gs pos="100000">
                <a:schemeClr val="accent1">
                  <a:lumMod val="62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TextBox 4">
            <a:extLst>
              <a:ext uri="{FF2B5EF4-FFF2-40B4-BE49-F238E27FC236}">
                <a16:creationId xmlns:a16="http://schemas.microsoft.com/office/drawing/2014/main" id="{98F2A94A-0481-521E-3EB4-9E75519A989F}"/>
              </a:ext>
            </a:extLst>
          </p:cNvPr>
          <p:cNvSpPr txBox="1"/>
          <p:nvPr/>
        </p:nvSpPr>
        <p:spPr>
          <a:xfrm>
            <a:off x="256216" y="1380511"/>
            <a:ext cx="6211748" cy="2308324"/>
          </a:xfrm>
          <a:prstGeom prst="rect">
            <a:avLst/>
          </a:prstGeom>
          <a:noFill/>
        </p:spPr>
        <p:txBody>
          <a:bodyPr wrap="square" rtlCol="0">
            <a:spAutoFit/>
          </a:bodyPr>
          <a:lstStyle/>
          <a:p>
            <a:pPr marL="342900" indent="-3429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Validarea adresei de e-mail</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Flexibilitate (nu doar </a:t>
            </a:r>
            <a:r>
              <a:rPr lang="ro-RO" sz="2000" i="1" dirty="0">
                <a:latin typeface="Tahoma" panose="020B0604030504040204" pitchFamily="34" charset="0"/>
                <a:ea typeface="Tahoma" panose="020B0604030504040204" pitchFamily="34" charset="0"/>
                <a:cs typeface="Tahoma" panose="020B0604030504040204" pitchFamily="34" charset="0"/>
              </a:rPr>
              <a:t>top-level domains</a:t>
            </a:r>
            <a:r>
              <a:rPr lang="ro-RO" sz="2000" dirty="0">
                <a:latin typeface="Tahoma" panose="020B0604030504040204" pitchFamily="34" charset="0"/>
                <a:ea typeface="Tahoma" panose="020B0604030504040204" pitchFamily="34" charset="0"/>
                <a:cs typeface="Tahoma" panose="020B0604030504040204" pitchFamily="34" charset="0"/>
              </a:rPr>
              <a:t>) - prea strict</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Validare pe componenta server, cu un click (folosind mesaj de validare)</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Tot despre e-mailuri (</a:t>
            </a:r>
            <a:r>
              <a:rPr lang="ro-RO" sz="2000" dirty="0">
                <a:latin typeface="Tahoma" panose="020B0604030504040204" pitchFamily="34" charset="0"/>
                <a:ea typeface="Tahoma" panose="020B0604030504040204" pitchFamily="34" charset="0"/>
                <a:cs typeface="Tahoma" panose="020B0604030504040204" pitchFamily="34" charset="0"/>
                <a:hlinkClick r:id="rId4"/>
              </a:rPr>
              <a:t>tranzacții/confirmare</a:t>
            </a:r>
            <a:r>
              <a:rPr lang="ro-RO" sz="2000" dirty="0">
                <a:latin typeface="Tahoma" panose="020B0604030504040204" pitchFamily="34" charset="0"/>
                <a:ea typeface="Tahoma" panose="020B0604030504040204" pitchFamily="34" charset="0"/>
                <a:cs typeface="Tahoma" panose="020B0604030504040204" pitchFamily="34" charset="0"/>
              </a:rPr>
              <a:t>)</a:t>
            </a:r>
          </a:p>
          <a:p>
            <a:pPr marL="800100" lvl="1" indent="-3429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68B11CB6-26A5-098C-7E79-36ED3124BCC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694136" y="1418202"/>
            <a:ext cx="3635121" cy="2326478"/>
          </a:xfrm>
          <a:prstGeom prst="rect">
            <a:avLst/>
          </a:prstGeom>
        </p:spPr>
      </p:pic>
    </p:spTree>
    <p:extLst>
      <p:ext uri="{BB962C8B-B14F-4D97-AF65-F5344CB8AC3E}">
        <p14:creationId xmlns:p14="http://schemas.microsoft.com/office/powerpoint/2010/main" val="153771252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3"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5"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7"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9"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21"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23" name="Rectangle 122">
            <a:extLst>
              <a:ext uri="{FF2B5EF4-FFF2-40B4-BE49-F238E27FC236}">
                <a16:creationId xmlns:a16="http://schemas.microsoft.com/office/drawing/2014/main" id="{81DCCE50-5BF6-42F8-A562-F8C543ADF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3922621" y="321367"/>
            <a:ext cx="10024288" cy="720823"/>
          </a:xfrm>
        </p:spPr>
        <p:txBody>
          <a:bodyPr vert="horz" lIns="91440" tIns="45720" rIns="91440" bIns="45720" rtlCol="0" anchor="b">
            <a:normAutofit fontScale="90000"/>
          </a:bodyPr>
          <a:lstStyle/>
          <a:p>
            <a:pPr algn="l"/>
            <a:r>
              <a:rPr lang="en-US" sz="4800" cap="none" dirty="0" err="1">
                <a:latin typeface="Tahoma" panose="020B0604030504040204" pitchFamily="34" charset="0"/>
                <a:ea typeface="Tahoma" panose="020B0604030504040204" pitchFamily="34" charset="0"/>
                <a:cs typeface="Tahoma" panose="020B0604030504040204" pitchFamily="34" charset="0"/>
              </a:rPr>
              <a:t>Elemente</a:t>
            </a:r>
            <a:r>
              <a:rPr lang="en-US" sz="4800" cap="none" dirty="0">
                <a:latin typeface="Tahoma" panose="020B0604030504040204" pitchFamily="34" charset="0"/>
                <a:ea typeface="Tahoma" panose="020B0604030504040204" pitchFamily="34" charset="0"/>
                <a:cs typeface="Tahoma" panose="020B0604030504040204" pitchFamily="34" charset="0"/>
              </a:rPr>
              <a:t> de </a:t>
            </a:r>
            <a:r>
              <a:rPr lang="ro-RO" sz="4800" i="1" cap="none" dirty="0">
                <a:latin typeface="Tahoma" panose="020B0604030504040204" pitchFamily="34" charset="0"/>
                <a:ea typeface="Tahoma" panose="020B0604030504040204" pitchFamily="34" charset="0"/>
                <a:cs typeface="Tahoma" panose="020B0604030504040204" pitchFamily="34" charset="0"/>
              </a:rPr>
              <a:t>input</a:t>
            </a:r>
            <a:endParaRPr lang="en-US" sz="3200" dirty="0"/>
          </a:p>
        </p:txBody>
      </p:sp>
      <p:sp>
        <p:nvSpPr>
          <p:cNvPr id="125" name="Rectangle 124">
            <a:extLst>
              <a:ext uri="{FF2B5EF4-FFF2-40B4-BE49-F238E27FC236}">
                <a16:creationId xmlns:a16="http://schemas.microsoft.com/office/drawing/2014/main" id="{D78A776B-E301-4D5C-A1B5-A17C1BE1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7" name="Rectangle 126">
            <a:extLst>
              <a:ext uri="{FF2B5EF4-FFF2-40B4-BE49-F238E27FC236}">
                <a16:creationId xmlns:a16="http://schemas.microsoft.com/office/drawing/2014/main" id="{0DDFA573-E787-440F-8A24-6F6D3D54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12188952" cy="780581"/>
          </a:xfrm>
          <a:prstGeom prst="rect">
            <a:avLst/>
          </a:prstGeom>
          <a:gradFill flip="none" rotWithShape="1">
            <a:gsLst>
              <a:gs pos="49000">
                <a:schemeClr val="accent1"/>
              </a:gs>
              <a:gs pos="100000">
                <a:schemeClr val="accent1">
                  <a:lumMod val="62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TextBox 4">
            <a:extLst>
              <a:ext uri="{FF2B5EF4-FFF2-40B4-BE49-F238E27FC236}">
                <a16:creationId xmlns:a16="http://schemas.microsoft.com/office/drawing/2014/main" id="{98F2A94A-0481-521E-3EB4-9E75519A989F}"/>
              </a:ext>
            </a:extLst>
          </p:cNvPr>
          <p:cNvSpPr txBox="1"/>
          <p:nvPr/>
        </p:nvSpPr>
        <p:spPr>
          <a:xfrm>
            <a:off x="0" y="957029"/>
            <a:ext cx="7288076" cy="4893647"/>
          </a:xfrm>
          <a:prstGeom prst="rect">
            <a:avLst/>
          </a:prstGeom>
          <a:noFill/>
        </p:spPr>
        <p:txBody>
          <a:bodyPr wrap="square" rtlCol="0">
            <a:spAutoFit/>
          </a:bodyPr>
          <a:lstStyle/>
          <a:p>
            <a:pPr marL="342900" indent="-3429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Eficientizarea procesului de manevrare a parolelor</a:t>
            </a:r>
          </a:p>
          <a:p>
            <a:pPr marL="800100" lvl="1" indent="-342900">
              <a:buFont typeface="Courier New" panose="02070309020205020404" pitchFamily="49" charset="0"/>
              <a:buChar char="o"/>
            </a:pPr>
            <a:r>
              <a:rPr lang="ro-RO" dirty="0">
                <a:latin typeface="Tahoma" panose="020B0604030504040204" pitchFamily="34" charset="0"/>
                <a:ea typeface="Tahoma" panose="020B0604030504040204" pitchFamily="34" charset="0"/>
                <a:cs typeface="Tahoma" panose="020B0604030504040204" pitchFamily="34" charset="0"/>
              </a:rPr>
              <a:t>Parola să poată fi vizualizată atunci când este creată, alte elemente referitoare la </a:t>
            </a:r>
            <a:r>
              <a:rPr lang="ro-RO" dirty="0">
                <a:latin typeface="Tahoma" panose="020B0604030504040204" pitchFamily="34" charset="0"/>
                <a:ea typeface="Tahoma" panose="020B0604030504040204" pitchFamily="34" charset="0"/>
                <a:cs typeface="Tahoma" panose="020B0604030504040204" pitchFamily="34" charset="0"/>
                <a:hlinkClick r:id="rId4"/>
              </a:rPr>
              <a:t>crearea</a:t>
            </a:r>
            <a:r>
              <a:rPr lang="ro-RO" dirty="0">
                <a:latin typeface="Tahoma" panose="020B0604030504040204" pitchFamily="34" charset="0"/>
                <a:ea typeface="Tahoma" panose="020B0604030504040204" pitchFamily="34" charset="0"/>
                <a:cs typeface="Tahoma" panose="020B0604030504040204" pitchFamily="34" charset="0"/>
              </a:rPr>
              <a:t> unei parole</a:t>
            </a:r>
            <a:endParaRPr lang="ro-RO" i="1"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Courier New" panose="02070309020205020404" pitchFamily="49" charset="0"/>
              <a:buChar char="o"/>
            </a:pPr>
            <a:r>
              <a:rPr lang="ro-RO" dirty="0">
                <a:latin typeface="Tahoma" panose="020B0604030504040204" pitchFamily="34" charset="0"/>
                <a:ea typeface="Tahoma" panose="020B0604030504040204" pitchFamily="34" charset="0"/>
                <a:cs typeface="Tahoma" panose="020B0604030504040204" pitchFamily="34" charset="0"/>
              </a:rPr>
              <a:t>Regulile referitoare la complexitatea parolei să fie vizibile</a:t>
            </a:r>
          </a:p>
          <a:p>
            <a:pPr marL="800100" lvl="1" indent="-342900">
              <a:buFont typeface="Courier New" panose="02070309020205020404" pitchFamily="49" charset="0"/>
              <a:buChar char="o"/>
            </a:pPr>
            <a:r>
              <a:rPr lang="ro-RO" dirty="0">
                <a:latin typeface="Tahoma" panose="020B0604030504040204" pitchFamily="34" charset="0"/>
                <a:ea typeface="Tahoma" panose="020B0604030504040204" pitchFamily="34" charset="0"/>
                <a:cs typeface="Tahoma" panose="020B0604030504040204" pitchFamily="34" charset="0"/>
              </a:rPr>
              <a:t>Alte </a:t>
            </a:r>
            <a:r>
              <a:rPr lang="ro-RO" dirty="0">
                <a:latin typeface="Tahoma" panose="020B0604030504040204" pitchFamily="34" charset="0"/>
                <a:ea typeface="Tahoma" panose="020B0604030504040204" pitchFamily="34" charset="0"/>
                <a:cs typeface="Tahoma" panose="020B0604030504040204" pitchFamily="34" charset="0"/>
                <a:hlinkClick r:id="rId5"/>
              </a:rPr>
              <a:t>recomandări</a:t>
            </a:r>
            <a:r>
              <a:rPr lang="en-GB" dirty="0">
                <a:latin typeface="Tahoma" panose="020B0604030504040204" pitchFamily="34" charset="0"/>
                <a:ea typeface="Tahoma" panose="020B0604030504040204" pitchFamily="34" charset="0"/>
                <a:cs typeface="Tahoma" panose="020B0604030504040204" pitchFamily="34" charset="0"/>
              </a:rPr>
              <a:t>, v. </a:t>
            </a:r>
            <a:r>
              <a:rPr lang="ro-RO" dirty="0">
                <a:latin typeface="Tahoma" panose="020B0604030504040204" pitchFamily="34" charset="0"/>
                <a:ea typeface="Tahoma" panose="020B0604030504040204" pitchFamily="34" charset="0"/>
                <a:cs typeface="Tahoma" panose="020B0604030504040204" pitchFamily="34" charset="0"/>
              </a:rPr>
              <a:t>și </a:t>
            </a:r>
            <a:r>
              <a:rPr lang="ro-RO" dirty="0">
                <a:latin typeface="Tahoma" panose="020B0604030504040204" pitchFamily="34" charset="0"/>
                <a:ea typeface="Tahoma" panose="020B0604030504040204" pitchFamily="34" charset="0"/>
                <a:cs typeface="Tahoma" panose="020B0604030504040204" pitchFamily="34" charset="0"/>
                <a:hlinkClick r:id="rId6"/>
              </a:rPr>
              <a:t>comentarii</a:t>
            </a:r>
            <a:endParaRPr lang="ro-RO"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Courier New" panose="02070309020205020404" pitchFamily="49" charset="0"/>
              <a:buChar char="o"/>
            </a:pPr>
            <a:r>
              <a:rPr lang="ro-RO" dirty="0">
                <a:latin typeface="Tahoma" panose="020B0604030504040204" pitchFamily="34" charset="0"/>
                <a:ea typeface="Tahoma" panose="020B0604030504040204" pitchFamily="34" charset="0"/>
                <a:cs typeface="Tahoma" panose="020B0604030504040204" pitchFamily="34" charset="0"/>
              </a:rPr>
              <a:t>Discutabil: (i) dubla verificare la crearea parolei, (ii) posibilitatea de a activa/dezactiva funcționalitatea de tip </a:t>
            </a:r>
            <a:r>
              <a:rPr lang="ro-RO" i="1" dirty="0">
                <a:latin typeface="Tahoma" panose="020B0604030504040204" pitchFamily="34" charset="0"/>
                <a:ea typeface="Tahoma" panose="020B0604030504040204" pitchFamily="34" charset="0"/>
                <a:cs typeface="Tahoma" panose="020B0604030504040204" pitchFamily="34" charset="0"/>
              </a:rPr>
              <a:t>paste</a:t>
            </a:r>
            <a:r>
              <a:rPr lang="ro-RO" dirty="0">
                <a:latin typeface="Tahoma" panose="020B0604030504040204" pitchFamily="34" charset="0"/>
                <a:ea typeface="Tahoma" panose="020B0604030504040204" pitchFamily="34" charset="0"/>
                <a:cs typeface="Tahoma" panose="020B0604030504040204" pitchFamily="34" charset="0"/>
              </a:rPr>
              <a:t> pentru parole - </a:t>
            </a:r>
            <a:r>
              <a:rPr lang="ro-RO" dirty="0">
                <a:latin typeface="Tahoma" panose="020B0604030504040204" pitchFamily="34" charset="0"/>
                <a:ea typeface="Tahoma" panose="020B0604030504040204" pitchFamily="34" charset="0"/>
                <a:cs typeface="Tahoma" panose="020B0604030504040204" pitchFamily="34" charset="0"/>
                <a:hlinkClick r:id="rId7"/>
              </a:rPr>
              <a:t>opinie</a:t>
            </a:r>
            <a:r>
              <a:rPr lang="ro-RO" dirty="0">
                <a:latin typeface="Tahoma" panose="020B0604030504040204" pitchFamily="34" charset="0"/>
                <a:ea typeface="Tahoma" panose="020B0604030504040204" pitchFamily="34" charset="0"/>
                <a:cs typeface="Tahoma" panose="020B0604030504040204" pitchFamily="34" charset="0"/>
              </a:rPr>
              <a:t> </a:t>
            </a:r>
          </a:p>
          <a:p>
            <a:pPr marL="800100" lvl="1" indent="-342900">
              <a:buFont typeface="Courier New" panose="02070309020205020404" pitchFamily="49" charset="0"/>
              <a:buChar char="o"/>
            </a:pPr>
            <a:r>
              <a:rPr lang="ro-RO" dirty="0">
                <a:latin typeface="Tahoma" panose="020B0604030504040204" pitchFamily="34" charset="0"/>
                <a:ea typeface="Tahoma" panose="020B0604030504040204" pitchFamily="34" charset="0"/>
                <a:cs typeface="Tahoma" panose="020B0604030504040204" pitchFamily="34" charset="0"/>
              </a:rPr>
              <a:t>La recuperarea unei parole: să fie deja completată adresa de e-mail când este solicitată resetarea (</a:t>
            </a:r>
            <a:r>
              <a:rPr lang="ro-RO" i="1" dirty="0">
                <a:latin typeface="Tahoma" panose="020B0604030504040204" pitchFamily="34" charset="0"/>
                <a:ea typeface="Tahoma" panose="020B0604030504040204" pitchFamily="34" charset="0"/>
                <a:cs typeface="Tahoma" panose="020B0604030504040204" pitchFamily="34" charset="0"/>
              </a:rPr>
              <a:t>the forgot password flow</a:t>
            </a:r>
            <a:r>
              <a:rPr lang="ro-RO" dirty="0">
                <a:latin typeface="Tahoma" panose="020B0604030504040204" pitchFamily="34" charset="0"/>
                <a:ea typeface="Tahoma" panose="020B0604030504040204" pitchFamily="34" charset="0"/>
                <a:cs typeface="Tahoma" panose="020B0604030504040204" pitchFamily="34" charset="0"/>
              </a:rPr>
              <a:t>) dar să nu fie confirmat/infirmat un nume de utilizator.</a:t>
            </a:r>
          </a:p>
          <a:p>
            <a:pPr marL="800100" lvl="1" indent="-342900">
              <a:buFont typeface="Courier New" panose="02070309020205020404" pitchFamily="49" charset="0"/>
              <a:buChar char="o"/>
            </a:pPr>
            <a:r>
              <a:rPr lang="ro-RO" dirty="0">
                <a:latin typeface="Tahoma" panose="020B0604030504040204" pitchFamily="34" charset="0"/>
                <a:ea typeface="Tahoma" panose="020B0604030504040204" pitchFamily="34" charset="0"/>
                <a:cs typeface="Tahoma" panose="020B0604030504040204" pitchFamily="34" charset="0"/>
              </a:rPr>
              <a:t>O serie de elemente relevante pentru flux: (i) ultima adresă să fie pre-completată, (ii) să fie trimis e-mail/SMS cu un link care să expire în timp scurt, pentru resetare, (iii) link-ul să conducă direct la pagina pentru resetarea parolei, (iv) link-ul să fie funcțional și la a doua utilizare, (v) la resetare – utilizatorul să fie conectat la aplicație/sistem</a:t>
            </a:r>
          </a:p>
        </p:txBody>
      </p:sp>
      <p:pic>
        <p:nvPicPr>
          <p:cNvPr id="4" name="Picture 3">
            <a:extLst>
              <a:ext uri="{FF2B5EF4-FFF2-40B4-BE49-F238E27FC236}">
                <a16:creationId xmlns:a16="http://schemas.microsoft.com/office/drawing/2014/main" id="{DFC36EAD-708A-8435-4E6D-F017BB72849C}"/>
              </a:ext>
            </a:extLst>
          </p:cNvPr>
          <p:cNvPicPr>
            <a:picLocks noChangeAspect="1"/>
          </p:cNvPicPr>
          <p:nvPr/>
        </p:nvPicPr>
        <p:blipFill>
          <a:blip r:embed="rId8"/>
          <a:stretch>
            <a:fillRect/>
          </a:stretch>
        </p:blipFill>
        <p:spPr>
          <a:xfrm>
            <a:off x="7753350" y="1535779"/>
            <a:ext cx="4088934" cy="3002201"/>
          </a:xfrm>
          <a:prstGeom prst="rect">
            <a:avLst/>
          </a:prstGeom>
        </p:spPr>
      </p:pic>
    </p:spTree>
    <p:extLst>
      <p:ext uri="{BB962C8B-B14F-4D97-AF65-F5344CB8AC3E}">
        <p14:creationId xmlns:p14="http://schemas.microsoft.com/office/powerpoint/2010/main" val="162978726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3"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5"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7"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9"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21"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23" name="Rectangle 122">
            <a:extLst>
              <a:ext uri="{FF2B5EF4-FFF2-40B4-BE49-F238E27FC236}">
                <a16:creationId xmlns:a16="http://schemas.microsoft.com/office/drawing/2014/main" id="{81DCCE50-5BF6-42F8-A562-F8C543ADF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3922621" y="321367"/>
            <a:ext cx="10024288" cy="720823"/>
          </a:xfrm>
        </p:spPr>
        <p:txBody>
          <a:bodyPr vert="horz" lIns="91440" tIns="45720" rIns="91440" bIns="45720" rtlCol="0" anchor="b">
            <a:normAutofit fontScale="90000"/>
          </a:bodyPr>
          <a:lstStyle/>
          <a:p>
            <a:pPr algn="l"/>
            <a:r>
              <a:rPr lang="en-US" sz="4800" cap="none" dirty="0" err="1">
                <a:latin typeface="Tahoma" panose="020B0604030504040204" pitchFamily="34" charset="0"/>
                <a:ea typeface="Tahoma" panose="020B0604030504040204" pitchFamily="34" charset="0"/>
                <a:cs typeface="Tahoma" panose="020B0604030504040204" pitchFamily="34" charset="0"/>
              </a:rPr>
              <a:t>Elemente</a:t>
            </a:r>
            <a:r>
              <a:rPr lang="en-US" sz="4800" cap="none" dirty="0">
                <a:latin typeface="Tahoma" panose="020B0604030504040204" pitchFamily="34" charset="0"/>
                <a:ea typeface="Tahoma" panose="020B0604030504040204" pitchFamily="34" charset="0"/>
                <a:cs typeface="Tahoma" panose="020B0604030504040204" pitchFamily="34" charset="0"/>
              </a:rPr>
              <a:t> de </a:t>
            </a:r>
            <a:r>
              <a:rPr lang="ro-RO" sz="4800" i="1" cap="none" dirty="0">
                <a:latin typeface="Tahoma" panose="020B0604030504040204" pitchFamily="34" charset="0"/>
                <a:ea typeface="Tahoma" panose="020B0604030504040204" pitchFamily="34" charset="0"/>
                <a:cs typeface="Tahoma" panose="020B0604030504040204" pitchFamily="34" charset="0"/>
              </a:rPr>
              <a:t>input</a:t>
            </a:r>
            <a:endParaRPr lang="en-US" sz="3200" dirty="0"/>
          </a:p>
        </p:txBody>
      </p:sp>
      <p:sp>
        <p:nvSpPr>
          <p:cNvPr id="125" name="Rectangle 124">
            <a:extLst>
              <a:ext uri="{FF2B5EF4-FFF2-40B4-BE49-F238E27FC236}">
                <a16:creationId xmlns:a16="http://schemas.microsoft.com/office/drawing/2014/main" id="{D78A776B-E301-4D5C-A1B5-A17C1BE1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7" name="Rectangle 126">
            <a:extLst>
              <a:ext uri="{FF2B5EF4-FFF2-40B4-BE49-F238E27FC236}">
                <a16:creationId xmlns:a16="http://schemas.microsoft.com/office/drawing/2014/main" id="{0DDFA573-E787-440F-8A24-6F6D3D54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12188952" cy="780581"/>
          </a:xfrm>
          <a:prstGeom prst="rect">
            <a:avLst/>
          </a:prstGeom>
          <a:gradFill flip="none" rotWithShape="1">
            <a:gsLst>
              <a:gs pos="49000">
                <a:schemeClr val="accent1"/>
              </a:gs>
              <a:gs pos="100000">
                <a:schemeClr val="accent1">
                  <a:lumMod val="62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TextBox 4">
            <a:extLst>
              <a:ext uri="{FF2B5EF4-FFF2-40B4-BE49-F238E27FC236}">
                <a16:creationId xmlns:a16="http://schemas.microsoft.com/office/drawing/2014/main" id="{98F2A94A-0481-521E-3EB4-9E75519A989F}"/>
              </a:ext>
            </a:extLst>
          </p:cNvPr>
          <p:cNvSpPr txBox="1"/>
          <p:nvPr/>
        </p:nvSpPr>
        <p:spPr>
          <a:xfrm>
            <a:off x="272091" y="1320730"/>
            <a:ext cx="6211748" cy="4216539"/>
          </a:xfrm>
          <a:prstGeom prst="rect">
            <a:avLst/>
          </a:prstGeom>
          <a:noFill/>
        </p:spPr>
        <p:txBody>
          <a:bodyPr wrap="square" rtlCol="0">
            <a:spAutoFit/>
          </a:bodyPr>
          <a:lstStyle/>
          <a:p>
            <a:pPr marL="342900" indent="-3429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Utilizarea literelor mari/mici (</a:t>
            </a:r>
            <a:r>
              <a:rPr lang="ro-RO" sz="2400" i="1" dirty="0">
                <a:latin typeface="Tahoma" panose="020B0604030504040204" pitchFamily="34" charset="0"/>
                <a:ea typeface="Tahoma" panose="020B0604030504040204" pitchFamily="34" charset="0"/>
                <a:cs typeface="Tahoma" panose="020B0604030504040204" pitchFamily="34" charset="0"/>
              </a:rPr>
              <a:t>case sensitive</a:t>
            </a:r>
            <a:r>
              <a:rPr lang="ro-RO" sz="2400" dirty="0">
                <a:latin typeface="Tahoma" panose="020B0604030504040204" pitchFamily="34" charset="0"/>
                <a:ea typeface="Tahoma" panose="020B0604030504040204" pitchFamily="34" charset="0"/>
                <a:cs typeface="Tahoma" panose="020B0604030504040204" pitchFamily="34" charset="0"/>
              </a:rPr>
              <a:t>)</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Adresele de-mail și numele domeniilor web: nu sunt </a:t>
            </a:r>
            <a:r>
              <a:rPr lang="ro-RO" sz="2000" i="1" dirty="0">
                <a:latin typeface="Tahoma" panose="020B0604030504040204" pitchFamily="34" charset="0"/>
                <a:ea typeface="Tahoma" panose="020B0604030504040204" pitchFamily="34" charset="0"/>
                <a:cs typeface="Tahoma" panose="020B0604030504040204" pitchFamily="34" charset="0"/>
              </a:rPr>
              <a:t>case sensitive</a:t>
            </a:r>
            <a:r>
              <a:rPr lang="ro-RO" sz="2000" dirty="0">
                <a:latin typeface="Tahoma" panose="020B0604030504040204" pitchFamily="34" charset="0"/>
                <a:ea typeface="Tahoma" panose="020B0604030504040204" pitchFamily="34" charset="0"/>
                <a:cs typeface="Tahoma" panose="020B0604030504040204" pitchFamily="34" charset="0"/>
              </a:rPr>
              <a:t>.  </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Există sisteme/aplicații în care numele utilizatorilor sunt </a:t>
            </a:r>
            <a:r>
              <a:rPr lang="ro-RO" sz="2000" i="1" dirty="0">
                <a:latin typeface="Tahoma" panose="020B0604030504040204" pitchFamily="34" charset="0"/>
                <a:ea typeface="Tahoma" panose="020B0604030504040204" pitchFamily="34" charset="0"/>
                <a:cs typeface="Tahoma" panose="020B0604030504040204" pitchFamily="34" charset="0"/>
              </a:rPr>
              <a:t>case sensitive</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Utilizarea necorespunzătoare poate conduce la o experiență neconvingătoare de utilizare și la erori – în general, valorile implicite nu sunt </a:t>
            </a:r>
            <a:r>
              <a:rPr lang="ro-RO" sz="2000" i="1" dirty="0">
                <a:latin typeface="Tahoma" panose="020B0604030504040204" pitchFamily="34" charset="0"/>
                <a:ea typeface="Tahoma" panose="020B0604030504040204" pitchFamily="34" charset="0"/>
                <a:cs typeface="Tahoma" panose="020B0604030504040204" pitchFamily="34" charset="0"/>
              </a:rPr>
              <a:t>case sensitive</a:t>
            </a:r>
            <a:endParaRPr lang="ro-RO"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Dacă este necesară utilizarea: mesaj de informare/avertizare. De exemplu parolele: </a:t>
            </a:r>
            <a:r>
              <a:rPr lang="ro-RO" sz="2000" i="1" dirty="0">
                <a:latin typeface="Tahoma" panose="020B0604030504040204" pitchFamily="34" charset="0"/>
                <a:ea typeface="Tahoma" panose="020B0604030504040204" pitchFamily="34" charset="0"/>
                <a:cs typeface="Tahoma" panose="020B0604030504040204" pitchFamily="34" charset="0"/>
              </a:rPr>
              <a:t>case sensitive</a:t>
            </a:r>
            <a:endParaRPr lang="ro-RO" sz="20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68B11CB6-26A5-098C-7E79-36ED3124BCC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511547" y="2543350"/>
            <a:ext cx="5331568" cy="1400586"/>
          </a:xfrm>
          <a:prstGeom prst="rect">
            <a:avLst/>
          </a:prstGeom>
        </p:spPr>
      </p:pic>
    </p:spTree>
    <p:extLst>
      <p:ext uri="{BB962C8B-B14F-4D97-AF65-F5344CB8AC3E}">
        <p14:creationId xmlns:p14="http://schemas.microsoft.com/office/powerpoint/2010/main" val="67737593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3"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5"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7"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9"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21"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23" name="Rectangle 122">
            <a:extLst>
              <a:ext uri="{FF2B5EF4-FFF2-40B4-BE49-F238E27FC236}">
                <a16:creationId xmlns:a16="http://schemas.microsoft.com/office/drawing/2014/main" id="{81DCCE50-5BF6-42F8-A562-F8C543ADF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3922621" y="321367"/>
            <a:ext cx="10024288" cy="720823"/>
          </a:xfrm>
        </p:spPr>
        <p:txBody>
          <a:bodyPr vert="horz" lIns="91440" tIns="45720" rIns="91440" bIns="45720" rtlCol="0" anchor="b">
            <a:normAutofit fontScale="90000"/>
          </a:bodyPr>
          <a:lstStyle/>
          <a:p>
            <a:pPr algn="l"/>
            <a:r>
              <a:rPr lang="en-US" sz="4800" cap="none" dirty="0" err="1">
                <a:latin typeface="Tahoma" panose="020B0604030504040204" pitchFamily="34" charset="0"/>
                <a:ea typeface="Tahoma" panose="020B0604030504040204" pitchFamily="34" charset="0"/>
                <a:cs typeface="Tahoma" panose="020B0604030504040204" pitchFamily="34" charset="0"/>
              </a:rPr>
              <a:t>Elemente</a:t>
            </a:r>
            <a:r>
              <a:rPr lang="en-US" sz="4800" cap="none" dirty="0">
                <a:latin typeface="Tahoma" panose="020B0604030504040204" pitchFamily="34" charset="0"/>
                <a:ea typeface="Tahoma" panose="020B0604030504040204" pitchFamily="34" charset="0"/>
                <a:cs typeface="Tahoma" panose="020B0604030504040204" pitchFamily="34" charset="0"/>
              </a:rPr>
              <a:t> de </a:t>
            </a:r>
            <a:r>
              <a:rPr lang="ro-RO" sz="4800" i="1" cap="none" dirty="0">
                <a:latin typeface="Tahoma" panose="020B0604030504040204" pitchFamily="34" charset="0"/>
                <a:ea typeface="Tahoma" panose="020B0604030504040204" pitchFamily="34" charset="0"/>
                <a:cs typeface="Tahoma" panose="020B0604030504040204" pitchFamily="34" charset="0"/>
              </a:rPr>
              <a:t>input</a:t>
            </a:r>
            <a:endParaRPr lang="en-US" sz="3200" dirty="0"/>
          </a:p>
        </p:txBody>
      </p:sp>
      <p:sp>
        <p:nvSpPr>
          <p:cNvPr id="125" name="Rectangle 124">
            <a:extLst>
              <a:ext uri="{FF2B5EF4-FFF2-40B4-BE49-F238E27FC236}">
                <a16:creationId xmlns:a16="http://schemas.microsoft.com/office/drawing/2014/main" id="{D78A776B-E301-4D5C-A1B5-A17C1BE1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7" name="Rectangle 126">
            <a:extLst>
              <a:ext uri="{FF2B5EF4-FFF2-40B4-BE49-F238E27FC236}">
                <a16:creationId xmlns:a16="http://schemas.microsoft.com/office/drawing/2014/main" id="{0DDFA573-E787-440F-8A24-6F6D3D54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12188952" cy="780581"/>
          </a:xfrm>
          <a:prstGeom prst="rect">
            <a:avLst/>
          </a:prstGeom>
          <a:gradFill flip="none" rotWithShape="1">
            <a:gsLst>
              <a:gs pos="49000">
                <a:schemeClr val="accent1"/>
              </a:gs>
              <a:gs pos="100000">
                <a:schemeClr val="accent1">
                  <a:lumMod val="62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TextBox 4">
            <a:extLst>
              <a:ext uri="{FF2B5EF4-FFF2-40B4-BE49-F238E27FC236}">
                <a16:creationId xmlns:a16="http://schemas.microsoft.com/office/drawing/2014/main" id="{98F2A94A-0481-521E-3EB4-9E75519A989F}"/>
              </a:ext>
            </a:extLst>
          </p:cNvPr>
          <p:cNvSpPr txBox="1"/>
          <p:nvPr/>
        </p:nvSpPr>
        <p:spPr>
          <a:xfrm>
            <a:off x="256216" y="1380511"/>
            <a:ext cx="6211748" cy="3847207"/>
          </a:xfrm>
          <a:prstGeom prst="rect">
            <a:avLst/>
          </a:prstGeom>
          <a:noFill/>
        </p:spPr>
        <p:txBody>
          <a:bodyPr wrap="square" rtlCol="0">
            <a:spAutoFit/>
          </a:bodyPr>
          <a:lstStyle/>
          <a:p>
            <a:pPr marL="342900" indent="-3429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Utilizarea animațiilor</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Legată de </a:t>
            </a:r>
            <a:r>
              <a:rPr lang="ro-RO" sz="2000" i="1" dirty="0">
                <a:latin typeface="Tahoma" panose="020B0604030504040204" pitchFamily="34" charset="0"/>
                <a:ea typeface="Tahoma" panose="020B0604030504040204" pitchFamily="34" charset="0"/>
                <a:cs typeface="Tahoma" panose="020B0604030504040204" pitchFamily="34" charset="0"/>
                <a:hlinkClick r:id="rId4"/>
              </a:rPr>
              <a:t>interaction design</a:t>
            </a:r>
            <a:endParaRPr lang="ro-RO" sz="2000" i="1"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Microanimațiile să fie (i) subtile, pentru a nu distrage utilizatorul, (ii) scurte, pentru a nu întrerupe sarcinile de bază executate de utilizator</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Nu trebuie aplicată elementelor cu care utilizatorul interacționează direct (de exemplu meniuri)</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Pot apărea probleme la încărcări lente</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Utilizarea de </a:t>
            </a:r>
            <a:r>
              <a:rPr lang="ro-RO" sz="2000" i="1" dirty="0">
                <a:latin typeface="Tahoma" panose="020B0604030504040204" pitchFamily="34" charset="0"/>
                <a:ea typeface="Tahoma" panose="020B0604030504040204" pitchFamily="34" charset="0"/>
                <a:cs typeface="Tahoma" panose="020B0604030504040204" pitchFamily="34" charset="0"/>
              </a:rPr>
              <a:t>placeholders</a:t>
            </a:r>
            <a:r>
              <a:rPr lang="ro-RO" sz="2000" dirty="0">
                <a:latin typeface="Tahoma" panose="020B0604030504040204" pitchFamily="34" charset="0"/>
                <a:ea typeface="Tahoma" panose="020B0604030504040204" pitchFamily="34" charset="0"/>
                <a:cs typeface="Tahoma" panose="020B0604030504040204" pitchFamily="34" charset="0"/>
              </a:rPr>
              <a:t>, testare pe diverse dispozitive și pentru diverse conexiuni</a:t>
            </a:r>
          </a:p>
        </p:txBody>
      </p:sp>
      <p:pic>
        <p:nvPicPr>
          <p:cNvPr id="4" name="Picture 3">
            <a:extLst>
              <a:ext uri="{FF2B5EF4-FFF2-40B4-BE49-F238E27FC236}">
                <a16:creationId xmlns:a16="http://schemas.microsoft.com/office/drawing/2014/main" id="{E8E75CF3-42C7-A139-3231-5D29B02477FC}"/>
              </a:ext>
            </a:extLst>
          </p:cNvPr>
          <p:cNvPicPr>
            <a:picLocks noChangeAspect="1"/>
          </p:cNvPicPr>
          <p:nvPr/>
        </p:nvPicPr>
        <p:blipFill>
          <a:blip r:embed="rId5"/>
          <a:stretch>
            <a:fillRect/>
          </a:stretch>
        </p:blipFill>
        <p:spPr>
          <a:xfrm>
            <a:off x="7929570" y="1448656"/>
            <a:ext cx="2948252" cy="2680904"/>
          </a:xfrm>
          <a:prstGeom prst="rect">
            <a:avLst/>
          </a:prstGeom>
        </p:spPr>
      </p:pic>
      <p:sp>
        <p:nvSpPr>
          <p:cNvPr id="9" name="TextBox 8">
            <a:extLst>
              <a:ext uri="{FF2B5EF4-FFF2-40B4-BE49-F238E27FC236}">
                <a16:creationId xmlns:a16="http://schemas.microsoft.com/office/drawing/2014/main" id="{42929CDE-7741-6B0D-36A8-3648D4DCBAD8}"/>
              </a:ext>
            </a:extLst>
          </p:cNvPr>
          <p:cNvSpPr txBox="1"/>
          <p:nvPr/>
        </p:nvSpPr>
        <p:spPr>
          <a:xfrm>
            <a:off x="6570252" y="4242306"/>
            <a:ext cx="5113558" cy="461665"/>
          </a:xfrm>
          <a:prstGeom prst="rect">
            <a:avLst/>
          </a:prstGeom>
          <a:noFill/>
        </p:spPr>
        <p:txBody>
          <a:bodyPr wrap="square">
            <a:spAutoFit/>
          </a:bodyPr>
          <a:lstStyle/>
          <a:p>
            <a:r>
              <a:rPr lang="ro-RO" sz="1200" dirty="0">
                <a:latin typeface="Tahoma" panose="020B0604030504040204" pitchFamily="34" charset="0"/>
                <a:ea typeface="Tahoma" panose="020B0604030504040204" pitchFamily="34" charset="0"/>
                <a:cs typeface="Tahoma" panose="020B0604030504040204" pitchFamily="34" charset="0"/>
              </a:rPr>
              <a:t>Sursa: </a:t>
            </a:r>
            <a:r>
              <a:rPr lang="en-GB" sz="1200" dirty="0">
                <a:latin typeface="Tahoma" panose="020B0604030504040204" pitchFamily="34" charset="0"/>
                <a:ea typeface="Tahoma" panose="020B0604030504040204" pitchFamily="34" charset="0"/>
                <a:cs typeface="Tahoma" panose="020B0604030504040204" pitchFamily="34" charset="0"/>
                <a:hlinkClick r:id="rId6"/>
              </a:rPr>
              <a:t>https://www.interaction-design.org/literature/article/ui-animation-how-to-apply-disney-s-12-principles-of-animation-to-ui-design</a:t>
            </a:r>
            <a:r>
              <a:rPr lang="ro-RO" sz="1200" dirty="0">
                <a:latin typeface="Tahoma" panose="020B0604030504040204" pitchFamily="34" charset="0"/>
                <a:ea typeface="Tahoma" panose="020B0604030504040204" pitchFamily="34" charset="0"/>
                <a:cs typeface="Tahoma" panose="020B0604030504040204" pitchFamily="34" charset="0"/>
              </a:rPr>
              <a:t>  </a:t>
            </a:r>
            <a:endParaRPr lang="en-GB" sz="1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958444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3"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5"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7"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9"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21"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23" name="Rectangle 122">
            <a:extLst>
              <a:ext uri="{FF2B5EF4-FFF2-40B4-BE49-F238E27FC236}">
                <a16:creationId xmlns:a16="http://schemas.microsoft.com/office/drawing/2014/main" id="{81DCCE50-5BF6-42F8-A562-F8C543ADF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3922621" y="321367"/>
            <a:ext cx="10024288" cy="720823"/>
          </a:xfrm>
        </p:spPr>
        <p:txBody>
          <a:bodyPr vert="horz" lIns="91440" tIns="45720" rIns="91440" bIns="45720" rtlCol="0" anchor="b">
            <a:normAutofit fontScale="90000"/>
          </a:bodyPr>
          <a:lstStyle/>
          <a:p>
            <a:pPr algn="l"/>
            <a:r>
              <a:rPr lang="en-US" sz="4800" cap="none" dirty="0" err="1">
                <a:latin typeface="Tahoma" panose="020B0604030504040204" pitchFamily="34" charset="0"/>
                <a:ea typeface="Tahoma" panose="020B0604030504040204" pitchFamily="34" charset="0"/>
                <a:cs typeface="Tahoma" panose="020B0604030504040204" pitchFamily="34" charset="0"/>
              </a:rPr>
              <a:t>Elemente</a:t>
            </a:r>
            <a:r>
              <a:rPr lang="en-US" sz="4800" cap="none" dirty="0">
                <a:latin typeface="Tahoma" panose="020B0604030504040204" pitchFamily="34" charset="0"/>
                <a:ea typeface="Tahoma" panose="020B0604030504040204" pitchFamily="34" charset="0"/>
                <a:cs typeface="Tahoma" panose="020B0604030504040204" pitchFamily="34" charset="0"/>
              </a:rPr>
              <a:t> de </a:t>
            </a:r>
            <a:r>
              <a:rPr lang="ro-RO" sz="4800" i="1" cap="none" dirty="0">
                <a:latin typeface="Tahoma" panose="020B0604030504040204" pitchFamily="34" charset="0"/>
                <a:ea typeface="Tahoma" panose="020B0604030504040204" pitchFamily="34" charset="0"/>
                <a:cs typeface="Tahoma" panose="020B0604030504040204" pitchFamily="34" charset="0"/>
              </a:rPr>
              <a:t>input</a:t>
            </a:r>
            <a:endParaRPr lang="en-US" sz="3200" dirty="0"/>
          </a:p>
        </p:txBody>
      </p:sp>
      <p:sp>
        <p:nvSpPr>
          <p:cNvPr id="125" name="Rectangle 124">
            <a:extLst>
              <a:ext uri="{FF2B5EF4-FFF2-40B4-BE49-F238E27FC236}">
                <a16:creationId xmlns:a16="http://schemas.microsoft.com/office/drawing/2014/main" id="{D78A776B-E301-4D5C-A1B5-A17C1BE1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7" name="Rectangle 126">
            <a:extLst>
              <a:ext uri="{FF2B5EF4-FFF2-40B4-BE49-F238E27FC236}">
                <a16:creationId xmlns:a16="http://schemas.microsoft.com/office/drawing/2014/main" id="{0DDFA573-E787-440F-8A24-6F6D3D54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12188952" cy="780581"/>
          </a:xfrm>
          <a:prstGeom prst="rect">
            <a:avLst/>
          </a:prstGeom>
          <a:gradFill flip="none" rotWithShape="1">
            <a:gsLst>
              <a:gs pos="49000">
                <a:schemeClr val="accent1"/>
              </a:gs>
              <a:gs pos="100000">
                <a:schemeClr val="accent1">
                  <a:lumMod val="62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TextBox 4">
            <a:extLst>
              <a:ext uri="{FF2B5EF4-FFF2-40B4-BE49-F238E27FC236}">
                <a16:creationId xmlns:a16="http://schemas.microsoft.com/office/drawing/2014/main" id="{98F2A94A-0481-521E-3EB4-9E75519A989F}"/>
              </a:ext>
            </a:extLst>
          </p:cNvPr>
          <p:cNvSpPr txBox="1"/>
          <p:nvPr/>
        </p:nvSpPr>
        <p:spPr>
          <a:xfrm>
            <a:off x="256216" y="1380511"/>
            <a:ext cx="6211748" cy="2677656"/>
          </a:xfrm>
          <a:prstGeom prst="rect">
            <a:avLst/>
          </a:prstGeom>
          <a:noFill/>
        </p:spPr>
        <p:txBody>
          <a:bodyPr wrap="square" rtlCol="0">
            <a:spAutoFit/>
          </a:bodyPr>
          <a:lstStyle/>
          <a:p>
            <a:pPr marL="342900" indent="-3429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Elemente de control pentru selectarea datei (</a:t>
            </a:r>
            <a:r>
              <a:rPr lang="ro-RO" sz="2400" i="1" dirty="0">
                <a:latin typeface="Tahoma" panose="020B0604030504040204" pitchFamily="34" charset="0"/>
                <a:ea typeface="Tahoma" panose="020B0604030504040204" pitchFamily="34" charset="0"/>
                <a:cs typeface="Tahoma" panose="020B0604030504040204" pitchFamily="34" charset="0"/>
              </a:rPr>
              <a:t>date picker controls</a:t>
            </a:r>
            <a:r>
              <a:rPr lang="ro-RO" sz="2400" dirty="0">
                <a:latin typeface="Tahoma" panose="020B0604030504040204" pitchFamily="34" charset="0"/>
                <a:ea typeface="Tahoma" panose="020B0604030504040204" pitchFamily="34" charset="0"/>
                <a:cs typeface="Tahoma" panose="020B0604030504040204" pitchFamily="34" charset="0"/>
              </a:rPr>
              <a:t>)</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Poate fi utilizat sistemul nativ al dispozitivului</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Dacă este nevoie de ceva mai complex: consistență în aplicație - utilizarea unor seturi diferite de elemente de control în părți diferite ale produsului poate genera confuzie pentru utilizatori </a:t>
            </a:r>
          </a:p>
        </p:txBody>
      </p:sp>
      <p:pic>
        <p:nvPicPr>
          <p:cNvPr id="3" name="Picture 2">
            <a:extLst>
              <a:ext uri="{FF2B5EF4-FFF2-40B4-BE49-F238E27FC236}">
                <a16:creationId xmlns:a16="http://schemas.microsoft.com/office/drawing/2014/main" id="{68B11CB6-26A5-098C-7E79-36ED3124BCC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716606" y="1927242"/>
            <a:ext cx="3647309" cy="2168491"/>
          </a:xfrm>
          <a:prstGeom prst="rect">
            <a:avLst/>
          </a:prstGeom>
        </p:spPr>
      </p:pic>
    </p:spTree>
    <p:extLst>
      <p:ext uri="{BB962C8B-B14F-4D97-AF65-F5344CB8AC3E}">
        <p14:creationId xmlns:p14="http://schemas.microsoft.com/office/powerpoint/2010/main" val="304674067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1" name="Picture 110">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3"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5"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7"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9"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21"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23" name="Rectangle 122">
            <a:extLst>
              <a:ext uri="{FF2B5EF4-FFF2-40B4-BE49-F238E27FC236}">
                <a16:creationId xmlns:a16="http://schemas.microsoft.com/office/drawing/2014/main" id="{81DCCE50-5BF6-42F8-A562-F8C543ADF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3922621" y="321367"/>
            <a:ext cx="10024288" cy="720823"/>
          </a:xfrm>
        </p:spPr>
        <p:txBody>
          <a:bodyPr vert="horz" lIns="91440" tIns="45720" rIns="91440" bIns="45720" rtlCol="0" anchor="b">
            <a:normAutofit fontScale="90000"/>
          </a:bodyPr>
          <a:lstStyle/>
          <a:p>
            <a:pPr algn="l"/>
            <a:r>
              <a:rPr lang="en-US" sz="4800" cap="none" dirty="0" err="1">
                <a:latin typeface="Tahoma" panose="020B0604030504040204" pitchFamily="34" charset="0"/>
                <a:ea typeface="Tahoma" panose="020B0604030504040204" pitchFamily="34" charset="0"/>
                <a:cs typeface="Tahoma" panose="020B0604030504040204" pitchFamily="34" charset="0"/>
              </a:rPr>
              <a:t>Elemente</a:t>
            </a:r>
            <a:r>
              <a:rPr lang="en-US" sz="4800" cap="none" dirty="0">
                <a:latin typeface="Tahoma" panose="020B0604030504040204" pitchFamily="34" charset="0"/>
                <a:ea typeface="Tahoma" panose="020B0604030504040204" pitchFamily="34" charset="0"/>
                <a:cs typeface="Tahoma" panose="020B0604030504040204" pitchFamily="34" charset="0"/>
              </a:rPr>
              <a:t> de </a:t>
            </a:r>
            <a:r>
              <a:rPr lang="ro-RO" sz="4800" i="1" cap="none" dirty="0">
                <a:latin typeface="Tahoma" panose="020B0604030504040204" pitchFamily="34" charset="0"/>
                <a:ea typeface="Tahoma" panose="020B0604030504040204" pitchFamily="34" charset="0"/>
                <a:cs typeface="Tahoma" panose="020B0604030504040204" pitchFamily="34" charset="0"/>
              </a:rPr>
              <a:t>input</a:t>
            </a:r>
            <a:endParaRPr lang="en-US" sz="3200" dirty="0"/>
          </a:p>
        </p:txBody>
      </p:sp>
      <p:sp>
        <p:nvSpPr>
          <p:cNvPr id="125" name="Rectangle 124">
            <a:extLst>
              <a:ext uri="{FF2B5EF4-FFF2-40B4-BE49-F238E27FC236}">
                <a16:creationId xmlns:a16="http://schemas.microsoft.com/office/drawing/2014/main" id="{D78A776B-E301-4D5C-A1B5-A17C1BE1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7" name="Rectangle 126">
            <a:extLst>
              <a:ext uri="{FF2B5EF4-FFF2-40B4-BE49-F238E27FC236}">
                <a16:creationId xmlns:a16="http://schemas.microsoft.com/office/drawing/2014/main" id="{0DDFA573-E787-440F-8A24-6F6D3D54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12188952" cy="780581"/>
          </a:xfrm>
          <a:prstGeom prst="rect">
            <a:avLst/>
          </a:prstGeom>
          <a:gradFill flip="none" rotWithShape="1">
            <a:gsLst>
              <a:gs pos="49000">
                <a:schemeClr val="accent1"/>
              </a:gs>
              <a:gs pos="100000">
                <a:schemeClr val="accent1">
                  <a:lumMod val="62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TextBox 4">
            <a:extLst>
              <a:ext uri="{FF2B5EF4-FFF2-40B4-BE49-F238E27FC236}">
                <a16:creationId xmlns:a16="http://schemas.microsoft.com/office/drawing/2014/main" id="{98F2A94A-0481-521E-3EB4-9E75519A989F}"/>
              </a:ext>
            </a:extLst>
          </p:cNvPr>
          <p:cNvSpPr txBox="1"/>
          <p:nvPr/>
        </p:nvSpPr>
        <p:spPr>
          <a:xfrm>
            <a:off x="256216" y="1380511"/>
            <a:ext cx="6211748" cy="4154984"/>
          </a:xfrm>
          <a:prstGeom prst="rect">
            <a:avLst/>
          </a:prstGeom>
          <a:noFill/>
        </p:spPr>
        <p:txBody>
          <a:bodyPr wrap="square" rtlCol="0">
            <a:spAutoFit/>
          </a:bodyPr>
          <a:lstStyle/>
          <a:p>
            <a:pPr marL="342900" indent="-342900">
              <a:buFont typeface="Arial" panose="020B0604020202020204" pitchFamily="34" charset="0"/>
              <a:buChar char="•"/>
            </a:pPr>
            <a:r>
              <a:rPr lang="ro-RO" sz="2400" i="1" dirty="0">
                <a:latin typeface="Tahoma" panose="020B0604030504040204" pitchFamily="34" charset="0"/>
                <a:ea typeface="Tahoma" panose="020B0604030504040204" pitchFamily="34" charset="0"/>
                <a:cs typeface="Tahoma" panose="020B0604030504040204" pitchFamily="34" charset="0"/>
              </a:rPr>
              <a:t>Chatbots</a:t>
            </a:r>
          </a:p>
          <a:p>
            <a:pPr marL="800100" lvl="1" indent="-342900">
              <a:buFont typeface="Courier New" panose="02070309020205020404" pitchFamily="49" charset="0"/>
              <a:buChar char="o"/>
            </a:pPr>
            <a:r>
              <a:rPr lang="ro-RO" sz="2000" i="1" dirty="0">
                <a:latin typeface="Tahoma" panose="020B0604030504040204" pitchFamily="34" charset="0"/>
                <a:ea typeface="Tahoma" panose="020B0604030504040204" pitchFamily="34" charset="0"/>
                <a:cs typeface="Tahoma" panose="020B0604030504040204" pitchFamily="34" charset="0"/>
              </a:rPr>
              <a:t>CUI (Conversational User Interfaces) </a:t>
            </a:r>
            <a:r>
              <a:rPr lang="ro-RO" sz="2000" dirty="0">
                <a:latin typeface="Tahoma" panose="020B0604030504040204" pitchFamily="34" charset="0"/>
                <a:ea typeface="Tahoma" panose="020B0604030504040204" pitchFamily="34" charset="0"/>
                <a:cs typeface="Tahoma" panose="020B0604030504040204" pitchFamily="34" charset="0"/>
              </a:rPr>
              <a:t>sunt un element uzual</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Există o serie de avantaje (focusate, simple, ușor de înțeles)</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Opțiuni de comunicare: e-mail/formulare, </a:t>
            </a:r>
            <a:r>
              <a:rPr lang="ro-RO" sz="2000" i="1" dirty="0">
                <a:latin typeface="Tahoma" panose="020B0604030504040204" pitchFamily="34" charset="0"/>
                <a:ea typeface="Tahoma" panose="020B0604030504040204" pitchFamily="34" charset="0"/>
                <a:cs typeface="Tahoma" panose="020B0604030504040204" pitchFamily="34" charset="0"/>
              </a:rPr>
              <a:t>chat</a:t>
            </a:r>
            <a:r>
              <a:rPr lang="ro-RO" sz="2000" dirty="0">
                <a:latin typeface="Tahoma" panose="020B0604030504040204" pitchFamily="34" charset="0"/>
                <a:ea typeface="Tahoma" panose="020B0604030504040204" pitchFamily="34" charset="0"/>
                <a:cs typeface="Tahoma" panose="020B0604030504040204" pitchFamily="34" charset="0"/>
              </a:rPr>
              <a:t>, </a:t>
            </a:r>
            <a:r>
              <a:rPr lang="ro-RO" sz="2000" i="1" dirty="0">
                <a:latin typeface="Tahoma" panose="020B0604030504040204" pitchFamily="34" charset="0"/>
                <a:ea typeface="Tahoma" panose="020B0604030504040204" pitchFamily="34" charset="0"/>
                <a:cs typeface="Tahoma" panose="020B0604030504040204" pitchFamily="34" charset="0"/>
              </a:rPr>
              <a:t>chatbots</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Din punctul de vedere al experienței de utilizare: preferabilă interacțiunea cu o persoană - cu informații asupra timpului de așteptare până la dialogul direct, eventual cu mesaj că un interlocutor scrie ceva în </a:t>
            </a:r>
            <a:r>
              <a:rPr lang="ro-RO" sz="2000" i="1" dirty="0">
                <a:latin typeface="Tahoma" panose="020B0604030504040204" pitchFamily="34" charset="0"/>
                <a:ea typeface="Tahoma" panose="020B0604030504040204" pitchFamily="34" charset="0"/>
                <a:cs typeface="Tahoma" panose="020B0604030504040204" pitchFamily="34" charset="0"/>
              </a:rPr>
              <a:t>chat</a:t>
            </a:r>
            <a:endParaRPr lang="ro-RO"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Courier New" panose="02070309020205020404" pitchFamily="49" charset="0"/>
              <a:buChar char="o"/>
            </a:pPr>
            <a:endParaRPr lang="ro-RO" sz="20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68B11CB6-26A5-098C-7E79-36ED3124BCC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981879" y="2196838"/>
            <a:ext cx="4382036" cy="1887778"/>
          </a:xfrm>
          <a:prstGeom prst="rect">
            <a:avLst/>
          </a:prstGeom>
        </p:spPr>
      </p:pic>
    </p:spTree>
    <p:extLst>
      <p:ext uri="{BB962C8B-B14F-4D97-AF65-F5344CB8AC3E}">
        <p14:creationId xmlns:p14="http://schemas.microsoft.com/office/powerpoint/2010/main" val="9711554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FA20A3C-BD33-4BC0-BAA2-683C4F29A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FF51F4B5-F243-485B-AEFF-8A23923327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F6DDD77F-AF4E-4699-83CA-25E67DE02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E54D6B7E-A890-4096-B04C-986095FD4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73BABC7B-87BC-419D-A42E-34400A920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4684440" y="0"/>
            <a:ext cx="6342822" cy="1151965"/>
          </a:xfrm>
        </p:spPr>
        <p:txBody>
          <a:bodyPr vert="horz" lIns="91440" tIns="45720" rIns="91440" bIns="45720" rtlCol="0" anchor="ctr">
            <a:normAutofit/>
          </a:bodyPr>
          <a:lstStyle/>
          <a:p>
            <a:pPr algn="l"/>
            <a:r>
              <a:rPr lang="ro-RO" sz="4300" cap="none" dirty="0">
                <a:latin typeface="Tahoma" panose="020B0604030504040204" pitchFamily="34" charset="0"/>
                <a:ea typeface="Tahoma" panose="020B0604030504040204" pitchFamily="34" charset="0"/>
                <a:cs typeface="Tahoma" panose="020B0604030504040204" pitchFamily="34" charset="0"/>
              </a:rPr>
              <a:t>Formulare</a:t>
            </a:r>
            <a:endParaRPr lang="en-US" sz="4300" cap="none" dirty="0">
              <a:latin typeface="Tahoma" panose="020B0604030504040204" pitchFamily="34" charset="0"/>
              <a:ea typeface="Tahoma" panose="020B0604030504040204" pitchFamily="34" charset="0"/>
              <a:cs typeface="Tahoma" panose="020B0604030504040204" pitchFamily="34" charset="0"/>
            </a:endParaRPr>
          </a:p>
        </p:txBody>
      </p:sp>
      <p:sp>
        <p:nvSpPr>
          <p:cNvPr id="139" name="Rectangle 138">
            <a:extLst>
              <a:ext uri="{FF2B5EF4-FFF2-40B4-BE49-F238E27FC236}">
                <a16:creationId xmlns:a16="http://schemas.microsoft.com/office/drawing/2014/main" id="{993BAF99-563B-4D70-A7B7-70F3B39EC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41" y="457200"/>
            <a:ext cx="3787611" cy="4686138"/>
          </a:xfrm>
          <a:prstGeom prst="rect">
            <a:avLst/>
          </a:prstGeom>
          <a:solidFill>
            <a:schemeClr val="bg1"/>
          </a:solidFill>
          <a:ln w="57150" cmpd="thinThick">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8F2A94A-0481-521E-3EB4-9E75519A989F}"/>
              </a:ext>
            </a:extLst>
          </p:cNvPr>
          <p:cNvSpPr txBox="1"/>
          <p:nvPr/>
        </p:nvSpPr>
        <p:spPr>
          <a:xfrm>
            <a:off x="4739012" y="1589558"/>
            <a:ext cx="6341495" cy="3796738"/>
          </a:xfrm>
          <a:prstGeom prst="rect">
            <a:avLst/>
          </a:prstGeom>
        </p:spPr>
        <p:txBody>
          <a:bodyPr vert="horz" lIns="91440" tIns="45720" rIns="91440" bIns="45720" rtlCol="0" anchor="ctr">
            <a:normAutofit lnSpcReduction="10000"/>
          </a:bodyPr>
          <a:lstStyle/>
          <a:p>
            <a:pPr marL="342900" indent="-342900">
              <a:buFont typeface="Arial" panose="020B0604020202020204" pitchFamily="34" charset="0"/>
              <a:buChar char="•"/>
            </a:pPr>
            <a:r>
              <a:rPr lang="ro-RO" sz="2400" dirty="0">
                <a:latin typeface="Tahoma" panose="020B0604030504040204" pitchFamily="34" charset="0"/>
                <a:ea typeface="Tahoma" panose="020B0604030504040204" pitchFamily="34" charset="0"/>
                <a:cs typeface="Tahoma" panose="020B0604030504040204" pitchFamily="34" charset="0"/>
              </a:rPr>
              <a:t>Reîncărcarea formularelor</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Datele să fie șterse doar când utilizatorul abandonează în mod explicit completarea (de exemplu salvarea datelor în cazul reîncărcării) - recomandate cererea explicită a permisiunii, avertisment</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Exemplu de echilibru între aspectul tehnic și experiența de utilizare</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Util: revenire la punctul de pornire</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Să nu fie reîncărcat în timpul utilizării</a:t>
            </a:r>
          </a:p>
          <a:p>
            <a:pPr marL="800100" lvl="1" indent="-342900">
              <a:buFont typeface="Courier New" panose="02070309020205020404" pitchFamily="49" charset="0"/>
              <a:buChar char="o"/>
            </a:pPr>
            <a:r>
              <a:rPr lang="ro-RO" sz="2000" dirty="0">
                <a:latin typeface="Tahoma" panose="020B0604030504040204" pitchFamily="34" charset="0"/>
                <a:ea typeface="Tahoma" panose="020B0604030504040204" pitchFamily="34" charset="0"/>
                <a:cs typeface="Tahoma" panose="020B0604030504040204" pitchFamily="34" charset="0"/>
              </a:rPr>
              <a:t>Utilizatorul să aibă opțiunea de reîncărcare (manuală) în timpul utilizării</a:t>
            </a:r>
          </a:p>
          <a:p>
            <a:pPr marL="800100" lvl="1" indent="-228600" defTabSz="914400">
              <a:lnSpc>
                <a:spcPct val="120000"/>
              </a:lnSpc>
              <a:spcAft>
                <a:spcPts val="600"/>
              </a:spcAft>
              <a:buClr>
                <a:schemeClr val="accent1"/>
              </a:buClr>
              <a:buSzPct val="160000"/>
              <a:buFont typeface="Arial" panose="020B0604020202020204" pitchFamily="34" charset="0"/>
              <a:buChar char="•"/>
            </a:pPr>
            <a:endParaRPr lang="en-US" cap="all" dirty="0"/>
          </a:p>
        </p:txBody>
      </p:sp>
      <p:pic>
        <p:nvPicPr>
          <p:cNvPr id="8" name="Picture 7">
            <a:extLst>
              <a:ext uri="{FF2B5EF4-FFF2-40B4-BE49-F238E27FC236}">
                <a16:creationId xmlns:a16="http://schemas.microsoft.com/office/drawing/2014/main" id="{3EFE0235-46C3-EEB7-DAE5-CDE97AF98AE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01964" y="1465849"/>
            <a:ext cx="3750580" cy="2734676"/>
          </a:xfrm>
          <a:prstGeom prst="rect">
            <a:avLst/>
          </a:prstGeom>
        </p:spPr>
      </p:pic>
    </p:spTree>
    <p:extLst>
      <p:ext uri="{BB962C8B-B14F-4D97-AF65-F5344CB8AC3E}">
        <p14:creationId xmlns:p14="http://schemas.microsoft.com/office/powerpoint/2010/main" val="10781290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FA20A3C-BD33-4BC0-BAA2-683C4F29A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FF51F4B5-F243-485B-AEFF-8A23923327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F6DDD77F-AF4E-4699-83CA-25E67DE02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E54D6B7E-A890-4096-B04C-986095FD4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73BABC7B-87BC-419D-A42E-34400A920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4684444" y="0"/>
            <a:ext cx="6342822" cy="1151965"/>
          </a:xfrm>
        </p:spPr>
        <p:txBody>
          <a:bodyPr vert="horz" lIns="91440" tIns="45720" rIns="91440" bIns="45720" rtlCol="0" anchor="ctr">
            <a:normAutofit/>
          </a:bodyPr>
          <a:lstStyle/>
          <a:p>
            <a:pPr algn="l"/>
            <a:r>
              <a:rPr lang="ro-RO" sz="4300" cap="none" dirty="0">
                <a:latin typeface="Tahoma" panose="020B0604030504040204" pitchFamily="34" charset="0"/>
                <a:ea typeface="Tahoma" panose="020B0604030504040204" pitchFamily="34" charset="0"/>
                <a:cs typeface="Tahoma" panose="020B0604030504040204" pitchFamily="34" charset="0"/>
              </a:rPr>
              <a:t>Formulare</a:t>
            </a:r>
            <a:endParaRPr lang="en-US" sz="4300" cap="none" dirty="0">
              <a:latin typeface="Tahoma" panose="020B0604030504040204" pitchFamily="34" charset="0"/>
              <a:ea typeface="Tahoma" panose="020B0604030504040204" pitchFamily="34" charset="0"/>
              <a:cs typeface="Tahoma" panose="020B0604030504040204" pitchFamily="34" charset="0"/>
            </a:endParaRPr>
          </a:p>
        </p:txBody>
      </p:sp>
      <p:sp>
        <p:nvSpPr>
          <p:cNvPr id="139" name="Rectangle 138">
            <a:extLst>
              <a:ext uri="{FF2B5EF4-FFF2-40B4-BE49-F238E27FC236}">
                <a16:creationId xmlns:a16="http://schemas.microsoft.com/office/drawing/2014/main" id="{993BAF99-563B-4D70-A7B7-70F3B39EC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41" y="457200"/>
            <a:ext cx="3787611" cy="4686138"/>
          </a:xfrm>
          <a:prstGeom prst="rect">
            <a:avLst/>
          </a:prstGeom>
          <a:solidFill>
            <a:schemeClr val="bg1"/>
          </a:solidFill>
          <a:ln w="57150" cmpd="thinThick">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4B7B40B-A65E-165E-F288-017918E1C685}"/>
              </a:ext>
            </a:extLst>
          </p:cNvPr>
          <p:cNvPicPr>
            <a:picLocks noChangeAspect="1"/>
          </p:cNvPicPr>
          <p:nvPr/>
        </p:nvPicPr>
        <p:blipFill>
          <a:blip r:embed="rId4"/>
          <a:stretch>
            <a:fillRect/>
          </a:stretch>
        </p:blipFill>
        <p:spPr>
          <a:xfrm>
            <a:off x="741269" y="3589945"/>
            <a:ext cx="3305553" cy="651340"/>
          </a:xfrm>
          <a:prstGeom prst="rect">
            <a:avLst/>
          </a:prstGeom>
        </p:spPr>
      </p:pic>
      <p:pic>
        <p:nvPicPr>
          <p:cNvPr id="4" name="Picture 3">
            <a:extLst>
              <a:ext uri="{FF2B5EF4-FFF2-40B4-BE49-F238E27FC236}">
                <a16:creationId xmlns:a16="http://schemas.microsoft.com/office/drawing/2014/main" id="{EC58B311-ABD0-E6E8-72D6-EB69AAD69D41}"/>
              </a:ext>
            </a:extLst>
          </p:cNvPr>
          <p:cNvPicPr>
            <a:picLocks noChangeAspect="1"/>
          </p:cNvPicPr>
          <p:nvPr/>
        </p:nvPicPr>
        <p:blipFill>
          <a:blip r:embed="rId5"/>
          <a:stretch>
            <a:fillRect/>
          </a:stretch>
        </p:blipFill>
        <p:spPr>
          <a:xfrm>
            <a:off x="607833" y="1589557"/>
            <a:ext cx="3305553" cy="554550"/>
          </a:xfrm>
          <a:prstGeom prst="rect">
            <a:avLst/>
          </a:prstGeom>
        </p:spPr>
      </p:pic>
      <p:sp>
        <p:nvSpPr>
          <p:cNvPr id="5" name="TextBox 4">
            <a:extLst>
              <a:ext uri="{FF2B5EF4-FFF2-40B4-BE49-F238E27FC236}">
                <a16:creationId xmlns:a16="http://schemas.microsoft.com/office/drawing/2014/main" id="{98F2A94A-0481-521E-3EB4-9E75519A989F}"/>
              </a:ext>
            </a:extLst>
          </p:cNvPr>
          <p:cNvSpPr txBox="1"/>
          <p:nvPr/>
        </p:nvSpPr>
        <p:spPr>
          <a:xfrm>
            <a:off x="4739012" y="2063397"/>
            <a:ext cx="6341495" cy="2866342"/>
          </a:xfrm>
          <a:prstGeom prst="rect">
            <a:avLst/>
          </a:prstGeom>
        </p:spPr>
        <p:txBody>
          <a:bodyPr vert="horz" lIns="91440" tIns="45720" rIns="91440" bIns="45720" rtlCol="0" anchor="ctr">
            <a:normAutofit fontScale="92500" lnSpcReduction="10000"/>
          </a:bodyPr>
          <a:lstStyle/>
          <a:p>
            <a:pPr marL="342900" indent="-228600" defTabSz="914400">
              <a:lnSpc>
                <a:spcPct val="120000"/>
              </a:lnSpc>
              <a:spcAft>
                <a:spcPts val="600"/>
              </a:spcAft>
              <a:buClr>
                <a:schemeClr val="accent1"/>
              </a:buClr>
              <a:buSzPct val="160000"/>
              <a:buFont typeface="Arial" panose="020B0604020202020204" pitchFamily="34" charset="0"/>
              <a:buChar char="•"/>
            </a:pPr>
            <a:r>
              <a:rPr lang="en-US" sz="2400" dirty="0" err="1">
                <a:latin typeface="Tahoma" panose="020B0604030504040204" pitchFamily="34" charset="0"/>
                <a:ea typeface="Tahoma" panose="020B0604030504040204" pitchFamily="34" charset="0"/>
                <a:cs typeface="Tahoma" panose="020B0604030504040204" pitchFamily="34" charset="0"/>
              </a:rPr>
              <a:t>Adecvarea</a:t>
            </a:r>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dirty="0" err="1">
                <a:latin typeface="Tahoma" panose="020B0604030504040204" pitchFamily="34" charset="0"/>
                <a:ea typeface="Tahoma" panose="020B0604030504040204" pitchFamily="34" charset="0"/>
                <a:cs typeface="Tahoma" panose="020B0604030504040204" pitchFamily="34" charset="0"/>
              </a:rPr>
              <a:t>câmpurilor</a:t>
            </a:r>
            <a:r>
              <a:rPr lang="en-US" sz="2400" dirty="0">
                <a:latin typeface="Tahoma" panose="020B0604030504040204" pitchFamily="34" charset="0"/>
                <a:ea typeface="Tahoma" panose="020B0604030504040204" pitchFamily="34" charset="0"/>
                <a:cs typeface="Tahoma" panose="020B0604030504040204" pitchFamily="34" charset="0"/>
              </a:rPr>
              <a:t> de </a:t>
            </a:r>
            <a:r>
              <a:rPr lang="en-US" sz="2400" dirty="0" err="1">
                <a:latin typeface="Tahoma" panose="020B0604030504040204" pitchFamily="34" charset="0"/>
                <a:ea typeface="Tahoma" panose="020B0604030504040204" pitchFamily="34" charset="0"/>
                <a:cs typeface="Tahoma" panose="020B0604030504040204" pitchFamily="34" charset="0"/>
              </a:rPr>
              <a:t>completat</a:t>
            </a:r>
            <a:r>
              <a:rPr lang="en-US" sz="2400" dirty="0">
                <a:latin typeface="Tahoma" panose="020B0604030504040204" pitchFamily="34" charset="0"/>
                <a:ea typeface="Tahoma" panose="020B0604030504040204" pitchFamily="34" charset="0"/>
                <a:cs typeface="Tahoma" panose="020B0604030504040204" pitchFamily="34" charset="0"/>
              </a:rPr>
              <a:t> la </a:t>
            </a:r>
            <a:r>
              <a:rPr lang="en-US" sz="2400" dirty="0" err="1">
                <a:latin typeface="Tahoma" panose="020B0604030504040204" pitchFamily="34" charset="0"/>
                <a:ea typeface="Tahoma" panose="020B0604030504040204" pitchFamily="34" charset="0"/>
                <a:cs typeface="Tahoma" panose="020B0604030504040204" pitchFamily="34" charset="0"/>
              </a:rPr>
              <a:t>conținutul</a:t>
            </a:r>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dirty="0" err="1">
                <a:latin typeface="Tahoma" panose="020B0604030504040204" pitchFamily="34" charset="0"/>
                <a:ea typeface="Tahoma" panose="020B0604030504040204" pitchFamily="34" charset="0"/>
                <a:cs typeface="Tahoma" panose="020B0604030504040204" pitchFamily="34" charset="0"/>
              </a:rPr>
              <a:t>așteptat</a:t>
            </a:r>
            <a:endParaRPr lang="en-US" sz="2400" dirty="0">
              <a:latin typeface="Tahoma" panose="020B0604030504040204" pitchFamily="34" charset="0"/>
              <a:ea typeface="Tahoma" panose="020B0604030504040204" pitchFamily="34" charset="0"/>
              <a:cs typeface="Tahoma" panose="020B0604030504040204" pitchFamily="34" charset="0"/>
            </a:endParaRP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en-US" sz="2000" dirty="0" err="1">
                <a:latin typeface="Tahoma" panose="020B0604030504040204" pitchFamily="34" charset="0"/>
                <a:ea typeface="Tahoma" panose="020B0604030504040204" pitchFamily="34" charset="0"/>
                <a:cs typeface="Tahoma" panose="020B0604030504040204" pitchFamily="34" charset="0"/>
              </a:rPr>
              <a:t>Referitoare</a:t>
            </a:r>
            <a:r>
              <a:rPr lang="en-US" sz="2000" dirty="0">
                <a:latin typeface="Tahoma" panose="020B0604030504040204" pitchFamily="34" charset="0"/>
                <a:ea typeface="Tahoma" panose="020B0604030504040204" pitchFamily="34" charset="0"/>
                <a:cs typeface="Tahoma" panose="020B0604030504040204" pitchFamily="34" charset="0"/>
              </a:rPr>
              <a:t> la </a:t>
            </a:r>
            <a:r>
              <a:rPr lang="en-US" sz="2000" dirty="0" err="1">
                <a:latin typeface="Tahoma" panose="020B0604030504040204" pitchFamily="34" charset="0"/>
                <a:ea typeface="Tahoma" panose="020B0604030504040204" pitchFamily="34" charset="0"/>
                <a:cs typeface="Tahoma" panose="020B0604030504040204" pitchFamily="34" charset="0"/>
              </a:rPr>
              <a:t>căsuțele</a:t>
            </a:r>
            <a:r>
              <a:rPr lang="en-US" sz="2000" dirty="0">
                <a:latin typeface="Tahoma" panose="020B0604030504040204" pitchFamily="34" charset="0"/>
                <a:ea typeface="Tahoma" panose="020B0604030504040204" pitchFamily="34" charset="0"/>
                <a:cs typeface="Tahoma" panose="020B0604030504040204" pitchFamily="34" charset="0"/>
              </a:rPr>
              <a:t> de tip </a:t>
            </a:r>
            <a:r>
              <a:rPr lang="en-US" sz="2000" dirty="0" err="1">
                <a:latin typeface="Tahoma" panose="020B0604030504040204" pitchFamily="34" charset="0"/>
                <a:ea typeface="Tahoma" panose="020B0604030504040204" pitchFamily="34" charset="0"/>
                <a:cs typeface="Tahoma" panose="020B0604030504040204" pitchFamily="34" charset="0"/>
              </a:rPr>
              <a:t>multilinie</a:t>
            </a:r>
            <a:endParaRPr lang="en-US" sz="2000" dirty="0">
              <a:latin typeface="Tahoma" panose="020B0604030504040204" pitchFamily="34" charset="0"/>
              <a:ea typeface="Tahoma" panose="020B0604030504040204" pitchFamily="34" charset="0"/>
              <a:cs typeface="Tahoma" panose="020B0604030504040204" pitchFamily="34" charset="0"/>
            </a:endParaRP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en-US" sz="2000" dirty="0" err="1">
                <a:latin typeface="Tahoma" panose="020B0604030504040204" pitchFamily="34" charset="0"/>
                <a:ea typeface="Tahoma" panose="020B0604030504040204" pitchFamily="34" charset="0"/>
                <a:cs typeface="Tahoma" panose="020B0604030504040204" pitchFamily="34" charset="0"/>
              </a:rPr>
              <a:t>Dimensiune</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adecvată</a:t>
            </a:r>
            <a:r>
              <a:rPr lang="en-US" sz="2000" dirty="0">
                <a:latin typeface="Tahoma" panose="020B0604030504040204" pitchFamily="34" charset="0"/>
                <a:ea typeface="Tahoma" panose="020B0604030504040204" pitchFamily="34" charset="0"/>
                <a:cs typeface="Tahoma" panose="020B0604030504040204" pitchFamily="34" charset="0"/>
              </a:rPr>
              <a:t>, nu </a:t>
            </a:r>
            <a:r>
              <a:rPr lang="en-US" sz="2000" dirty="0" err="1">
                <a:latin typeface="Tahoma" panose="020B0604030504040204" pitchFamily="34" charset="0"/>
                <a:ea typeface="Tahoma" panose="020B0604030504040204" pitchFamily="34" charset="0"/>
                <a:cs typeface="Tahoma" panose="020B0604030504040204" pitchFamily="34" charset="0"/>
              </a:rPr>
              <a:t>doar</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valori</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implicite</a:t>
            </a:r>
            <a:endParaRPr lang="en-US" sz="2000" dirty="0">
              <a:latin typeface="Tahoma" panose="020B0604030504040204" pitchFamily="34" charset="0"/>
              <a:ea typeface="Tahoma" panose="020B0604030504040204" pitchFamily="34" charset="0"/>
              <a:cs typeface="Tahoma" panose="020B0604030504040204" pitchFamily="34" charset="0"/>
            </a:endParaRP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Analiza </a:t>
            </a:r>
            <a:r>
              <a:rPr lang="en-US" sz="2000" dirty="0" err="1">
                <a:latin typeface="Tahoma" panose="020B0604030504040204" pitchFamily="34" charset="0"/>
                <a:ea typeface="Tahoma" panose="020B0604030504040204" pitchFamily="34" charset="0"/>
                <a:cs typeface="Tahoma" panose="020B0604030504040204" pitchFamily="34" charset="0"/>
              </a:rPr>
              <a:t>experienței</a:t>
            </a:r>
            <a:r>
              <a:rPr lang="en-US" sz="2000" dirty="0">
                <a:latin typeface="Tahoma" panose="020B0604030504040204" pitchFamily="34" charset="0"/>
                <a:ea typeface="Tahoma" panose="020B0604030504040204" pitchFamily="34" charset="0"/>
                <a:cs typeface="Tahoma" panose="020B0604030504040204" pitchFamily="34" charset="0"/>
              </a:rPr>
              <a:t> de </a:t>
            </a:r>
            <a:r>
              <a:rPr lang="en-US" sz="2000" dirty="0" err="1">
                <a:latin typeface="Tahoma" panose="020B0604030504040204" pitchFamily="34" charset="0"/>
                <a:ea typeface="Tahoma" panose="020B0604030504040204" pitchFamily="34" charset="0"/>
                <a:cs typeface="Tahoma" panose="020B0604030504040204" pitchFamily="34" charset="0"/>
              </a:rPr>
              <a:t>utilizare</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înaintea</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dezvoltării</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interfeței</a:t>
            </a:r>
            <a:r>
              <a:rPr lang="en-US" sz="2000" dirty="0">
                <a:latin typeface="Tahoma" panose="020B0604030504040204" pitchFamily="34" charset="0"/>
                <a:ea typeface="Tahoma" panose="020B0604030504040204" pitchFamily="34" charset="0"/>
                <a:cs typeface="Tahoma" panose="020B0604030504040204" pitchFamily="34" charset="0"/>
              </a:rPr>
              <a:t> de </a:t>
            </a:r>
            <a:r>
              <a:rPr lang="en-US" sz="2000" dirty="0" err="1">
                <a:latin typeface="Tahoma" panose="020B0604030504040204" pitchFamily="34" charset="0"/>
                <a:ea typeface="Tahoma" panose="020B0604030504040204" pitchFamily="34" charset="0"/>
                <a:cs typeface="Tahoma" panose="020B0604030504040204" pitchFamily="34" charset="0"/>
              </a:rPr>
              <a:t>utilizare</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poate</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îmbunătăți</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err="1">
                <a:latin typeface="Tahoma" panose="020B0604030504040204" pitchFamily="34" charset="0"/>
                <a:ea typeface="Tahoma" panose="020B0604030504040204" pitchFamily="34" charset="0"/>
                <a:cs typeface="Tahoma" panose="020B0604030504040204" pitchFamily="34" charset="0"/>
              </a:rPr>
              <a:t>experiența</a:t>
            </a:r>
            <a:r>
              <a:rPr lang="en-US" sz="2000" dirty="0">
                <a:latin typeface="Tahoma" panose="020B0604030504040204" pitchFamily="34" charset="0"/>
                <a:ea typeface="Tahoma" panose="020B0604030504040204" pitchFamily="34" charset="0"/>
                <a:cs typeface="Tahoma" panose="020B0604030504040204" pitchFamily="34" charset="0"/>
              </a:rPr>
              <a:t> de </a:t>
            </a:r>
            <a:r>
              <a:rPr lang="en-US" sz="2000" dirty="0" err="1">
                <a:latin typeface="Tahoma" panose="020B0604030504040204" pitchFamily="34" charset="0"/>
                <a:ea typeface="Tahoma" panose="020B0604030504040204" pitchFamily="34" charset="0"/>
                <a:cs typeface="Tahoma" panose="020B0604030504040204" pitchFamily="34" charset="0"/>
              </a:rPr>
              <a:t>utilizare</a:t>
            </a: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228600" defTabSz="914400">
              <a:lnSpc>
                <a:spcPct val="120000"/>
              </a:lnSpc>
              <a:spcAft>
                <a:spcPts val="600"/>
              </a:spcAft>
              <a:buClr>
                <a:schemeClr val="accent1"/>
              </a:buClr>
              <a:buSzPct val="160000"/>
              <a:buFont typeface="Arial" panose="020B0604020202020204" pitchFamily="34" charset="0"/>
              <a:buChar char="•"/>
            </a:pPr>
            <a:endParaRPr lang="en-US" cap="all" dirty="0"/>
          </a:p>
        </p:txBody>
      </p:sp>
    </p:spTree>
    <p:extLst>
      <p:ext uri="{BB962C8B-B14F-4D97-AF65-F5344CB8AC3E}">
        <p14:creationId xmlns:p14="http://schemas.microsoft.com/office/powerpoint/2010/main" val="2022003934"/>
      </p:ext>
    </p:extLst>
  </p:cSld>
  <p:clrMapOvr>
    <a:masterClrMapping/>
  </p:clrMapOvr>
  <p:transition spd="slow">
    <p:comb/>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FA20A3C-BD33-4BC0-BAA2-683C4F29A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FF51F4B5-F243-485B-AEFF-8A23923327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F6DDD77F-AF4E-4699-83CA-25E67DE02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E54D6B7E-A890-4096-B04C-986095FD4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73BABC7B-87BC-419D-A42E-34400A920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4684442" y="0"/>
            <a:ext cx="6342822" cy="1151965"/>
          </a:xfrm>
        </p:spPr>
        <p:txBody>
          <a:bodyPr vert="horz" lIns="91440" tIns="45720" rIns="91440" bIns="45720" rtlCol="0" anchor="ctr">
            <a:normAutofit/>
          </a:bodyPr>
          <a:lstStyle/>
          <a:p>
            <a:pPr algn="l"/>
            <a:r>
              <a:rPr lang="ro-RO" sz="4300" cap="none" dirty="0">
                <a:latin typeface="Tahoma" panose="020B0604030504040204" pitchFamily="34" charset="0"/>
                <a:ea typeface="Tahoma" panose="020B0604030504040204" pitchFamily="34" charset="0"/>
                <a:cs typeface="Tahoma" panose="020B0604030504040204" pitchFamily="34" charset="0"/>
              </a:rPr>
              <a:t>Formulare</a:t>
            </a:r>
            <a:endParaRPr lang="en-US" sz="4300" cap="none" dirty="0">
              <a:latin typeface="Tahoma" panose="020B0604030504040204" pitchFamily="34" charset="0"/>
              <a:ea typeface="Tahoma" panose="020B0604030504040204" pitchFamily="34" charset="0"/>
              <a:cs typeface="Tahoma" panose="020B0604030504040204" pitchFamily="34" charset="0"/>
            </a:endParaRPr>
          </a:p>
        </p:txBody>
      </p:sp>
      <p:sp>
        <p:nvSpPr>
          <p:cNvPr id="139" name="Rectangle 138">
            <a:extLst>
              <a:ext uri="{FF2B5EF4-FFF2-40B4-BE49-F238E27FC236}">
                <a16:creationId xmlns:a16="http://schemas.microsoft.com/office/drawing/2014/main" id="{993BAF99-563B-4D70-A7B7-70F3B39EC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41" y="457200"/>
            <a:ext cx="3787611" cy="4686138"/>
          </a:xfrm>
          <a:prstGeom prst="rect">
            <a:avLst/>
          </a:prstGeom>
          <a:solidFill>
            <a:schemeClr val="bg1"/>
          </a:solidFill>
          <a:ln w="57150" cmpd="thinThick">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C58B311-ABD0-E6E8-72D6-EB69AAD69D4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7758" y="1617266"/>
            <a:ext cx="3770093" cy="3135930"/>
          </a:xfrm>
          <a:prstGeom prst="rect">
            <a:avLst/>
          </a:prstGeom>
        </p:spPr>
      </p:pic>
      <p:sp>
        <p:nvSpPr>
          <p:cNvPr id="5" name="TextBox 4">
            <a:extLst>
              <a:ext uri="{FF2B5EF4-FFF2-40B4-BE49-F238E27FC236}">
                <a16:creationId xmlns:a16="http://schemas.microsoft.com/office/drawing/2014/main" id="{98F2A94A-0481-521E-3EB4-9E75519A989F}"/>
              </a:ext>
            </a:extLst>
          </p:cNvPr>
          <p:cNvSpPr txBox="1"/>
          <p:nvPr/>
        </p:nvSpPr>
        <p:spPr>
          <a:xfrm>
            <a:off x="4739012" y="979055"/>
            <a:ext cx="6341495" cy="4582441"/>
          </a:xfrm>
          <a:prstGeom prst="rect">
            <a:avLst/>
          </a:prstGeom>
        </p:spPr>
        <p:txBody>
          <a:bodyPr vert="horz" lIns="91440" tIns="45720" rIns="91440" bIns="45720" rtlCol="0" anchor="ctr">
            <a:normAutofit fontScale="70000" lnSpcReduction="20000"/>
          </a:bodyPr>
          <a:lstStyle/>
          <a:p>
            <a:pPr marL="342900" indent="-228600" defTabSz="914400">
              <a:lnSpc>
                <a:spcPct val="120000"/>
              </a:lnSpc>
              <a:spcAft>
                <a:spcPts val="600"/>
              </a:spcAft>
              <a:buClr>
                <a:schemeClr val="accent1"/>
              </a:buClr>
              <a:buSzPct val="160000"/>
              <a:buFont typeface="Arial" panose="020B0604020202020204" pitchFamily="34" charset="0"/>
              <a:buChar char="•"/>
            </a:pPr>
            <a:r>
              <a:rPr lang="ro-RO" sz="3400" dirty="0">
                <a:latin typeface="Tahoma" panose="020B0604030504040204" pitchFamily="34" charset="0"/>
                <a:ea typeface="Tahoma" panose="020B0604030504040204" pitchFamily="34" charset="0"/>
                <a:cs typeface="Tahoma" panose="020B0604030504040204" pitchFamily="34" charset="0"/>
              </a:rPr>
              <a:t>Formulare bune ♡ produs bun</a:t>
            </a:r>
            <a:endParaRPr lang="en-US" sz="3400" dirty="0">
              <a:latin typeface="Tahoma" panose="020B0604030504040204" pitchFamily="34" charset="0"/>
              <a:ea typeface="Tahoma" panose="020B0604030504040204" pitchFamily="34" charset="0"/>
              <a:cs typeface="Tahoma" panose="020B0604030504040204" pitchFamily="34" charset="0"/>
            </a:endParaRP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2600" dirty="0">
                <a:latin typeface="Tahoma" panose="020B0604030504040204" pitchFamily="34" charset="0"/>
                <a:ea typeface="Tahoma" panose="020B0604030504040204" pitchFamily="34" charset="0"/>
                <a:cs typeface="Tahoma" panose="020B0604030504040204" pitchFamily="34" charset="0"/>
              </a:rPr>
              <a:t>O serie întreagă de aplicații sunt, esențialmente, formulare</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2600" dirty="0">
                <a:latin typeface="Tahoma" panose="020B0604030504040204" pitchFamily="34" charset="0"/>
                <a:ea typeface="Tahoma" panose="020B0604030504040204" pitchFamily="34" charset="0"/>
                <a:cs typeface="Tahoma" panose="020B0604030504040204" pitchFamily="34" charset="0"/>
              </a:rPr>
              <a:t>Regulă principală: să nu fie cerute mai multe informații decât este cazul – regula </a:t>
            </a:r>
            <a:r>
              <a:rPr lang="ro-RO" sz="2600" i="1" dirty="0">
                <a:latin typeface="Tahoma" panose="020B0604030504040204" pitchFamily="34" charset="0"/>
                <a:ea typeface="Tahoma" panose="020B0604030504040204" pitchFamily="34" charset="0"/>
                <a:cs typeface="Tahoma" panose="020B0604030504040204" pitchFamily="34" charset="0"/>
                <a:hlinkClick r:id="rId5"/>
              </a:rPr>
              <a:t>keep it short</a:t>
            </a:r>
            <a:r>
              <a:rPr lang="ro-RO" sz="2600" i="1" dirty="0">
                <a:latin typeface="Tahoma" panose="020B0604030504040204" pitchFamily="34" charset="0"/>
                <a:ea typeface="Tahoma" panose="020B0604030504040204" pitchFamily="34" charset="0"/>
                <a:cs typeface="Tahoma" panose="020B0604030504040204" pitchFamily="34" charset="0"/>
              </a:rPr>
              <a:t>:</a:t>
            </a:r>
            <a:r>
              <a:rPr lang="en-GB" sz="2600" i="1" dirty="0">
                <a:latin typeface="Tahoma" panose="020B0604030504040204" pitchFamily="34" charset="0"/>
                <a:ea typeface="Tahoma" panose="020B0604030504040204" pitchFamily="34" charset="0"/>
                <a:cs typeface="Tahoma" panose="020B0604030504040204" pitchFamily="34" charset="0"/>
              </a:rPr>
              <a:t> ”I have made this longer than usual because I have not had time to make it shorter”</a:t>
            </a:r>
            <a:r>
              <a:rPr lang="ro-RO" sz="2600" i="1" dirty="0">
                <a:latin typeface="Tahoma" panose="020B0604030504040204" pitchFamily="34" charset="0"/>
                <a:ea typeface="Tahoma" panose="020B0604030504040204" pitchFamily="34" charset="0"/>
                <a:cs typeface="Tahoma" panose="020B0604030504040204" pitchFamily="34" charset="0"/>
              </a:rPr>
              <a:t> </a:t>
            </a:r>
            <a:r>
              <a:rPr lang="ro-RO" sz="2600" dirty="0">
                <a:latin typeface="Tahoma" panose="020B0604030504040204" pitchFamily="34" charset="0"/>
                <a:ea typeface="Tahoma" panose="020B0604030504040204" pitchFamily="34" charset="0"/>
                <a:cs typeface="Tahoma" panose="020B0604030504040204" pitchFamily="34" charset="0"/>
              </a:rPr>
              <a:t>(B. Pascal)</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2600" dirty="0">
                <a:latin typeface="Tahoma" panose="020B0604030504040204" pitchFamily="34" charset="0"/>
                <a:ea typeface="Tahoma" panose="020B0604030504040204" pitchFamily="34" charset="0"/>
                <a:cs typeface="Tahoma" panose="020B0604030504040204" pitchFamily="34" charset="0"/>
              </a:rPr>
              <a:t>Varianta cea mai simplă: e-mail/telefon+parolă</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2600" dirty="0">
                <a:latin typeface="Tahoma" panose="020B0604030504040204" pitchFamily="34" charset="0"/>
                <a:ea typeface="Tahoma" panose="020B0604030504040204" pitchFamily="34" charset="0"/>
                <a:cs typeface="Tahoma" panose="020B0604030504040204" pitchFamily="34" charset="0"/>
              </a:rPr>
              <a:t>Eventual alte informații, în funcție de natura produsului: nume (atenție la lungimea câmpului), adresă (nenecesară dacă nu sunt efectiv trimise produse), </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en-US" sz="2600" dirty="0" err="1">
                <a:latin typeface="Tahoma" panose="020B0604030504040204" pitchFamily="34" charset="0"/>
                <a:ea typeface="Tahoma" panose="020B0604030504040204" pitchFamily="34" charset="0"/>
                <a:cs typeface="Tahoma" panose="020B0604030504040204" pitchFamily="34" charset="0"/>
              </a:rPr>
              <a:t>Recomandat</a:t>
            </a:r>
            <a:r>
              <a:rPr lang="en-US" sz="2600" dirty="0">
                <a:latin typeface="Tahoma" panose="020B0604030504040204" pitchFamily="34" charset="0"/>
                <a:ea typeface="Tahoma" panose="020B0604030504040204" pitchFamily="34" charset="0"/>
                <a:cs typeface="Tahoma" panose="020B0604030504040204" pitchFamily="34" charset="0"/>
              </a:rPr>
              <a:t> s</a:t>
            </a:r>
            <a:r>
              <a:rPr lang="ro-RO" sz="2600" dirty="0">
                <a:latin typeface="Tahoma" panose="020B0604030504040204" pitchFamily="34" charset="0"/>
                <a:ea typeface="Tahoma" panose="020B0604030504040204" pitchFamily="34" charset="0"/>
                <a:cs typeface="Tahoma" panose="020B0604030504040204" pitchFamily="34" charset="0"/>
              </a:rPr>
              <a:t>ă </a:t>
            </a:r>
            <a:r>
              <a:rPr lang="en-US" sz="2600" dirty="0">
                <a:latin typeface="Tahoma" panose="020B0604030504040204" pitchFamily="34" charset="0"/>
                <a:ea typeface="Tahoma" panose="020B0604030504040204" pitchFamily="34" charset="0"/>
                <a:cs typeface="Tahoma" panose="020B0604030504040204" pitchFamily="34" charset="0"/>
              </a:rPr>
              <a:t>fie </a:t>
            </a:r>
            <a:r>
              <a:rPr lang="en-US" sz="2600" dirty="0" err="1">
                <a:latin typeface="Tahoma" panose="020B0604030504040204" pitchFamily="34" charset="0"/>
                <a:ea typeface="Tahoma" panose="020B0604030504040204" pitchFamily="34" charset="0"/>
                <a:cs typeface="Tahoma" panose="020B0604030504040204" pitchFamily="34" charset="0"/>
              </a:rPr>
              <a:t>explicat</a:t>
            </a:r>
            <a:r>
              <a:rPr lang="en-US" sz="2600" dirty="0">
                <a:latin typeface="Tahoma" panose="020B0604030504040204" pitchFamily="34" charset="0"/>
                <a:ea typeface="Tahoma" panose="020B0604030504040204" pitchFamily="34" charset="0"/>
                <a:cs typeface="Tahoma" panose="020B0604030504040204" pitchFamily="34" charset="0"/>
              </a:rPr>
              <a:t> </a:t>
            </a:r>
            <a:r>
              <a:rPr lang="ro-RO" sz="2600" dirty="0">
                <a:latin typeface="Tahoma" panose="020B0604030504040204" pitchFamily="34" charset="0"/>
                <a:ea typeface="Tahoma" panose="020B0604030504040204" pitchFamily="34" charset="0"/>
                <a:cs typeface="Tahoma" panose="020B0604030504040204" pitchFamily="34" charset="0"/>
              </a:rPr>
              <a:t>de ce sunt colectate anumite date și cum vor fi utilizate</a:t>
            </a:r>
            <a:endParaRPr lang="en-US" sz="2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740701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FA20A3C-BD33-4BC0-BAA2-683C4F29A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FF51F4B5-F243-485B-AEFF-8A23923327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F6DDD77F-AF4E-4699-83CA-25E67DE02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E54D6B7E-A890-4096-B04C-986095FD4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73BABC7B-87BC-419D-A42E-34400A920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4684442" y="0"/>
            <a:ext cx="6342822" cy="1151965"/>
          </a:xfrm>
        </p:spPr>
        <p:txBody>
          <a:bodyPr vert="horz" lIns="91440" tIns="45720" rIns="91440" bIns="45720" rtlCol="0" anchor="ctr">
            <a:normAutofit/>
          </a:bodyPr>
          <a:lstStyle/>
          <a:p>
            <a:pPr algn="l"/>
            <a:r>
              <a:rPr lang="ro-RO" sz="4300" cap="none" dirty="0">
                <a:latin typeface="Tahoma" panose="020B0604030504040204" pitchFamily="34" charset="0"/>
                <a:ea typeface="Tahoma" panose="020B0604030504040204" pitchFamily="34" charset="0"/>
                <a:cs typeface="Tahoma" panose="020B0604030504040204" pitchFamily="34" charset="0"/>
              </a:rPr>
              <a:t>Formulare</a:t>
            </a:r>
            <a:endParaRPr lang="en-US" sz="4300" cap="none" dirty="0">
              <a:latin typeface="Tahoma" panose="020B0604030504040204" pitchFamily="34" charset="0"/>
              <a:ea typeface="Tahoma" panose="020B0604030504040204" pitchFamily="34" charset="0"/>
              <a:cs typeface="Tahoma" panose="020B0604030504040204" pitchFamily="34" charset="0"/>
            </a:endParaRPr>
          </a:p>
        </p:txBody>
      </p:sp>
      <p:sp>
        <p:nvSpPr>
          <p:cNvPr id="139" name="Rectangle 138">
            <a:extLst>
              <a:ext uri="{FF2B5EF4-FFF2-40B4-BE49-F238E27FC236}">
                <a16:creationId xmlns:a16="http://schemas.microsoft.com/office/drawing/2014/main" id="{993BAF99-563B-4D70-A7B7-70F3B39EC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41" y="457200"/>
            <a:ext cx="3787611" cy="4686138"/>
          </a:xfrm>
          <a:prstGeom prst="rect">
            <a:avLst/>
          </a:prstGeom>
          <a:solidFill>
            <a:schemeClr val="bg1"/>
          </a:solidFill>
          <a:ln w="57150" cmpd="thinThick">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C58B311-ABD0-E6E8-72D6-EB69AAD69D4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7758" y="1617266"/>
            <a:ext cx="3770093" cy="3135930"/>
          </a:xfrm>
          <a:prstGeom prst="rect">
            <a:avLst/>
          </a:prstGeom>
        </p:spPr>
      </p:pic>
      <p:sp>
        <p:nvSpPr>
          <p:cNvPr id="5" name="TextBox 4">
            <a:extLst>
              <a:ext uri="{FF2B5EF4-FFF2-40B4-BE49-F238E27FC236}">
                <a16:creationId xmlns:a16="http://schemas.microsoft.com/office/drawing/2014/main" id="{98F2A94A-0481-521E-3EB4-9E75519A989F}"/>
              </a:ext>
            </a:extLst>
          </p:cNvPr>
          <p:cNvSpPr txBox="1"/>
          <p:nvPr/>
        </p:nvSpPr>
        <p:spPr>
          <a:xfrm>
            <a:off x="4591230" y="775855"/>
            <a:ext cx="6991170" cy="4912152"/>
          </a:xfrm>
          <a:prstGeom prst="rect">
            <a:avLst/>
          </a:prstGeom>
        </p:spPr>
        <p:txBody>
          <a:bodyPr vert="horz" lIns="91440" tIns="45720" rIns="91440" bIns="45720" rtlCol="0" anchor="ctr">
            <a:normAutofit fontScale="25000" lnSpcReduction="20000"/>
          </a:bodyPr>
          <a:lstStyle/>
          <a:p>
            <a:pPr marL="342900" indent="-228600" defTabSz="914400">
              <a:lnSpc>
                <a:spcPct val="120000"/>
              </a:lnSpc>
              <a:spcAft>
                <a:spcPts val="600"/>
              </a:spcAft>
              <a:buClr>
                <a:schemeClr val="accent1"/>
              </a:buClr>
              <a:buSzPct val="160000"/>
              <a:buFont typeface="Arial" panose="020B0604020202020204" pitchFamily="34" charset="0"/>
              <a:buChar char="•"/>
            </a:pPr>
            <a:r>
              <a:rPr lang="ro-RO" sz="9600" dirty="0">
                <a:latin typeface="Tahoma" panose="020B0604030504040204" pitchFamily="34" charset="0"/>
                <a:ea typeface="Tahoma" panose="020B0604030504040204" pitchFamily="34" charset="0"/>
                <a:cs typeface="Tahoma" panose="020B0604030504040204" pitchFamily="34" charset="0"/>
              </a:rPr>
              <a:t>Validarea rapidă a datelor de intrare</a:t>
            </a:r>
            <a:endParaRPr lang="en-US" sz="9600" dirty="0">
              <a:latin typeface="Tahoma" panose="020B0604030504040204" pitchFamily="34" charset="0"/>
              <a:ea typeface="Tahoma" panose="020B0604030504040204" pitchFamily="34" charset="0"/>
              <a:cs typeface="Tahoma" panose="020B0604030504040204" pitchFamily="34" charset="0"/>
            </a:endParaRP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6400" dirty="0">
                <a:latin typeface="Tahoma" panose="020B0604030504040204" pitchFamily="34" charset="0"/>
                <a:ea typeface="Tahoma" panose="020B0604030504040204" pitchFamily="34" charset="0"/>
                <a:cs typeface="Tahoma" panose="020B0604030504040204" pitchFamily="34" charset="0"/>
              </a:rPr>
              <a:t>Validare înseamnă transmiterea unui </a:t>
            </a:r>
            <a:r>
              <a:rPr lang="ro-RO" sz="6400" i="1" dirty="0">
                <a:latin typeface="Tahoma" panose="020B0604030504040204" pitchFamily="34" charset="0"/>
                <a:ea typeface="Tahoma" panose="020B0604030504040204" pitchFamily="34" charset="0"/>
                <a:cs typeface="Tahoma" panose="020B0604030504040204" pitchFamily="34" charset="0"/>
              </a:rPr>
              <a:t>feedback </a:t>
            </a:r>
            <a:r>
              <a:rPr lang="ro-RO" sz="6400" dirty="0">
                <a:latin typeface="Tahoma" panose="020B0604030504040204" pitchFamily="34" charset="0"/>
                <a:ea typeface="Tahoma" panose="020B0604030504040204" pitchFamily="34" charset="0"/>
                <a:cs typeface="Tahoma" panose="020B0604030504040204" pitchFamily="34" charset="0"/>
              </a:rPr>
              <a:t>utilizatorului - inclusiv referitor la lipsa unor informații </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6400" dirty="0">
                <a:latin typeface="Tahoma" panose="020B0604030504040204" pitchFamily="34" charset="0"/>
                <a:ea typeface="Tahoma" panose="020B0604030504040204" pitchFamily="34" charset="0"/>
                <a:cs typeface="Tahoma" panose="020B0604030504040204" pitchFamily="34" charset="0"/>
              </a:rPr>
              <a:t>Ideal: să fie realizată în timp real, dar după ce a fost completat câmpul</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6400" dirty="0">
                <a:latin typeface="Tahoma" panose="020B0604030504040204" pitchFamily="34" charset="0"/>
                <a:ea typeface="Tahoma" panose="020B0604030504040204" pitchFamily="34" charset="0"/>
                <a:cs typeface="Tahoma" panose="020B0604030504040204" pitchFamily="34" charset="0"/>
              </a:rPr>
              <a:t>Existența unei erori nu înseamnă însă ștergerea/golirea formularului</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6400" dirty="0">
                <a:latin typeface="Tahoma" panose="020B0604030504040204" pitchFamily="34" charset="0"/>
                <a:ea typeface="Tahoma" panose="020B0604030504040204" pitchFamily="34" charset="0"/>
                <a:cs typeface="Tahoma" panose="020B0604030504040204" pitchFamily="34" charset="0"/>
              </a:rPr>
              <a:t>Exemple: numere de telefon incomplete, completarea datelor (plecarea înaintea sosirii)</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6400" dirty="0">
                <a:latin typeface="Tahoma" panose="020B0604030504040204" pitchFamily="34" charset="0"/>
                <a:ea typeface="Tahoma" panose="020B0604030504040204" pitchFamily="34" charset="0"/>
                <a:cs typeface="Tahoma" panose="020B0604030504040204" pitchFamily="34" charset="0"/>
              </a:rPr>
              <a:t>Sugestii pentru completarea unor erori (de exemplu </a:t>
            </a:r>
            <a:r>
              <a:rPr lang="ro-RO" sz="6400" i="1" dirty="0">
                <a:latin typeface="Tahoma" panose="020B0604030504040204" pitchFamily="34" charset="0"/>
                <a:ea typeface="Tahoma" panose="020B0604030504040204" pitchFamily="34" charset="0"/>
                <a:cs typeface="Tahoma" panose="020B0604030504040204" pitchFamily="34" charset="0"/>
              </a:rPr>
              <a:t>gmil.com </a:t>
            </a:r>
            <a:r>
              <a:rPr lang="ro-RO" sz="6400" dirty="0">
                <a:latin typeface="Tahoma" panose="020B0604030504040204" pitchFamily="34" charset="0"/>
                <a:ea typeface="Tahoma" panose="020B0604030504040204" pitchFamily="34" charset="0"/>
                <a:cs typeface="Tahoma" panose="020B0604030504040204" pitchFamily="34" charset="0"/>
              </a:rPr>
              <a:t>în loc de </a:t>
            </a:r>
            <a:r>
              <a:rPr lang="ro-RO" sz="6400" i="1" dirty="0">
                <a:latin typeface="Tahoma" panose="020B0604030504040204" pitchFamily="34" charset="0"/>
                <a:ea typeface="Tahoma" panose="020B0604030504040204" pitchFamily="34" charset="0"/>
                <a:cs typeface="Tahoma" panose="020B0604030504040204" pitchFamily="34" charset="0"/>
              </a:rPr>
              <a:t>gmail.com</a:t>
            </a:r>
            <a:r>
              <a:rPr lang="ro-RO" sz="6400" dirty="0">
                <a:latin typeface="Tahoma" panose="020B0604030504040204" pitchFamily="34" charset="0"/>
                <a:ea typeface="Tahoma" panose="020B0604030504040204" pitchFamily="34" charset="0"/>
                <a:cs typeface="Tahoma" panose="020B0604030504040204" pitchFamily="34" charset="0"/>
              </a:rPr>
              <a:t>) - analize statistice pentru erorile des întâlnite</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6400" dirty="0">
                <a:latin typeface="Tahoma" panose="020B0604030504040204" pitchFamily="34" charset="0"/>
                <a:ea typeface="Tahoma" panose="020B0604030504040204" pitchFamily="34" charset="0"/>
                <a:cs typeface="Tahoma" panose="020B0604030504040204" pitchFamily="34" charset="0"/>
              </a:rPr>
              <a:t>În cazul în care un formular nu poate fi validat pe componenta client: evitat un mesaj generic de tipul </a:t>
            </a:r>
            <a:r>
              <a:rPr lang="ro-RO" sz="6400" i="1" dirty="0">
                <a:latin typeface="Tahoma" panose="020B0604030504040204" pitchFamily="34" charset="0"/>
                <a:ea typeface="Tahoma" panose="020B0604030504040204" pitchFamily="34" charset="0"/>
                <a:cs typeface="Tahoma" panose="020B0604030504040204" pitchFamily="34" charset="0"/>
              </a:rPr>
              <a:t>there was an error</a:t>
            </a:r>
            <a:r>
              <a:rPr lang="ro-RO" sz="6400" dirty="0">
                <a:latin typeface="Tahoma" panose="020B0604030504040204" pitchFamily="34" charset="0"/>
                <a:ea typeface="Tahoma" panose="020B0604030504040204" pitchFamily="34" charset="0"/>
                <a:cs typeface="Tahoma" panose="020B0604030504040204" pitchFamily="34" charset="0"/>
              </a:rPr>
              <a:t> - indicată problema specifică / câmpul completat incorect (util de ex. în cazul persoanelor care utilizeaza tehnologii asistive), v. </a:t>
            </a:r>
            <a:r>
              <a:rPr lang="ro-RO" sz="6400" dirty="0">
                <a:latin typeface="Tahoma" panose="020B0604030504040204" pitchFamily="34" charset="0"/>
                <a:ea typeface="Tahoma" panose="020B0604030504040204" pitchFamily="34" charset="0"/>
                <a:cs typeface="Tahoma" panose="020B0604030504040204" pitchFamily="34" charset="0"/>
                <a:hlinkClick r:id="rId5"/>
              </a:rPr>
              <a:t>Web Content Accesibility Guidelines</a:t>
            </a:r>
            <a:endParaRPr lang="ro-RO" sz="6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3115995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FA20A3C-BD33-4BC0-BAA2-683C4F29A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FF51F4B5-F243-485B-AEFF-8A23923327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F6DDD77F-AF4E-4699-83CA-25E67DE02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E54D6B7E-A890-4096-B04C-986095FD4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73BABC7B-87BC-419D-A42E-34400A920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4684442" y="0"/>
            <a:ext cx="6342822" cy="1151965"/>
          </a:xfrm>
        </p:spPr>
        <p:txBody>
          <a:bodyPr vert="horz" lIns="91440" tIns="45720" rIns="91440" bIns="45720" rtlCol="0" anchor="ctr">
            <a:normAutofit/>
          </a:bodyPr>
          <a:lstStyle/>
          <a:p>
            <a:pPr algn="l"/>
            <a:r>
              <a:rPr lang="ro-RO" sz="4300" cap="none" dirty="0">
                <a:latin typeface="Tahoma" panose="020B0604030504040204" pitchFamily="34" charset="0"/>
                <a:ea typeface="Tahoma" panose="020B0604030504040204" pitchFamily="34" charset="0"/>
                <a:cs typeface="Tahoma" panose="020B0604030504040204" pitchFamily="34" charset="0"/>
              </a:rPr>
              <a:t>Formulare</a:t>
            </a:r>
            <a:endParaRPr lang="en-US" sz="4300" cap="none" dirty="0">
              <a:latin typeface="Tahoma" panose="020B0604030504040204" pitchFamily="34" charset="0"/>
              <a:ea typeface="Tahoma" panose="020B0604030504040204" pitchFamily="34" charset="0"/>
              <a:cs typeface="Tahoma" panose="020B0604030504040204" pitchFamily="34" charset="0"/>
            </a:endParaRPr>
          </a:p>
        </p:txBody>
      </p:sp>
      <p:sp>
        <p:nvSpPr>
          <p:cNvPr id="139" name="Rectangle 138">
            <a:extLst>
              <a:ext uri="{FF2B5EF4-FFF2-40B4-BE49-F238E27FC236}">
                <a16:creationId xmlns:a16="http://schemas.microsoft.com/office/drawing/2014/main" id="{993BAF99-563B-4D70-A7B7-70F3B39EC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41" y="457200"/>
            <a:ext cx="3787611" cy="4686138"/>
          </a:xfrm>
          <a:prstGeom prst="rect">
            <a:avLst/>
          </a:prstGeom>
          <a:solidFill>
            <a:schemeClr val="bg1"/>
          </a:solidFill>
          <a:ln w="57150" cmpd="thinThick">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8F2A94A-0481-521E-3EB4-9E75519A989F}"/>
              </a:ext>
            </a:extLst>
          </p:cNvPr>
          <p:cNvSpPr txBox="1"/>
          <p:nvPr/>
        </p:nvSpPr>
        <p:spPr>
          <a:xfrm>
            <a:off x="4591230" y="775855"/>
            <a:ext cx="6991170" cy="4912152"/>
          </a:xfrm>
          <a:prstGeom prst="rect">
            <a:avLst/>
          </a:prstGeom>
        </p:spPr>
        <p:txBody>
          <a:bodyPr vert="horz" lIns="91440" tIns="45720" rIns="91440" bIns="45720" rtlCol="0" anchor="ctr">
            <a:normAutofit fontScale="25000" lnSpcReduction="20000"/>
          </a:bodyPr>
          <a:lstStyle/>
          <a:p>
            <a:pPr marL="342900" indent="-228600" defTabSz="914400">
              <a:lnSpc>
                <a:spcPct val="120000"/>
              </a:lnSpc>
              <a:spcAft>
                <a:spcPts val="600"/>
              </a:spcAft>
              <a:buClr>
                <a:schemeClr val="accent1"/>
              </a:buClr>
              <a:buSzPct val="160000"/>
              <a:buFont typeface="Arial" panose="020B0604020202020204" pitchFamily="34" charset="0"/>
              <a:buChar char="•"/>
            </a:pPr>
            <a:r>
              <a:rPr lang="ro-RO" sz="9600" dirty="0">
                <a:latin typeface="Tahoma" panose="020B0604030504040204" pitchFamily="34" charset="0"/>
                <a:ea typeface="Tahoma" panose="020B0604030504040204" pitchFamily="34" charset="0"/>
                <a:cs typeface="Tahoma" panose="020B0604030504040204" pitchFamily="34" charset="0"/>
              </a:rPr>
              <a:t>Utilizarea unui element de control adecvat</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8000" dirty="0">
                <a:latin typeface="Tahoma" panose="020B0604030504040204" pitchFamily="34" charset="0"/>
                <a:ea typeface="Tahoma" panose="020B0604030504040204" pitchFamily="34" charset="0"/>
                <a:cs typeface="Tahoma" panose="020B0604030504040204" pitchFamily="34" charset="0"/>
              </a:rPr>
              <a:t>Există o serie întreagă de elemente de control care pot valorifica librării / caracteristici deja implementate / elemente native ale sistemului (de exemplu: culori, alegerea datei, etc.). Există elemente de control standardizate, nu este neapărat necesară generarea unei interfețe de utilizare proprii (de exemplu pentru selectarea unei culori) </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8000" dirty="0">
                <a:latin typeface="Tahoma" panose="020B0604030504040204" pitchFamily="34" charset="0"/>
                <a:ea typeface="Tahoma" panose="020B0604030504040204" pitchFamily="34" charset="0"/>
                <a:cs typeface="Tahoma" panose="020B0604030504040204" pitchFamily="34" charset="0"/>
              </a:rPr>
              <a:t>Pentru exact două opțiuni: </a:t>
            </a:r>
            <a:r>
              <a:rPr lang="ro-RO" sz="8000" i="1" dirty="0">
                <a:latin typeface="Tahoma" panose="020B0604030504040204" pitchFamily="34" charset="0"/>
                <a:ea typeface="Tahoma" panose="020B0604030504040204" pitchFamily="34" charset="0"/>
                <a:cs typeface="Tahoma" panose="020B0604030504040204" pitchFamily="34" charset="0"/>
              </a:rPr>
              <a:t>toggle switch </a:t>
            </a:r>
            <a:r>
              <a:rPr lang="ro-RO" sz="8000" dirty="0">
                <a:latin typeface="Tahoma" panose="020B0604030504040204" pitchFamily="34" charset="0"/>
                <a:ea typeface="Tahoma" panose="020B0604030504040204" pitchFamily="34" charset="0"/>
                <a:cs typeface="Tahoma" panose="020B0604030504040204" pitchFamily="34" charset="0"/>
              </a:rPr>
              <a:t>în loc de </a:t>
            </a:r>
            <a:r>
              <a:rPr lang="ro-RO" sz="8000" i="1" dirty="0">
                <a:latin typeface="Tahoma" panose="020B0604030504040204" pitchFamily="34" charset="0"/>
                <a:ea typeface="Tahoma" panose="020B0604030504040204" pitchFamily="34" charset="0"/>
                <a:cs typeface="Tahoma" panose="020B0604030504040204" pitchFamily="34" charset="0"/>
              </a:rPr>
              <a:t>radio buttons</a:t>
            </a:r>
            <a:endParaRPr lang="ro-RO" sz="8000" dirty="0">
              <a:latin typeface="Tahoma" panose="020B0604030504040204" pitchFamily="34" charset="0"/>
              <a:ea typeface="Tahoma" panose="020B0604030504040204" pitchFamily="34" charset="0"/>
              <a:cs typeface="Tahoma" panose="020B0604030504040204" pitchFamily="34" charset="0"/>
            </a:endParaRP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8000" i="1" dirty="0">
                <a:latin typeface="Tahoma" panose="020B0604030504040204" pitchFamily="34" charset="0"/>
                <a:ea typeface="Tahoma" panose="020B0604030504040204" pitchFamily="34" charset="0"/>
                <a:cs typeface="Tahoma" panose="020B0604030504040204" pitchFamily="34" charset="0"/>
              </a:rPr>
              <a:t>Drop-down menus: </a:t>
            </a:r>
            <a:r>
              <a:rPr lang="ro-RO" sz="8000" dirty="0">
                <a:latin typeface="Tahoma" panose="020B0604030504040204" pitchFamily="34" charset="0"/>
                <a:ea typeface="Tahoma" panose="020B0604030504040204" pitchFamily="34" charset="0"/>
                <a:cs typeface="Tahoma" panose="020B0604030504040204" pitchFamily="34" charset="0"/>
              </a:rPr>
              <a:t>adecvate pentru o listă lungă de opțiuni</a:t>
            </a:r>
          </a:p>
        </p:txBody>
      </p:sp>
      <p:pic>
        <p:nvPicPr>
          <p:cNvPr id="3" name="Picture 2">
            <a:extLst>
              <a:ext uri="{FF2B5EF4-FFF2-40B4-BE49-F238E27FC236}">
                <a16:creationId xmlns:a16="http://schemas.microsoft.com/office/drawing/2014/main" id="{85239C76-B95F-B0F2-2EAD-5761EFDA65DB}"/>
              </a:ext>
            </a:extLst>
          </p:cNvPr>
          <p:cNvPicPr>
            <a:picLocks noChangeAspect="1"/>
          </p:cNvPicPr>
          <p:nvPr/>
        </p:nvPicPr>
        <p:blipFill>
          <a:blip r:embed="rId4"/>
          <a:stretch>
            <a:fillRect/>
          </a:stretch>
        </p:blipFill>
        <p:spPr>
          <a:xfrm>
            <a:off x="541749" y="1571625"/>
            <a:ext cx="3708003" cy="3107011"/>
          </a:xfrm>
          <a:prstGeom prst="rect">
            <a:avLst/>
          </a:prstGeom>
        </p:spPr>
      </p:pic>
      <p:pic>
        <p:nvPicPr>
          <p:cNvPr id="7" name="Picture 6">
            <a:extLst>
              <a:ext uri="{FF2B5EF4-FFF2-40B4-BE49-F238E27FC236}">
                <a16:creationId xmlns:a16="http://schemas.microsoft.com/office/drawing/2014/main" id="{AE333FE0-4DD0-92A3-7FA0-D1D30ABF7363}"/>
              </a:ext>
            </a:extLst>
          </p:cNvPr>
          <p:cNvPicPr>
            <a:picLocks noChangeAspect="1"/>
          </p:cNvPicPr>
          <p:nvPr/>
        </p:nvPicPr>
        <p:blipFill>
          <a:blip r:embed="rId5"/>
          <a:stretch>
            <a:fillRect/>
          </a:stretch>
        </p:blipFill>
        <p:spPr>
          <a:xfrm>
            <a:off x="622503" y="981434"/>
            <a:ext cx="3585853" cy="447315"/>
          </a:xfrm>
          <a:prstGeom prst="rect">
            <a:avLst/>
          </a:prstGeom>
        </p:spPr>
      </p:pic>
    </p:spTree>
    <p:extLst>
      <p:ext uri="{BB962C8B-B14F-4D97-AF65-F5344CB8AC3E}">
        <p14:creationId xmlns:p14="http://schemas.microsoft.com/office/powerpoint/2010/main" val="741618513"/>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32" name="Picture 131">
            <a:extLst>
              <a:ext uri="{FF2B5EF4-FFF2-40B4-BE49-F238E27FC236}">
                <a16:creationId xmlns:a16="http://schemas.microsoft.com/office/drawing/2014/main" id="{8FA20A3C-BD33-4BC0-BAA2-683C4F29A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34" name="Group 133">
            <a:extLst>
              <a:ext uri="{FF2B5EF4-FFF2-40B4-BE49-F238E27FC236}">
                <a16:creationId xmlns:a16="http://schemas.microsoft.com/office/drawing/2014/main" id="{FF51F4B5-F243-485B-AEFF-8A23923327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5" name="Rectangle 134">
              <a:extLst>
                <a:ext uri="{FF2B5EF4-FFF2-40B4-BE49-F238E27FC236}">
                  <a16:creationId xmlns:a16="http://schemas.microsoft.com/office/drawing/2014/main" id="{F6DDD77F-AF4E-4699-83CA-25E67DE02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6" name="Freeform 11">
              <a:extLst>
                <a:ext uri="{FF2B5EF4-FFF2-40B4-BE49-F238E27FC236}">
                  <a16:creationId xmlns:a16="http://schemas.microsoft.com/office/drawing/2014/main" id="{E54D6B7E-A890-4096-B04C-986095FD4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7" name="Rectangle 136">
              <a:extLst>
                <a:ext uri="{FF2B5EF4-FFF2-40B4-BE49-F238E27FC236}">
                  <a16:creationId xmlns:a16="http://schemas.microsoft.com/office/drawing/2014/main" id="{73BABC7B-87BC-419D-A42E-34400A920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36" name="Title 1">
            <a:extLst>
              <a:ext uri="{FF2B5EF4-FFF2-40B4-BE49-F238E27FC236}">
                <a16:creationId xmlns:a16="http://schemas.microsoft.com/office/drawing/2014/main" id="{B4CD7CFD-2E8F-D6FA-A197-8F2811F55CD5}"/>
              </a:ext>
            </a:extLst>
          </p:cNvPr>
          <p:cNvSpPr>
            <a:spLocks noGrp="1"/>
          </p:cNvSpPr>
          <p:nvPr>
            <p:ph type="title"/>
          </p:nvPr>
        </p:nvSpPr>
        <p:spPr>
          <a:xfrm>
            <a:off x="4684442" y="0"/>
            <a:ext cx="6342822" cy="1151965"/>
          </a:xfrm>
        </p:spPr>
        <p:txBody>
          <a:bodyPr vert="horz" lIns="91440" tIns="45720" rIns="91440" bIns="45720" rtlCol="0" anchor="ctr">
            <a:normAutofit/>
          </a:bodyPr>
          <a:lstStyle/>
          <a:p>
            <a:pPr algn="l"/>
            <a:r>
              <a:rPr lang="ro-RO" sz="4300" cap="none" dirty="0">
                <a:latin typeface="Tahoma" panose="020B0604030504040204" pitchFamily="34" charset="0"/>
                <a:ea typeface="Tahoma" panose="020B0604030504040204" pitchFamily="34" charset="0"/>
                <a:cs typeface="Tahoma" panose="020B0604030504040204" pitchFamily="34" charset="0"/>
              </a:rPr>
              <a:t>Formulare</a:t>
            </a:r>
            <a:endParaRPr lang="en-US" sz="4300" cap="none" dirty="0">
              <a:latin typeface="Tahoma" panose="020B0604030504040204" pitchFamily="34" charset="0"/>
              <a:ea typeface="Tahoma" panose="020B0604030504040204" pitchFamily="34" charset="0"/>
              <a:cs typeface="Tahoma" panose="020B0604030504040204" pitchFamily="34" charset="0"/>
            </a:endParaRPr>
          </a:p>
        </p:txBody>
      </p:sp>
      <p:sp>
        <p:nvSpPr>
          <p:cNvPr id="139" name="Rectangle 138">
            <a:extLst>
              <a:ext uri="{FF2B5EF4-FFF2-40B4-BE49-F238E27FC236}">
                <a16:creationId xmlns:a16="http://schemas.microsoft.com/office/drawing/2014/main" id="{993BAF99-563B-4D70-A7B7-70F3B39EC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41" y="457200"/>
            <a:ext cx="3787611" cy="4686138"/>
          </a:xfrm>
          <a:prstGeom prst="rect">
            <a:avLst/>
          </a:prstGeom>
          <a:solidFill>
            <a:schemeClr val="bg1"/>
          </a:solidFill>
          <a:ln w="57150" cmpd="thinThick">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8F2A94A-0481-521E-3EB4-9E75519A989F}"/>
              </a:ext>
            </a:extLst>
          </p:cNvPr>
          <p:cNvSpPr txBox="1"/>
          <p:nvPr/>
        </p:nvSpPr>
        <p:spPr>
          <a:xfrm>
            <a:off x="4335576" y="775855"/>
            <a:ext cx="7412318" cy="4912152"/>
          </a:xfrm>
          <a:prstGeom prst="rect">
            <a:avLst/>
          </a:prstGeom>
        </p:spPr>
        <p:txBody>
          <a:bodyPr vert="horz" lIns="91440" tIns="45720" rIns="91440" bIns="45720" rtlCol="0" anchor="ctr">
            <a:normAutofit fontScale="25000" lnSpcReduction="20000"/>
          </a:bodyPr>
          <a:lstStyle/>
          <a:p>
            <a:pPr marL="342900" indent="-228600" defTabSz="914400">
              <a:lnSpc>
                <a:spcPct val="120000"/>
              </a:lnSpc>
              <a:spcAft>
                <a:spcPts val="600"/>
              </a:spcAft>
              <a:buClr>
                <a:schemeClr val="accent1"/>
              </a:buClr>
              <a:buSzPct val="160000"/>
              <a:buFont typeface="Arial" panose="020B0604020202020204" pitchFamily="34" charset="0"/>
              <a:buChar char="•"/>
            </a:pPr>
            <a:r>
              <a:rPr lang="ro-RO" sz="9600" dirty="0">
                <a:latin typeface="Tahoma" panose="020B0604030504040204" pitchFamily="34" charset="0"/>
                <a:ea typeface="Tahoma" panose="020B0604030504040204" pitchFamily="34" charset="0"/>
                <a:cs typeface="Tahoma" panose="020B0604030504040204" pitchFamily="34" charset="0"/>
              </a:rPr>
              <a:t>Formatul datelor: flexibilitate (</a:t>
            </a:r>
            <a:r>
              <a:rPr lang="ro-RO" sz="9600" i="1" dirty="0">
                <a:latin typeface="Tahoma" panose="020B0604030504040204" pitchFamily="34" charset="0"/>
                <a:ea typeface="Tahoma" panose="020B0604030504040204" pitchFamily="34" charset="0"/>
                <a:cs typeface="Tahoma" panose="020B0604030504040204" pitchFamily="34" charset="0"/>
              </a:rPr>
              <a:t>be forgiving)</a:t>
            </a:r>
            <a:endParaRPr lang="ro-RO" sz="9600" dirty="0">
              <a:latin typeface="Tahoma" panose="020B0604030504040204" pitchFamily="34" charset="0"/>
              <a:ea typeface="Tahoma" panose="020B0604030504040204" pitchFamily="34" charset="0"/>
              <a:cs typeface="Tahoma" panose="020B0604030504040204" pitchFamily="34" charset="0"/>
            </a:endParaRP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8000" dirty="0">
                <a:latin typeface="Tahoma" panose="020B0604030504040204" pitchFamily="34" charset="0"/>
                <a:ea typeface="Tahoma" panose="020B0604030504040204" pitchFamily="34" charset="0"/>
                <a:cs typeface="Tahoma" panose="020B0604030504040204" pitchFamily="34" charset="0"/>
              </a:rPr>
              <a:t>Situații în care utilizatorii nu au o experiență de utilizare convenabilă: (i) nu poate fi salvat numele, deoarece are un caracter special, (ii) nu poate fi introdus numărul de telefon din cauza modului de validare, (iii) spații libere între grupele de cifre ale cardului utilizat (sau nu?).</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8000" dirty="0">
                <a:latin typeface="Tahoma" panose="020B0604030504040204" pitchFamily="34" charset="0"/>
                <a:ea typeface="Tahoma" panose="020B0604030504040204" pitchFamily="34" charset="0"/>
                <a:cs typeface="Tahoma" panose="020B0604030504040204" pitchFamily="34" charset="0"/>
              </a:rPr>
              <a:t>Recomandări: (i) să fie permise caractere speciale, cratima, (ii) formate variate pentru numărul de telefon sau explicații clare de completare, (iii) ...</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8000" dirty="0">
                <a:latin typeface="Tahoma" panose="020B0604030504040204" pitchFamily="34" charset="0"/>
                <a:ea typeface="Tahoma" panose="020B0604030504040204" pitchFamily="34" charset="0"/>
                <a:cs typeface="Tahoma" panose="020B0604030504040204" pitchFamily="34" charset="0"/>
              </a:rPr>
              <a:t>Elemente de principiu: (i) utilizatorii să aibă libertate/flexibilitate în completarea câmpurilor, (ii) să poată fi omise câmpurile care nu sunt obligatorii. </a:t>
            </a:r>
          </a:p>
          <a:p>
            <a:pPr marL="914400" lvl="1" indent="-342900" defTabSz="914400">
              <a:lnSpc>
                <a:spcPct val="120000"/>
              </a:lnSpc>
              <a:spcAft>
                <a:spcPts val="600"/>
              </a:spcAft>
              <a:buClr>
                <a:schemeClr val="accent1"/>
              </a:buClr>
              <a:buSzPct val="160000"/>
              <a:buFont typeface="Courier New" panose="02070309020205020404" pitchFamily="49" charset="0"/>
              <a:buChar char="o"/>
            </a:pPr>
            <a:r>
              <a:rPr lang="ro-RO" sz="8000" dirty="0">
                <a:latin typeface="Tahoma" panose="020B0604030504040204" pitchFamily="34" charset="0"/>
                <a:ea typeface="Tahoma" panose="020B0604030504040204" pitchFamily="34" charset="0"/>
                <a:cs typeface="Tahoma" panose="020B0604030504040204" pitchFamily="34" charset="0"/>
              </a:rPr>
              <a:t>Aspect general: utilizator și dezvoltator. </a:t>
            </a:r>
          </a:p>
        </p:txBody>
      </p:sp>
      <p:pic>
        <p:nvPicPr>
          <p:cNvPr id="4" name="Picture 3">
            <a:extLst>
              <a:ext uri="{FF2B5EF4-FFF2-40B4-BE49-F238E27FC236}">
                <a16:creationId xmlns:a16="http://schemas.microsoft.com/office/drawing/2014/main" id="{9B6F041B-CABB-73CD-FB2B-F9E8BD086112}"/>
              </a:ext>
            </a:extLst>
          </p:cNvPr>
          <p:cNvPicPr>
            <a:picLocks noChangeAspect="1"/>
          </p:cNvPicPr>
          <p:nvPr/>
        </p:nvPicPr>
        <p:blipFill>
          <a:blip r:embed="rId4"/>
          <a:stretch>
            <a:fillRect/>
          </a:stretch>
        </p:blipFill>
        <p:spPr>
          <a:xfrm>
            <a:off x="547965" y="3014124"/>
            <a:ext cx="3643036" cy="1167351"/>
          </a:xfrm>
          <a:prstGeom prst="rect">
            <a:avLst/>
          </a:prstGeom>
        </p:spPr>
      </p:pic>
    </p:spTree>
    <p:extLst>
      <p:ext uri="{BB962C8B-B14F-4D97-AF65-F5344CB8AC3E}">
        <p14:creationId xmlns:p14="http://schemas.microsoft.com/office/powerpoint/2010/main" val="3559860361"/>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556186" y="0"/>
            <a:ext cx="6940489" cy="1151965"/>
          </a:xfrm>
        </p:spPr>
        <p:txBody>
          <a:bodyPr>
            <a:normAutofit fontScale="90000"/>
          </a:bodyPr>
          <a:lstStyle/>
          <a:p>
            <a:r>
              <a:rPr lang="ro-RO" sz="4300" cap="none" dirty="0">
                <a:latin typeface="Tahoma" panose="020B0604030504040204" pitchFamily="34" charset="0"/>
                <a:ea typeface="Tahoma" panose="020B0604030504040204" pitchFamily="34" charset="0"/>
                <a:cs typeface="Tahoma" panose="020B0604030504040204" pitchFamily="34" charset="0"/>
              </a:rPr>
              <a:t>Datele utilizatorilor (</a:t>
            </a:r>
            <a:r>
              <a:rPr lang="ro-RO" sz="4300" i="1" cap="none" dirty="0">
                <a:latin typeface="Tahoma" panose="020B0604030504040204" pitchFamily="34" charset="0"/>
                <a:ea typeface="Tahoma" panose="020B0604030504040204" pitchFamily="34" charset="0"/>
                <a:cs typeface="Tahoma" panose="020B0604030504040204" pitchFamily="34" charset="0"/>
              </a:rPr>
              <a:t>user data</a:t>
            </a:r>
            <a:r>
              <a:rPr lang="ro-RO" sz="4300" cap="none" dirty="0">
                <a:latin typeface="Tahoma" panose="020B0604030504040204" pitchFamily="34" charset="0"/>
                <a:ea typeface="Tahoma" panose="020B0604030504040204" pitchFamily="34" charset="0"/>
                <a:cs typeface="Tahoma" panose="020B0604030504040204" pitchFamily="34" charset="0"/>
              </a:rPr>
              <a:t>)</a:t>
            </a:r>
            <a:endParaRPr lang="en-GB" sz="4300" cap="none" dirty="0">
              <a:latin typeface="Tahoma" panose="020B0604030504040204" pitchFamily="34" charset="0"/>
              <a:ea typeface="Tahoma" panose="020B0604030504040204" pitchFamily="34" charset="0"/>
              <a:cs typeface="Tahoma" panose="020B0604030504040204" pitchFamily="34" charset="0"/>
            </a:endParaRPr>
          </a:p>
        </p:txBody>
      </p:sp>
      <p:pic>
        <p:nvPicPr>
          <p:cNvPr id="13" name="Picture 12" descr="White puzzle with one red piece">
            <a:extLst>
              <a:ext uri="{FF2B5EF4-FFF2-40B4-BE49-F238E27FC236}">
                <a16:creationId xmlns:a16="http://schemas.microsoft.com/office/drawing/2014/main" id="{03F261CC-1E3F-F1EC-B67D-17A0EB598515}"/>
              </a:ext>
            </a:extLst>
          </p:cNvPr>
          <p:cNvPicPr>
            <a:picLocks noChangeAspect="1"/>
          </p:cNvPicPr>
          <p:nvPr/>
        </p:nvPicPr>
        <p:blipFill rotWithShape="1">
          <a:blip r:embed="rId3"/>
          <a:srcRect l="30428" r="28825" b="2"/>
          <a:stretch/>
        </p:blipFill>
        <p:spPr>
          <a:xfrm>
            <a:off x="404226" y="10"/>
            <a:ext cx="3840480" cy="5301586"/>
          </a:xfrm>
          <a:prstGeom prst="rect">
            <a:avLst/>
          </a:prstGeom>
          <a:ln w="57150" cmpd="thinThick">
            <a:solidFill>
              <a:schemeClr val="bg1">
                <a:lumMod val="50000"/>
              </a:schemeClr>
            </a:solidFill>
            <a:miter lim="800000"/>
          </a:ln>
        </p:spPr>
      </p:pic>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701906" y="762000"/>
            <a:ext cx="6380777" cy="4612586"/>
          </a:xfrm>
        </p:spPr>
        <p:txBody>
          <a:bodyPr>
            <a:normAutofit/>
          </a:bodyPr>
          <a:lstStyle/>
          <a:p>
            <a:pPr>
              <a:buClrTx/>
            </a:pPr>
            <a:r>
              <a:rPr lang="ro-RO" sz="2400" cap="none" dirty="0">
                <a:latin typeface="Tahoma" panose="020B0604030504040204" pitchFamily="34" charset="0"/>
                <a:ea typeface="Tahoma" panose="020B0604030504040204" pitchFamily="34" charset="0"/>
                <a:cs typeface="Tahoma" panose="020B0604030504040204" pitchFamily="34" charset="0"/>
              </a:rPr>
              <a:t>Numere de telefon</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Utilizatorii să poată introduce numere de telefon în formatul dorit de ei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Aspect important: dacă un număr de telefon este realmente important pentru aplicație și trebuie colectat</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Pentru aplicații mobile: caracteristici native ale dispozitivului</a:t>
            </a:r>
          </a:p>
          <a:p>
            <a:pPr lvl="1">
              <a:buClrTx/>
              <a:buFont typeface="Courier New" panose="02070309020205020404" pitchFamily="49" charset="0"/>
              <a:buChar char="o"/>
            </a:pPr>
            <a:endParaRPr lang="ro-RO"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400345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556186" y="0"/>
            <a:ext cx="6940489" cy="1151965"/>
          </a:xfrm>
        </p:spPr>
        <p:txBody>
          <a:bodyPr>
            <a:normAutofit fontScale="90000"/>
          </a:bodyPr>
          <a:lstStyle/>
          <a:p>
            <a:r>
              <a:rPr lang="ro-RO" sz="4300" cap="none" dirty="0">
                <a:latin typeface="Tahoma" panose="020B0604030504040204" pitchFamily="34" charset="0"/>
                <a:ea typeface="Tahoma" panose="020B0604030504040204" pitchFamily="34" charset="0"/>
                <a:cs typeface="Tahoma" panose="020B0604030504040204" pitchFamily="34" charset="0"/>
              </a:rPr>
              <a:t>Datele utilizatorilor (</a:t>
            </a:r>
            <a:r>
              <a:rPr lang="ro-RO" sz="4300" i="1" cap="none" dirty="0">
                <a:latin typeface="Tahoma" panose="020B0604030504040204" pitchFamily="34" charset="0"/>
                <a:ea typeface="Tahoma" panose="020B0604030504040204" pitchFamily="34" charset="0"/>
                <a:cs typeface="Tahoma" panose="020B0604030504040204" pitchFamily="34" charset="0"/>
              </a:rPr>
              <a:t>user data</a:t>
            </a:r>
            <a:r>
              <a:rPr lang="ro-RO" sz="4300" cap="none" dirty="0">
                <a:latin typeface="Tahoma" panose="020B0604030504040204" pitchFamily="34" charset="0"/>
                <a:ea typeface="Tahoma" panose="020B0604030504040204" pitchFamily="34" charset="0"/>
                <a:cs typeface="Tahoma" panose="020B0604030504040204" pitchFamily="34" charset="0"/>
              </a:rPr>
              <a:t>)</a:t>
            </a:r>
            <a:endParaRPr lang="en-GB" sz="4300" cap="none" dirty="0">
              <a:latin typeface="Tahoma" panose="020B0604030504040204" pitchFamily="34" charset="0"/>
              <a:ea typeface="Tahoma" panose="020B0604030504040204" pitchFamily="34" charset="0"/>
              <a:cs typeface="Tahoma" panose="020B0604030504040204" pitchFamily="34" charset="0"/>
            </a:endParaRPr>
          </a:p>
        </p:txBody>
      </p:sp>
      <p:pic>
        <p:nvPicPr>
          <p:cNvPr id="13" name="Picture 12" descr="White puzzle with one red piece">
            <a:extLst>
              <a:ext uri="{FF2B5EF4-FFF2-40B4-BE49-F238E27FC236}">
                <a16:creationId xmlns:a16="http://schemas.microsoft.com/office/drawing/2014/main" id="{03F261CC-1E3F-F1EC-B67D-17A0EB598515}"/>
              </a:ext>
            </a:extLst>
          </p:cNvPr>
          <p:cNvPicPr>
            <a:picLocks noChangeAspect="1"/>
          </p:cNvPicPr>
          <p:nvPr/>
        </p:nvPicPr>
        <p:blipFill rotWithShape="1">
          <a:blip r:embed="rId3"/>
          <a:srcRect l="30428" r="28825" b="2"/>
          <a:stretch/>
        </p:blipFill>
        <p:spPr>
          <a:xfrm>
            <a:off x="404226" y="10"/>
            <a:ext cx="3840480" cy="5301586"/>
          </a:xfrm>
          <a:prstGeom prst="rect">
            <a:avLst/>
          </a:prstGeom>
          <a:ln w="57150" cmpd="thinThick">
            <a:solidFill>
              <a:schemeClr val="bg1">
                <a:lumMod val="50000"/>
              </a:schemeClr>
            </a:solidFill>
            <a:miter lim="800000"/>
          </a:ln>
        </p:spPr>
      </p:pic>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701906" y="762000"/>
            <a:ext cx="6380777" cy="4612586"/>
          </a:xfrm>
        </p:spPr>
        <p:txBody>
          <a:bodyPr>
            <a:normAutofit/>
          </a:bodyPr>
          <a:lstStyle/>
          <a:p>
            <a:pPr>
              <a:buClrTx/>
            </a:pPr>
            <a:r>
              <a:rPr lang="ro-RO" sz="2400" cap="none" dirty="0">
                <a:latin typeface="Tahoma" panose="020B0604030504040204" pitchFamily="34" charset="0"/>
                <a:ea typeface="Tahoma" panose="020B0604030504040204" pitchFamily="34" charset="0"/>
                <a:cs typeface="Tahoma" panose="020B0604030504040204" pitchFamily="34" charset="0"/>
              </a:rPr>
              <a:t>Meniuri de tip </a:t>
            </a:r>
            <a:r>
              <a:rPr lang="ro-RO" sz="2400" i="1" cap="none" dirty="0">
                <a:latin typeface="Tahoma" panose="020B0604030504040204" pitchFamily="34" charset="0"/>
                <a:ea typeface="Tahoma" panose="020B0604030504040204" pitchFamily="34" charset="0"/>
                <a:cs typeface="Tahoma" panose="020B0604030504040204" pitchFamily="34" charset="0"/>
              </a:rPr>
              <a:t>drop-down </a:t>
            </a:r>
            <a:r>
              <a:rPr lang="ro-RO" sz="2400" cap="none" dirty="0">
                <a:latin typeface="Tahoma" panose="020B0604030504040204" pitchFamily="34" charset="0"/>
                <a:ea typeface="Tahoma" panose="020B0604030504040204" pitchFamily="34" charset="0"/>
                <a:cs typeface="Tahoma" panose="020B0604030504040204" pitchFamily="34" charset="0"/>
              </a:rPr>
              <a:t>pentru date</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a:t>
            </a:r>
            <a:r>
              <a:rPr lang="ro-RO" i="1" cap="none" dirty="0">
                <a:latin typeface="Tahoma" panose="020B0604030504040204" pitchFamily="34" charset="0"/>
                <a:ea typeface="Tahoma" panose="020B0604030504040204" pitchFamily="34" charset="0"/>
                <a:cs typeface="Tahoma" panose="020B0604030504040204" pitchFamily="34" charset="0"/>
              </a:rPr>
              <a:t>Drop-down </a:t>
            </a:r>
            <a:r>
              <a:rPr lang="ro-RO" cap="none" dirty="0">
                <a:latin typeface="Tahoma" panose="020B0604030504040204" pitchFamily="34" charset="0"/>
                <a:ea typeface="Tahoma" panose="020B0604030504040204" pitchFamily="34" charset="0"/>
                <a:cs typeface="Tahoma" panose="020B0604030504040204" pitchFamily="34" charset="0"/>
              </a:rPr>
              <a:t>pentru dată/lună, câmp numeric pentru an</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Soluții de </a:t>
            </a:r>
            <a:r>
              <a:rPr lang="ro-RO" i="1" cap="none" dirty="0">
                <a:latin typeface="Tahoma" panose="020B0604030504040204" pitchFamily="34" charset="0"/>
                <a:ea typeface="Tahoma" panose="020B0604030504040204" pitchFamily="34" charset="0"/>
                <a:cs typeface="Tahoma" panose="020B0604030504040204" pitchFamily="34" charset="0"/>
              </a:rPr>
              <a:t>design </a:t>
            </a:r>
            <a:r>
              <a:rPr lang="ro-RO" cap="none" dirty="0">
                <a:latin typeface="Tahoma" panose="020B0604030504040204" pitchFamily="34" charset="0"/>
                <a:ea typeface="Tahoma" panose="020B0604030504040204" pitchFamily="34" charset="0"/>
                <a:cs typeface="Tahoma" panose="020B0604030504040204" pitchFamily="34" charset="0"/>
              </a:rPr>
              <a:t>responsiv bazate pe caracteristici native ale dispozitivelor acolo unde este posibil (de exemplu </a:t>
            </a:r>
            <a:r>
              <a:rPr lang="ro-RO" i="1" cap="none" dirty="0">
                <a:latin typeface="Tahoma" panose="020B0604030504040204" pitchFamily="34" charset="0"/>
                <a:ea typeface="Tahoma" panose="020B0604030504040204" pitchFamily="34" charset="0"/>
                <a:cs typeface="Tahoma" panose="020B0604030504040204" pitchFamily="34" charset="0"/>
              </a:rPr>
              <a:t>date picker</a:t>
            </a:r>
            <a:r>
              <a:rPr lang="ro-RO" cap="none" dirty="0">
                <a:latin typeface="Tahoma" panose="020B0604030504040204" pitchFamily="34" charset="0"/>
                <a:ea typeface="Tahoma" panose="020B0604030504040204" pitchFamily="34" charset="0"/>
                <a:cs typeface="Tahoma" panose="020B0604030504040204" pitchFamily="34" charset="0"/>
              </a:rPr>
              <a:t>)</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Excepții/adaptare pentru sistemele de tip </a:t>
            </a:r>
            <a:r>
              <a:rPr lang="ro-RO" i="1" cap="none" dirty="0">
                <a:latin typeface="Tahoma" panose="020B0604030504040204" pitchFamily="34" charset="0"/>
                <a:ea typeface="Tahoma" panose="020B0604030504040204" pitchFamily="34" charset="0"/>
                <a:cs typeface="Tahoma" panose="020B0604030504040204" pitchFamily="34" charset="0"/>
              </a:rPr>
              <a:t>enterprise</a:t>
            </a:r>
            <a:endParaRPr lang="ro-RO" cap="none" dirty="0">
              <a:latin typeface="Tahoma" panose="020B0604030504040204" pitchFamily="34" charset="0"/>
              <a:ea typeface="Tahoma" panose="020B0604030504040204" pitchFamily="34" charset="0"/>
              <a:cs typeface="Tahoma" panose="020B0604030504040204" pitchFamily="34" charset="0"/>
            </a:endParaRPr>
          </a:p>
          <a:p>
            <a:pPr lvl="1">
              <a:buClrTx/>
              <a:buFont typeface="Courier New" panose="02070309020205020404" pitchFamily="49" charset="0"/>
              <a:buChar char="o"/>
            </a:pPr>
            <a:endParaRPr lang="ro-RO" cap="none" dirty="0">
              <a:latin typeface="Tahoma" panose="020B0604030504040204" pitchFamily="34" charset="0"/>
              <a:ea typeface="Tahoma" panose="020B0604030504040204" pitchFamily="34" charset="0"/>
              <a:cs typeface="Tahoma" panose="020B0604030504040204" pitchFamily="34" charset="0"/>
            </a:endParaRPr>
          </a:p>
          <a:p>
            <a:pPr lvl="1">
              <a:buClrTx/>
              <a:buFont typeface="Courier New" panose="02070309020205020404" pitchFamily="49" charset="0"/>
              <a:buChar char="o"/>
            </a:pPr>
            <a:endParaRPr lang="ro-RO"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30572321"/>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556186" y="0"/>
            <a:ext cx="6940489" cy="1151965"/>
          </a:xfrm>
        </p:spPr>
        <p:txBody>
          <a:bodyPr>
            <a:normAutofit fontScale="90000"/>
          </a:bodyPr>
          <a:lstStyle/>
          <a:p>
            <a:r>
              <a:rPr lang="ro-RO" sz="4300" cap="none" dirty="0">
                <a:latin typeface="Tahoma" panose="020B0604030504040204" pitchFamily="34" charset="0"/>
                <a:ea typeface="Tahoma" panose="020B0604030504040204" pitchFamily="34" charset="0"/>
                <a:cs typeface="Tahoma" panose="020B0604030504040204" pitchFamily="34" charset="0"/>
              </a:rPr>
              <a:t>Datele utilizatorilor (</a:t>
            </a:r>
            <a:r>
              <a:rPr lang="ro-RO" sz="4300" i="1" cap="none" dirty="0">
                <a:latin typeface="Tahoma" panose="020B0604030504040204" pitchFamily="34" charset="0"/>
                <a:ea typeface="Tahoma" panose="020B0604030504040204" pitchFamily="34" charset="0"/>
                <a:cs typeface="Tahoma" panose="020B0604030504040204" pitchFamily="34" charset="0"/>
              </a:rPr>
              <a:t>user data</a:t>
            </a:r>
            <a:r>
              <a:rPr lang="ro-RO" sz="4300" cap="none" dirty="0">
                <a:latin typeface="Tahoma" panose="020B0604030504040204" pitchFamily="34" charset="0"/>
                <a:ea typeface="Tahoma" panose="020B0604030504040204" pitchFamily="34" charset="0"/>
                <a:cs typeface="Tahoma" panose="020B0604030504040204" pitchFamily="34" charset="0"/>
              </a:rPr>
              <a:t>)</a:t>
            </a:r>
            <a:endParaRPr lang="en-GB" sz="4300" cap="none" dirty="0">
              <a:latin typeface="Tahoma" panose="020B0604030504040204" pitchFamily="34" charset="0"/>
              <a:ea typeface="Tahoma" panose="020B0604030504040204" pitchFamily="34" charset="0"/>
              <a:cs typeface="Tahoma" panose="020B0604030504040204" pitchFamily="34" charset="0"/>
            </a:endParaRPr>
          </a:p>
        </p:txBody>
      </p:sp>
      <p:pic>
        <p:nvPicPr>
          <p:cNvPr id="13" name="Picture 12" descr="White puzzle with one red piece">
            <a:extLst>
              <a:ext uri="{FF2B5EF4-FFF2-40B4-BE49-F238E27FC236}">
                <a16:creationId xmlns:a16="http://schemas.microsoft.com/office/drawing/2014/main" id="{03F261CC-1E3F-F1EC-B67D-17A0EB598515}"/>
              </a:ext>
            </a:extLst>
          </p:cNvPr>
          <p:cNvPicPr>
            <a:picLocks noChangeAspect="1"/>
          </p:cNvPicPr>
          <p:nvPr/>
        </p:nvPicPr>
        <p:blipFill rotWithShape="1">
          <a:blip r:embed="rId3"/>
          <a:srcRect l="30428" r="28825" b="2"/>
          <a:stretch/>
        </p:blipFill>
        <p:spPr>
          <a:xfrm>
            <a:off x="404226" y="10"/>
            <a:ext cx="3840480" cy="5301586"/>
          </a:xfrm>
          <a:prstGeom prst="rect">
            <a:avLst/>
          </a:prstGeom>
          <a:ln w="57150" cmpd="thinThick">
            <a:solidFill>
              <a:schemeClr val="bg1">
                <a:lumMod val="50000"/>
              </a:schemeClr>
            </a:solidFill>
            <a:miter lim="800000"/>
          </a:ln>
        </p:spPr>
      </p:pic>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701906" y="762000"/>
            <a:ext cx="6380777" cy="4612586"/>
          </a:xfrm>
        </p:spPr>
        <p:txBody>
          <a:bodyPr>
            <a:normAutofit/>
          </a:bodyPr>
          <a:lstStyle/>
          <a:p>
            <a:pPr>
              <a:buClrTx/>
            </a:pPr>
            <a:r>
              <a:rPr lang="ro-RO" sz="2400" cap="none" dirty="0">
                <a:latin typeface="Tahoma" panose="020B0604030504040204" pitchFamily="34" charset="0"/>
                <a:ea typeface="Tahoma" panose="020B0604030504040204" pitchFamily="34" charset="0"/>
                <a:cs typeface="Tahoma" panose="020B0604030504040204" pitchFamily="34" charset="0"/>
              </a:rPr>
              <a:t>Plata cu cardul</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Există deja un model mental legat de astfel de plăți</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Colectarea minimului de informații (nr card, data expirării, cod CVV). Nu informații inutile pentru plată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Caractere cât mai ușor de citit, introducere a numărului fără spații, dar splitare vizuală. Dacă este introdus un spațiu, acesta poate fi eliminat.</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Eventual text ajutător (unde poate fi citit CVV)</a:t>
            </a:r>
          </a:p>
          <a:p>
            <a:pPr lvl="1">
              <a:buClrTx/>
              <a:buFont typeface="Courier New" panose="02070309020205020404" pitchFamily="49" charset="0"/>
              <a:buChar char="o"/>
            </a:pPr>
            <a:endParaRPr lang="ro-RO"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0484945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556186" y="0"/>
            <a:ext cx="6940489" cy="1151965"/>
          </a:xfrm>
        </p:spPr>
        <p:txBody>
          <a:bodyPr>
            <a:normAutofit fontScale="90000"/>
          </a:bodyPr>
          <a:lstStyle/>
          <a:p>
            <a:r>
              <a:rPr lang="ro-RO" sz="4300" cap="none" dirty="0">
                <a:latin typeface="Tahoma" panose="020B0604030504040204" pitchFamily="34" charset="0"/>
                <a:ea typeface="Tahoma" panose="020B0604030504040204" pitchFamily="34" charset="0"/>
                <a:cs typeface="Tahoma" panose="020B0604030504040204" pitchFamily="34" charset="0"/>
              </a:rPr>
              <a:t>Datele utilizatorilor (</a:t>
            </a:r>
            <a:r>
              <a:rPr lang="ro-RO" sz="4300" i="1" cap="none" dirty="0">
                <a:latin typeface="Tahoma" panose="020B0604030504040204" pitchFamily="34" charset="0"/>
                <a:ea typeface="Tahoma" panose="020B0604030504040204" pitchFamily="34" charset="0"/>
                <a:cs typeface="Tahoma" panose="020B0604030504040204" pitchFamily="34" charset="0"/>
              </a:rPr>
              <a:t>user data</a:t>
            </a:r>
            <a:r>
              <a:rPr lang="ro-RO" sz="4300" cap="none" dirty="0">
                <a:latin typeface="Tahoma" panose="020B0604030504040204" pitchFamily="34" charset="0"/>
                <a:ea typeface="Tahoma" panose="020B0604030504040204" pitchFamily="34" charset="0"/>
                <a:cs typeface="Tahoma" panose="020B0604030504040204" pitchFamily="34" charset="0"/>
              </a:rPr>
              <a:t>)</a:t>
            </a:r>
            <a:endParaRPr lang="en-GB" sz="4300" cap="none" dirty="0">
              <a:latin typeface="Tahoma" panose="020B0604030504040204" pitchFamily="34" charset="0"/>
              <a:ea typeface="Tahoma" panose="020B0604030504040204" pitchFamily="34" charset="0"/>
              <a:cs typeface="Tahoma" panose="020B0604030504040204" pitchFamily="34" charset="0"/>
            </a:endParaRPr>
          </a:p>
        </p:txBody>
      </p:sp>
      <p:pic>
        <p:nvPicPr>
          <p:cNvPr id="13" name="Picture 12" descr="White puzzle with one red piece">
            <a:extLst>
              <a:ext uri="{FF2B5EF4-FFF2-40B4-BE49-F238E27FC236}">
                <a16:creationId xmlns:a16="http://schemas.microsoft.com/office/drawing/2014/main" id="{03F261CC-1E3F-F1EC-B67D-17A0EB598515}"/>
              </a:ext>
            </a:extLst>
          </p:cNvPr>
          <p:cNvPicPr>
            <a:picLocks noChangeAspect="1"/>
          </p:cNvPicPr>
          <p:nvPr/>
        </p:nvPicPr>
        <p:blipFill rotWithShape="1">
          <a:blip r:embed="rId3"/>
          <a:srcRect l="30428" r="28825" b="2"/>
          <a:stretch/>
        </p:blipFill>
        <p:spPr>
          <a:xfrm>
            <a:off x="404226" y="10"/>
            <a:ext cx="3840480" cy="5301586"/>
          </a:xfrm>
          <a:prstGeom prst="rect">
            <a:avLst/>
          </a:prstGeom>
          <a:ln w="57150" cmpd="thinThick">
            <a:solidFill>
              <a:schemeClr val="bg1">
                <a:lumMod val="50000"/>
              </a:schemeClr>
            </a:solidFill>
            <a:miter lim="800000"/>
          </a:ln>
        </p:spPr>
      </p:pic>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701906" y="762000"/>
            <a:ext cx="6380777" cy="4612586"/>
          </a:xfrm>
        </p:spPr>
        <p:txBody>
          <a:bodyPr>
            <a:normAutofit/>
          </a:bodyPr>
          <a:lstStyle/>
          <a:p>
            <a:pPr>
              <a:buClrTx/>
            </a:pPr>
            <a:r>
              <a:rPr lang="ro-RO" sz="2400" cap="none" dirty="0">
                <a:latin typeface="Tahoma" panose="020B0604030504040204" pitchFamily="34" charset="0"/>
                <a:ea typeface="Tahoma" panose="020B0604030504040204" pitchFamily="34" charset="0"/>
                <a:cs typeface="Tahoma" panose="020B0604030504040204" pitchFamily="34" charset="0"/>
              </a:rPr>
              <a:t>Coduri poștale</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Formatul este variabil pe mapamond</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Eventuală validare pe componenta server</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Servicii de tip </a:t>
            </a:r>
            <a:r>
              <a:rPr lang="ro-RO" i="1" cap="none" dirty="0">
                <a:latin typeface="Tahoma" panose="020B0604030504040204" pitchFamily="34" charset="0"/>
                <a:ea typeface="Tahoma" panose="020B0604030504040204" pitchFamily="34" charset="0"/>
                <a:cs typeface="Tahoma" panose="020B0604030504040204" pitchFamily="34" charset="0"/>
              </a:rPr>
              <a:t>Live lookup</a:t>
            </a:r>
            <a:endParaRPr lang="ro-RO" cap="none" dirty="0">
              <a:latin typeface="Tahoma" panose="020B0604030504040204" pitchFamily="34" charset="0"/>
              <a:ea typeface="Tahoma" panose="020B0604030504040204" pitchFamily="34" charset="0"/>
              <a:cs typeface="Tahoma" panose="020B0604030504040204" pitchFamily="34" charset="0"/>
            </a:endParaRP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La completarea adresei: țara la început (evitarea situației în care o alegere greșită a țării duce la ștergerea câmpurilor anterior completate)</a:t>
            </a:r>
          </a:p>
        </p:txBody>
      </p:sp>
    </p:spTree>
    <p:extLst>
      <p:ext uri="{BB962C8B-B14F-4D97-AF65-F5344CB8AC3E}">
        <p14:creationId xmlns:p14="http://schemas.microsoft.com/office/powerpoint/2010/main" val="35842006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556186" y="0"/>
            <a:ext cx="6940489" cy="1151965"/>
          </a:xfrm>
        </p:spPr>
        <p:txBody>
          <a:bodyPr>
            <a:normAutofit fontScale="90000"/>
          </a:bodyPr>
          <a:lstStyle/>
          <a:p>
            <a:r>
              <a:rPr lang="ro-RO" sz="4300" cap="none" dirty="0">
                <a:latin typeface="Tahoma" panose="020B0604030504040204" pitchFamily="34" charset="0"/>
                <a:ea typeface="Tahoma" panose="020B0604030504040204" pitchFamily="34" charset="0"/>
                <a:cs typeface="Tahoma" panose="020B0604030504040204" pitchFamily="34" charset="0"/>
              </a:rPr>
              <a:t>Datele utilizatorilor (</a:t>
            </a:r>
            <a:r>
              <a:rPr lang="ro-RO" sz="4300" i="1" cap="none" dirty="0">
                <a:latin typeface="Tahoma" panose="020B0604030504040204" pitchFamily="34" charset="0"/>
                <a:ea typeface="Tahoma" panose="020B0604030504040204" pitchFamily="34" charset="0"/>
                <a:cs typeface="Tahoma" panose="020B0604030504040204" pitchFamily="34" charset="0"/>
              </a:rPr>
              <a:t>user data</a:t>
            </a:r>
            <a:r>
              <a:rPr lang="ro-RO" sz="4300" cap="none" dirty="0">
                <a:latin typeface="Tahoma" panose="020B0604030504040204" pitchFamily="34" charset="0"/>
                <a:ea typeface="Tahoma" panose="020B0604030504040204" pitchFamily="34" charset="0"/>
                <a:cs typeface="Tahoma" panose="020B0604030504040204" pitchFamily="34" charset="0"/>
              </a:rPr>
              <a:t>)</a:t>
            </a:r>
            <a:endParaRPr lang="en-GB" sz="4300" cap="none" dirty="0">
              <a:latin typeface="Tahoma" panose="020B0604030504040204" pitchFamily="34" charset="0"/>
              <a:ea typeface="Tahoma" panose="020B0604030504040204" pitchFamily="34" charset="0"/>
              <a:cs typeface="Tahoma" panose="020B0604030504040204" pitchFamily="34" charset="0"/>
            </a:endParaRPr>
          </a:p>
        </p:txBody>
      </p:sp>
      <p:pic>
        <p:nvPicPr>
          <p:cNvPr id="13" name="Picture 12" descr="White puzzle with one red piece">
            <a:extLst>
              <a:ext uri="{FF2B5EF4-FFF2-40B4-BE49-F238E27FC236}">
                <a16:creationId xmlns:a16="http://schemas.microsoft.com/office/drawing/2014/main" id="{03F261CC-1E3F-F1EC-B67D-17A0EB598515}"/>
              </a:ext>
            </a:extLst>
          </p:cNvPr>
          <p:cNvPicPr>
            <a:picLocks noChangeAspect="1"/>
          </p:cNvPicPr>
          <p:nvPr/>
        </p:nvPicPr>
        <p:blipFill rotWithShape="1">
          <a:blip r:embed="rId3"/>
          <a:srcRect l="30428" r="28825" b="2"/>
          <a:stretch/>
        </p:blipFill>
        <p:spPr>
          <a:xfrm>
            <a:off x="404226" y="10"/>
            <a:ext cx="3840480" cy="5301586"/>
          </a:xfrm>
          <a:prstGeom prst="rect">
            <a:avLst/>
          </a:prstGeom>
          <a:ln w="57150" cmpd="thinThick">
            <a:solidFill>
              <a:schemeClr val="bg1">
                <a:lumMod val="50000"/>
              </a:schemeClr>
            </a:solidFill>
            <a:miter lim="800000"/>
          </a:ln>
        </p:spPr>
      </p:pic>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701906" y="762000"/>
            <a:ext cx="6380777" cy="4612586"/>
          </a:xfrm>
        </p:spPr>
        <p:txBody>
          <a:bodyPr>
            <a:normAutofit fontScale="92500" lnSpcReduction="10000"/>
          </a:bodyPr>
          <a:lstStyle/>
          <a:p>
            <a:pPr>
              <a:buClrTx/>
            </a:pPr>
            <a:r>
              <a:rPr lang="ro-RO" sz="2400" cap="none" dirty="0">
                <a:latin typeface="Tahoma" panose="020B0604030504040204" pitchFamily="34" charset="0"/>
                <a:ea typeface="Tahoma" panose="020B0604030504040204" pitchFamily="34" charset="0"/>
                <a:cs typeface="Tahoma" panose="020B0604030504040204" pitchFamily="34" charset="0"/>
              </a:rPr>
              <a:t>Sume pentru plăți</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Este recomandat ca utilizatorul să introducă suma completă, eventual cu zecimală (dacă aceasta nu apare se consideră număr întreg)</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Eventual indicat care este caracterul utilizat pentru separarea zecimalelor / miilor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Adăugarea valorii zecimale separat în interfața de utilizare poate genera confuzii</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Indicarea unor valori prestabilite (de exemplu pentru donații).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NU sistem de indicare a sumei plătite folosind incrementarea unei valori.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Esențial: la final să existe un pas în care utilizatorul să poată vizualiza suma plătită și să confirme</a:t>
            </a:r>
          </a:p>
        </p:txBody>
      </p:sp>
    </p:spTree>
    <p:extLst>
      <p:ext uri="{BB962C8B-B14F-4D97-AF65-F5344CB8AC3E}">
        <p14:creationId xmlns:p14="http://schemas.microsoft.com/office/powerpoint/2010/main" val="166458790"/>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4556186" y="0"/>
            <a:ext cx="6940489" cy="1151965"/>
          </a:xfrm>
        </p:spPr>
        <p:txBody>
          <a:bodyPr>
            <a:normAutofit fontScale="90000"/>
          </a:bodyPr>
          <a:lstStyle/>
          <a:p>
            <a:r>
              <a:rPr lang="ro-RO" sz="4300" cap="none" dirty="0">
                <a:latin typeface="Tahoma" panose="020B0604030504040204" pitchFamily="34" charset="0"/>
                <a:ea typeface="Tahoma" panose="020B0604030504040204" pitchFamily="34" charset="0"/>
                <a:cs typeface="Tahoma" panose="020B0604030504040204" pitchFamily="34" charset="0"/>
              </a:rPr>
              <a:t>Datele utilizatorilor (</a:t>
            </a:r>
            <a:r>
              <a:rPr lang="ro-RO" sz="4300" i="1" cap="none" dirty="0">
                <a:latin typeface="Tahoma" panose="020B0604030504040204" pitchFamily="34" charset="0"/>
                <a:ea typeface="Tahoma" panose="020B0604030504040204" pitchFamily="34" charset="0"/>
                <a:cs typeface="Tahoma" panose="020B0604030504040204" pitchFamily="34" charset="0"/>
              </a:rPr>
              <a:t>user data</a:t>
            </a:r>
            <a:r>
              <a:rPr lang="ro-RO" sz="4300" cap="none" dirty="0">
                <a:latin typeface="Tahoma" panose="020B0604030504040204" pitchFamily="34" charset="0"/>
                <a:ea typeface="Tahoma" panose="020B0604030504040204" pitchFamily="34" charset="0"/>
                <a:cs typeface="Tahoma" panose="020B0604030504040204" pitchFamily="34" charset="0"/>
              </a:rPr>
              <a:t>)</a:t>
            </a:r>
            <a:endParaRPr lang="en-GB" sz="4300" cap="none" dirty="0">
              <a:latin typeface="Tahoma" panose="020B0604030504040204" pitchFamily="34" charset="0"/>
              <a:ea typeface="Tahoma" panose="020B0604030504040204" pitchFamily="34" charset="0"/>
              <a:cs typeface="Tahoma" panose="020B0604030504040204" pitchFamily="34" charset="0"/>
            </a:endParaRPr>
          </a:p>
        </p:txBody>
      </p:sp>
      <p:pic>
        <p:nvPicPr>
          <p:cNvPr id="13" name="Picture 12" descr="White puzzle with one red piece">
            <a:extLst>
              <a:ext uri="{FF2B5EF4-FFF2-40B4-BE49-F238E27FC236}">
                <a16:creationId xmlns:a16="http://schemas.microsoft.com/office/drawing/2014/main" id="{03F261CC-1E3F-F1EC-B67D-17A0EB598515}"/>
              </a:ext>
            </a:extLst>
          </p:cNvPr>
          <p:cNvPicPr>
            <a:picLocks noChangeAspect="1"/>
          </p:cNvPicPr>
          <p:nvPr/>
        </p:nvPicPr>
        <p:blipFill rotWithShape="1">
          <a:blip r:embed="rId3"/>
          <a:srcRect l="30428" r="28825" b="2"/>
          <a:stretch/>
        </p:blipFill>
        <p:spPr>
          <a:xfrm>
            <a:off x="404226" y="10"/>
            <a:ext cx="3840480" cy="5301586"/>
          </a:xfrm>
          <a:prstGeom prst="rect">
            <a:avLst/>
          </a:prstGeom>
          <a:ln w="57150" cmpd="thinThick">
            <a:solidFill>
              <a:schemeClr val="bg1">
                <a:lumMod val="50000"/>
              </a:schemeClr>
            </a:solidFill>
            <a:miter lim="800000"/>
          </a:ln>
        </p:spPr>
      </p:pic>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701906" y="762000"/>
            <a:ext cx="6380777" cy="4612586"/>
          </a:xfrm>
        </p:spPr>
        <p:txBody>
          <a:bodyPr>
            <a:normAutofit/>
          </a:bodyPr>
          <a:lstStyle/>
          <a:p>
            <a:pPr>
              <a:buClrTx/>
            </a:pPr>
            <a:r>
              <a:rPr lang="ro-RO" sz="2400" cap="none" dirty="0">
                <a:latin typeface="Tahoma" panose="020B0604030504040204" pitchFamily="34" charset="0"/>
                <a:ea typeface="Tahoma" panose="020B0604030504040204" pitchFamily="34" charset="0"/>
                <a:cs typeface="Tahoma" panose="020B0604030504040204" pitchFamily="34" charset="0"/>
              </a:rPr>
              <a:t>Încărcarea imaginilor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Utilizatorul să poată selecta un fișier sau să realizeze o fotografie (îndeosebi pe dispozitive mobile/tablete) - utilizarea funcționalităților dispozitivului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Abordare adecvată dacă sunt selectate mai multe imagini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Opțiuni de editare a imaginii (decupare, rotire)</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Formate cât mai variate </a:t>
            </a:r>
          </a:p>
          <a:p>
            <a:pPr lvl="1">
              <a:buClrTx/>
              <a:buFont typeface="Courier New" panose="02070309020205020404" pitchFamily="49" charset="0"/>
              <a:buChar char="o"/>
            </a:pPr>
            <a:r>
              <a:rPr lang="ro-RO" cap="none" dirty="0">
                <a:latin typeface="Tahoma" panose="020B0604030504040204" pitchFamily="34" charset="0"/>
                <a:ea typeface="Tahoma" panose="020B0604030504040204" pitchFamily="34" charset="0"/>
                <a:cs typeface="Tahoma" panose="020B0604030504040204" pitchFamily="34" charset="0"/>
              </a:rPr>
              <a:t> Informații despre progresul încărcării imaginii </a:t>
            </a:r>
          </a:p>
          <a:p>
            <a:pPr marL="457200" lvl="1" indent="0">
              <a:buClrTx/>
              <a:buNone/>
            </a:pPr>
            <a:endParaRPr lang="ro-RO" cap="none"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4357120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54915C5-707B-4B29-9E6B-116367F84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0191" cy="6858000"/>
          </a:xfrm>
          <a:custGeom>
            <a:avLst/>
            <a:gdLst>
              <a:gd name="connsiteX0" fmla="*/ 1 w 4061802"/>
              <a:gd name="connsiteY0" fmla="*/ 0 h 6858000"/>
              <a:gd name="connsiteX1" fmla="*/ 4059081 w 4061802"/>
              <a:gd name="connsiteY1" fmla="*/ 0 h 6858000"/>
              <a:gd name="connsiteX2" fmla="*/ 4059081 w 4061802"/>
              <a:gd name="connsiteY2" fmla="*/ 2339825 h 6858000"/>
              <a:gd name="connsiteX3" fmla="*/ 4061802 w 4061802"/>
              <a:gd name="connsiteY3" fmla="*/ 2339683 h 6858000"/>
              <a:gd name="connsiteX4" fmla="*/ 4061802 w 4061802"/>
              <a:gd name="connsiteY4" fmla="*/ 3776054 h 6858000"/>
              <a:gd name="connsiteX5" fmla="*/ 4059081 w 4061802"/>
              <a:gd name="connsiteY5" fmla="*/ 3776199 h 6858000"/>
              <a:gd name="connsiteX6" fmla="*/ 4059081 w 4061802"/>
              <a:gd name="connsiteY6" fmla="*/ 6858000 h 6858000"/>
              <a:gd name="connsiteX7" fmla="*/ 1 w 4061802"/>
              <a:gd name="connsiteY7" fmla="*/ 6858000 h 6858000"/>
              <a:gd name="connsiteX8" fmla="*/ 1 w 4061802"/>
              <a:gd name="connsiteY8" fmla="*/ 3992604 h 6858000"/>
              <a:gd name="connsiteX9" fmla="*/ 0 w 4061802"/>
              <a:gd name="connsiteY9" fmla="*/ 3992604 h 6858000"/>
              <a:gd name="connsiteX10" fmla="*/ 0 w 4061802"/>
              <a:gd name="connsiteY10" fmla="*/ 2552279 h 6858000"/>
              <a:gd name="connsiteX11" fmla="*/ 1 w 4061802"/>
              <a:gd name="connsiteY11" fmla="*/ 25522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61802" h="6858000">
                <a:moveTo>
                  <a:pt x="1" y="0"/>
                </a:moveTo>
                <a:lnTo>
                  <a:pt x="4059081" y="0"/>
                </a:lnTo>
                <a:lnTo>
                  <a:pt x="4059081" y="2339825"/>
                </a:lnTo>
                <a:lnTo>
                  <a:pt x="4061802" y="2339683"/>
                </a:lnTo>
                <a:lnTo>
                  <a:pt x="4061802" y="3776054"/>
                </a:lnTo>
                <a:lnTo>
                  <a:pt x="4059081" y="3776199"/>
                </a:lnTo>
                <a:lnTo>
                  <a:pt x="4059081" y="6858000"/>
                </a:lnTo>
                <a:lnTo>
                  <a:pt x="1" y="6858000"/>
                </a:lnTo>
                <a:lnTo>
                  <a:pt x="1" y="3992604"/>
                </a:lnTo>
                <a:lnTo>
                  <a:pt x="0" y="3992604"/>
                </a:lnTo>
                <a:lnTo>
                  <a:pt x="0" y="2552279"/>
                </a:lnTo>
                <a:lnTo>
                  <a:pt x="1" y="2552279"/>
                </a:lnTo>
                <a:close/>
              </a:path>
            </a:pathLst>
          </a:custGeom>
          <a:gradFill flip="none" rotWithShape="1">
            <a:gsLst>
              <a:gs pos="34000">
                <a:schemeClr val="accent1"/>
              </a:gs>
              <a:gs pos="100000">
                <a:schemeClr val="accent1">
                  <a:lumMod val="50000"/>
                </a:schemeClr>
              </a:gs>
            </a:gsLst>
            <a:lin ang="3600000" scaled="0"/>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ED20AF3F-1B3C-BEA0-56E9-4F6C63341F52}"/>
              </a:ext>
            </a:extLst>
          </p:cNvPr>
          <p:cNvSpPr>
            <a:spLocks noGrp="1"/>
          </p:cNvSpPr>
          <p:nvPr>
            <p:ph type="title"/>
          </p:nvPr>
        </p:nvSpPr>
        <p:spPr>
          <a:xfrm>
            <a:off x="643467" y="1226122"/>
            <a:ext cx="3054268" cy="4405756"/>
          </a:xfrm>
        </p:spPr>
        <p:txBody>
          <a:bodyPr anchor="ctr">
            <a:normAutofit/>
          </a:bodyPr>
          <a:lstStyle/>
          <a:p>
            <a:r>
              <a:rPr lang="ro-RO" sz="3600" cap="none" dirty="0">
                <a:solidFill>
                  <a:srgbClr val="FFFFFF"/>
                </a:solidFill>
                <a:latin typeface="Tahoma" panose="020B0604030504040204" pitchFamily="34" charset="0"/>
                <a:ea typeface="Tahoma" panose="020B0604030504040204" pitchFamily="34" charset="0"/>
                <a:cs typeface="Tahoma" panose="020B0604030504040204" pitchFamily="34" charset="0"/>
              </a:rPr>
              <a:t>Progres</a:t>
            </a:r>
            <a:br>
              <a:rPr lang="ro-RO" sz="3600" cap="none" dirty="0">
                <a:solidFill>
                  <a:srgbClr val="FFFFFF"/>
                </a:solidFill>
                <a:latin typeface="Tahoma" panose="020B0604030504040204" pitchFamily="34" charset="0"/>
                <a:ea typeface="Tahoma" panose="020B0604030504040204" pitchFamily="34" charset="0"/>
                <a:cs typeface="Tahoma" panose="020B0604030504040204" pitchFamily="34" charset="0"/>
              </a:rPr>
            </a:br>
            <a:br>
              <a:rPr lang="ro-RO" sz="3600" cap="none" dirty="0">
                <a:solidFill>
                  <a:srgbClr val="FFFFFF"/>
                </a:solidFill>
                <a:latin typeface="Tahoma" panose="020B0604030504040204" pitchFamily="34" charset="0"/>
                <a:ea typeface="Tahoma" panose="020B0604030504040204" pitchFamily="34" charset="0"/>
                <a:cs typeface="Tahoma" panose="020B0604030504040204" pitchFamily="34" charset="0"/>
              </a:rPr>
            </a:br>
            <a:r>
              <a:rPr lang="ro-RO" sz="1800" cap="none" dirty="0">
                <a:solidFill>
                  <a:schemeClr val="bg1"/>
                </a:solidFill>
                <a:latin typeface="Tahoma" panose="020B0604030504040204" pitchFamily="34"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https://www.nngroup.com/articles/progress-indicators/</a:t>
            </a:r>
            <a:r>
              <a:rPr lang="ro-RO" sz="1800" cap="none" dirty="0">
                <a:solidFill>
                  <a:schemeClr val="bg1"/>
                </a:solidFill>
                <a:latin typeface="Tahoma" panose="020B0604030504040204" pitchFamily="34" charset="0"/>
                <a:ea typeface="Tahoma" panose="020B0604030504040204" pitchFamily="34" charset="0"/>
                <a:cs typeface="Tahoma" panose="020B0604030504040204" pitchFamily="34" charset="0"/>
              </a:rPr>
              <a:t> </a:t>
            </a:r>
            <a:endParaRPr lang="en-GB" sz="3600" cap="non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0" name="Rectangle 9">
            <a:extLst>
              <a:ext uri="{FF2B5EF4-FFF2-40B4-BE49-F238E27FC236}">
                <a16:creationId xmlns:a16="http://schemas.microsoft.com/office/drawing/2014/main" id="{26B8E032-9914-4C00-B51A-C2DA16271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1733" cy="6858000"/>
          </a:xfrm>
          <a:prstGeom prst="rect">
            <a:avLst/>
          </a:prstGeom>
          <a:solidFill>
            <a:schemeClr val="accent1">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43B4841E-E6B6-48C3-BA02-F73659C6D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1802" y="1"/>
            <a:ext cx="8130198" cy="6857999"/>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BC4C7098-6506-AF1F-15D7-F6395C46C1A5}"/>
              </a:ext>
            </a:extLst>
          </p:cNvPr>
          <p:cNvSpPr>
            <a:spLocks noGrp="1"/>
          </p:cNvSpPr>
          <p:nvPr>
            <p:ph sz="quarter" idx="13"/>
          </p:nvPr>
        </p:nvSpPr>
        <p:spPr>
          <a:xfrm>
            <a:off x="4554461" y="738909"/>
            <a:ext cx="6526045" cy="4892969"/>
          </a:xfrm>
        </p:spPr>
        <p:txBody>
          <a:bodyPr anchor="ctr">
            <a:normAutofit/>
          </a:bodyPr>
          <a:lstStyle/>
          <a:p>
            <a:pPr>
              <a:buClrTx/>
            </a:pPr>
            <a:r>
              <a:rPr lang="ro-RO"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Bară de progres - o singură bară pentru întreaga operațiune, punctul de start și punctul de final să fie clare, NU o serie întreagă</a:t>
            </a:r>
          </a:p>
          <a:p>
            <a:pPr>
              <a:buClrTx/>
            </a:pPr>
            <a:r>
              <a:rPr lang="ro-RO"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La bara de progres poate fi adăugat un câmp numeric, indicând procentul de completare sau un interval de timp (acesta este, totuși, mai greu de evaluat/controlat)</a:t>
            </a:r>
          </a:p>
          <a:p>
            <a:pPr>
              <a:buClrTx/>
            </a:pPr>
            <a:r>
              <a:rPr lang="ro-RO"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Pictogramă de tip </a:t>
            </a:r>
            <a:r>
              <a:rPr lang="ro-RO" i="1"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spinner</a:t>
            </a:r>
            <a:r>
              <a:rPr lang="ro-RO"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 dacă nu poate fi estimat timpul rămas / procentul de finalizare. Eventual reactualizat pe parcurs (</a:t>
            </a:r>
            <a:r>
              <a:rPr lang="ro-RO" i="1"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se întâmplă ceva</a:t>
            </a:r>
            <a:r>
              <a:rPr lang="ro-RO"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 Dacă apar probleme: oprit / îndepărtat (ideea de interactivitate/comunicare cu utilizatorul). </a:t>
            </a:r>
            <a:endParaRPr lang="ro-RO" sz="1600" cap="none"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21461697"/>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15293D4D15E14792C01B7E44673E5E" ma:contentTypeVersion="4" ma:contentTypeDescription="Create a new document." ma:contentTypeScope="" ma:versionID="37ea4191f3194631469a0f75c4b18dde">
  <xsd:schema xmlns:xsd="http://www.w3.org/2001/XMLSchema" xmlns:xs="http://www.w3.org/2001/XMLSchema" xmlns:p="http://schemas.microsoft.com/office/2006/metadata/properties" xmlns:ns2="6ea603f4-8a4c-4125-8c3d-c3b4140172b4" targetNamespace="http://schemas.microsoft.com/office/2006/metadata/properties" ma:root="true" ma:fieldsID="8b48946b341a9e90e791dd9a4ba5b9ff" ns2:_="">
    <xsd:import namespace="6ea603f4-8a4c-4125-8c3d-c3b4140172b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a603f4-8a4c-4125-8c3d-c3b4140172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E7B5462-1202-47E9-8D8C-B7F87EF321D8}"/>
</file>

<file path=customXml/itemProps2.xml><?xml version="1.0" encoding="utf-8"?>
<ds:datastoreItem xmlns:ds="http://schemas.openxmlformats.org/officeDocument/2006/customXml" ds:itemID="{A05179F1-11E2-4493-BF8F-474F9B777ACD}"/>
</file>

<file path=customXml/itemProps3.xml><?xml version="1.0" encoding="utf-8"?>
<ds:datastoreItem xmlns:ds="http://schemas.openxmlformats.org/officeDocument/2006/customXml" ds:itemID="{9AF7E74D-3825-4A80-A84C-27D60E0D13C0}"/>
</file>

<file path=docProps/app.xml><?xml version="1.0" encoding="utf-8"?>
<Properties xmlns="http://schemas.openxmlformats.org/officeDocument/2006/extended-properties" xmlns:vt="http://schemas.openxmlformats.org/officeDocument/2006/docPropsVTypes">
  <Template>Main Event</Template>
  <TotalTime>8171</TotalTime>
  <Words>2057</Words>
  <Application>Microsoft Office PowerPoint</Application>
  <PresentationFormat>Widescreen</PresentationFormat>
  <Paragraphs>179</Paragraphs>
  <Slides>29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Courier New</vt:lpstr>
      <vt:lpstr>Impact</vt:lpstr>
      <vt:lpstr>Tahoma</vt:lpstr>
      <vt:lpstr>Main Event</vt:lpstr>
      <vt:lpstr>Experiența de utilizare și interacțiunea cu utilizatorul UX/UI Design</vt:lpstr>
      <vt:lpstr>6. PRINCIPII DE DESIGN</vt:lpstr>
      <vt:lpstr>Principii de design</vt:lpstr>
      <vt:lpstr>Principii de design</vt:lpstr>
      <vt:lpstr>Pictograme (iconography)</vt:lpstr>
      <vt:lpstr>Pictograme (iconography)</vt:lpstr>
      <vt:lpstr>Pictograme (iconography)</vt:lpstr>
      <vt:lpstr>Pictograme (iconography)</vt:lpstr>
      <vt:lpstr>Pictograme (iconography)</vt:lpstr>
      <vt:lpstr>Elemente de input</vt:lpstr>
      <vt:lpstr>Elemente de input</vt:lpstr>
      <vt:lpstr>Elemente de input</vt:lpstr>
      <vt:lpstr>Elemente de input</vt:lpstr>
      <vt:lpstr>Elemente de input</vt:lpstr>
      <vt:lpstr>Elemente de input</vt:lpstr>
      <vt:lpstr>Elemente de input</vt:lpstr>
      <vt:lpstr>Formulare</vt:lpstr>
      <vt:lpstr>Formulare</vt:lpstr>
      <vt:lpstr>Formulare</vt:lpstr>
      <vt:lpstr>Formulare</vt:lpstr>
      <vt:lpstr>Formulare</vt:lpstr>
      <vt:lpstr>Formulare</vt:lpstr>
      <vt:lpstr>Datele utilizatorilor (user data)</vt:lpstr>
      <vt:lpstr>Datele utilizatorilor (user data)</vt:lpstr>
      <vt:lpstr>Datele utilizatorilor (user data)</vt:lpstr>
      <vt:lpstr>Datele utilizatorilor (user data)</vt:lpstr>
      <vt:lpstr>Datele utilizatorilor (user data)</vt:lpstr>
      <vt:lpstr>Datele utilizatorilor (user data)</vt:lpstr>
      <vt:lpstr>Progres  https://www.nngroup.com/articles/progress-indicators/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Mihai Sorin Stupariu</dc:creator>
  <cp:lastModifiedBy>Mihai Sorin Stupariu</cp:lastModifiedBy>
  <cp:revision>577</cp:revision>
  <dcterms:created xsi:type="dcterms:W3CDTF">2023-02-16T13:01:46Z</dcterms:created>
  <dcterms:modified xsi:type="dcterms:W3CDTF">2024-04-14T19:11:22Z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0x0101008A15293D4D15E14792C01B7E44673E5E</vt:lpwstr>
  </property>
</Properties>
</file>