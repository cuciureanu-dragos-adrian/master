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98" r:id="rId1"/>
  </p:sldMasterIdLst>
  <p:notesMasterIdLst>
    <p:notesMasterId r:id="rId10"/>
  </p:notesMasterIdLst>
  <p:sldIdLst>
    <p:sldId id="256" r:id="rId2"/>
    <p:sldId id="372" r:id="rId3"/>
    <p:sldId id="370" r:id="rId4"/>
    <p:sldId id="376" r:id="rId5"/>
    <p:sldId id="373" r:id="rId6"/>
    <p:sldId id="377" r:id="rId7"/>
    <p:sldId id="374" r:id="rId8"/>
    <p:sldId id="36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D8235AE-4C38-4C16-AAE8-E5DB9181E816}">
          <p14:sldIdLst>
            <p14:sldId id="256"/>
            <p14:sldId id="372"/>
            <p14:sldId id="370"/>
            <p14:sldId id="376"/>
            <p14:sldId id="373"/>
            <p14:sldId id="377"/>
            <p14:sldId id="374"/>
            <p14:sldId id="3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EA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8B9C94-9BAA-4009-B5E6-A00A3DA994E8}" v="1" dt="2024-05-29T13:26:07.7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hai Sorin Stupariu" userId="9325f0a2-807e-4494-81c6-34e78a3af472" providerId="ADAL" clId="{878B9C94-9BAA-4009-B5E6-A00A3DA994E8}"/>
    <pc:docChg chg="custSel modSld">
      <pc:chgData name="Mihai Sorin Stupariu" userId="9325f0a2-807e-4494-81c6-34e78a3af472" providerId="ADAL" clId="{878B9C94-9BAA-4009-B5E6-A00A3DA994E8}" dt="2024-05-29T13:25:44.668" v="0" actId="3626"/>
      <pc:docMkLst>
        <pc:docMk/>
      </pc:docMkLst>
      <pc:sldChg chg="modSp mod">
        <pc:chgData name="Mihai Sorin Stupariu" userId="9325f0a2-807e-4494-81c6-34e78a3af472" providerId="ADAL" clId="{878B9C94-9BAA-4009-B5E6-A00A3DA994E8}" dt="2024-05-29T13:25:44.668" v="0" actId="3626"/>
        <pc:sldMkLst>
          <pc:docMk/>
          <pc:sldMk cId="565654939" sldId="361"/>
        </pc:sldMkLst>
        <pc:spChg chg="mod">
          <ac:chgData name="Mihai Sorin Stupariu" userId="9325f0a2-807e-4494-81c6-34e78a3af472" providerId="ADAL" clId="{878B9C94-9BAA-4009-B5E6-A00A3DA994E8}" dt="2024-05-29T13:25:44.668" v="0" actId="3626"/>
          <ac:spMkLst>
            <pc:docMk/>
            <pc:sldMk cId="565654939" sldId="361"/>
            <ac:spMk id="3" creationId="{24C94F22-93AA-8A9C-CBD2-4BED7E908CA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28ADED-99B5-4593-AC97-948B10095E73}" type="datetimeFigureOut">
              <a:rPr lang="en-GB" smtClean="0"/>
              <a:t>29/05/2024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907B23-44BF-4274-99EE-5A1AB3FC95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743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907B23-44BF-4274-99EE-5A1AB3FC95D8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0139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5/29/2024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4761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pPr/>
              <a:t>5/29/2024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337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5/29/2024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9805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pPr/>
              <a:t>5/29/2024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742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pPr/>
              <a:t>5/29/2024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5452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5/29/2024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524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5/29/2024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360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C1E1FAD-7351-4908-963A-08EA8E4AB7A0}" type="datetimeFigureOut">
              <a:rPr lang="en-US" smtClean="0"/>
              <a:pPr/>
              <a:t>5/29/2024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CF2D47E-0AF1-4C27-801F-64E3E5BF7F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5/29/2024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738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pPr/>
              <a:t>5/29/2024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672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pPr/>
              <a:t>5/29/2024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73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pPr/>
              <a:t>5/29/2024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707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C1E1FAD-7351-4908-963A-08EA8E4AB7A0}" type="datetimeFigureOut">
              <a:rPr lang="en-US" smtClean="0"/>
              <a:pPr/>
              <a:t>5/29/2024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CF2D47E-0AF1-4C27-801F-64E3E5BF7F7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145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99" r:id="rId1"/>
    <p:sldLayoutId id="2147484400" r:id="rId2"/>
    <p:sldLayoutId id="2147484401" r:id="rId3"/>
    <p:sldLayoutId id="2147484402" r:id="rId4"/>
    <p:sldLayoutId id="2147484403" r:id="rId5"/>
    <p:sldLayoutId id="2147484404" r:id="rId6"/>
    <p:sldLayoutId id="2147484405" r:id="rId7"/>
    <p:sldLayoutId id="2147484406" r:id="rId8"/>
    <p:sldLayoutId id="2147484407" r:id="rId9"/>
    <p:sldLayoutId id="2147484408" r:id="rId10"/>
    <p:sldLayoutId id="2147484409" r:id="rId11"/>
    <p:sldLayoutId id="2147484410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www.agilealliance.org/agile101/12-principles-behind-the-agile-manifesto/" TargetMode="External"/><Relationship Id="rId4" Type="http://schemas.openxmlformats.org/officeDocument/2006/relationships/hyperlink" Target="https://citeseerx.ist.psu.edu/document?repid=rep1&amp;type=pdf&amp;doi=ed7e2fc3411f2353f9b79f03e11259b0d39db44b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slide" Target="slide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hyperlink" Target="https://unibucro0.sharepoint.com/:f:/r/sites/UXUIDesign100/Class%20Materials/Materiale%20articole?csf=1&amp;web=1&amp;e=uKGFNu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ftp/arxiv/papers/2204/2204.11329.pdf" TargetMode="External"/><Relationship Id="rId5" Type="http://schemas.openxmlformats.org/officeDocument/2006/relationships/hyperlink" Target="https://ase.cpsc.ucalgary.ca/wp-content/uploads/2018/08/tiago-article.pdf" TargetMode="External"/><Relationship Id="rId4" Type="http://schemas.openxmlformats.org/officeDocument/2006/relationships/hyperlink" Target="https://www.sciencedirect.com/science/article/pii/S095058492200101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4C143-C00F-011F-D6D3-E661091ABC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64612" y="1275959"/>
            <a:ext cx="4087306" cy="2889114"/>
          </a:xfrm>
        </p:spPr>
        <p:txBody>
          <a:bodyPr anchor="b">
            <a:normAutofit/>
          </a:bodyPr>
          <a:lstStyle/>
          <a:p>
            <a:pPr algn="l"/>
            <a:r>
              <a:rPr lang="en-GB" sz="3400" b="1" i="0" dirty="0" err="1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Experien</a:t>
            </a:r>
            <a:r>
              <a:rPr lang="ro-RO" sz="3400" b="1" i="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ța de utilizare și interacțiunea cu utilizatorul</a:t>
            </a:r>
            <a:br>
              <a:rPr lang="ro-RO" sz="3400" b="1" i="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</a:br>
            <a:r>
              <a:rPr lang="ro-RO" sz="3400" b="1" i="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UX/UI Design</a:t>
            </a:r>
            <a:endParaRPr lang="en-GB" sz="3400" b="1" i="0" dirty="0">
              <a:latin typeface="Courier New" panose="02070309020205020404" pitchFamily="49" charset="0"/>
              <a:ea typeface="Tahoma" panose="020B0604030504040204" pitchFamily="34" charset="0"/>
              <a:cs typeface="Courier New" panose="02070309020205020404" pitchFamily="49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CB0EF9-0780-DB11-85D8-1EED3A2A3F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64612" y="4750893"/>
            <a:ext cx="4087305" cy="1147863"/>
          </a:xfrm>
        </p:spPr>
        <p:txBody>
          <a:bodyPr anchor="t">
            <a:normAutofit/>
          </a:bodyPr>
          <a:lstStyle/>
          <a:p>
            <a:pPr algn="l"/>
            <a:r>
              <a:rPr lang="ro-RO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Mihai-Sorin Stupariu</a:t>
            </a:r>
          </a:p>
          <a:p>
            <a:pPr algn="l"/>
            <a:r>
              <a:rPr lang="ro-RO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2022-2023</a:t>
            </a:r>
            <a:endParaRPr lang="en-GB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20" name="Picture 3" descr="Lightbulb idea concept">
            <a:extLst>
              <a:ext uri="{FF2B5EF4-FFF2-40B4-BE49-F238E27FC236}">
                <a16:creationId xmlns:a16="http://schemas.microsoft.com/office/drawing/2014/main" id="{A636C389-5482-1FDB-2F0A-A5A010A489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1589" b="-1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409094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8">
            <a:extLst>
              <a:ext uri="{FF2B5EF4-FFF2-40B4-BE49-F238E27FC236}">
                <a16:creationId xmlns:a16="http://schemas.microsoft.com/office/drawing/2014/main" id="{25C8D2C1-DA83-420D-9635-D52CE066B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4" name="Rectangle 10">
            <a:extLst>
              <a:ext uri="{FF2B5EF4-FFF2-40B4-BE49-F238E27FC236}">
                <a16:creationId xmlns:a16="http://schemas.microsoft.com/office/drawing/2014/main" id="{434F74C9-6A0B-409E-AD1C-45B58BE91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25" name="Straight Connector 12">
            <a:extLst>
              <a:ext uri="{FF2B5EF4-FFF2-40B4-BE49-F238E27FC236}">
                <a16:creationId xmlns:a16="http://schemas.microsoft.com/office/drawing/2014/main" id="{F5486A9D-1265-4B57-91E6-68E666B97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79253E6-104A-0EC8-1732-5378A3646AF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</a:blip>
          <a:srcRect t="19738" b="18787"/>
          <a:stretch/>
        </p:blipFill>
        <p:spPr>
          <a:xfrm rot="43200000">
            <a:off x="20" y="-66473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98465DE-CB0A-7BF6-610A-29B36ED20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8951"/>
            <a:ext cx="10058400" cy="2935225"/>
          </a:xfr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 sz="8000" dirty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9. Agile UX</a:t>
            </a:r>
            <a:r>
              <a:rPr lang="ro-RO" sz="8000" dirty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lang="en-US" sz="8000" dirty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</p:txBody>
      </p:sp>
      <p:cxnSp>
        <p:nvCxnSpPr>
          <p:cNvPr id="26" name="Straight Connector 14">
            <a:extLst>
              <a:ext uri="{FF2B5EF4-FFF2-40B4-BE49-F238E27FC236}">
                <a16:creationId xmlns:a16="http://schemas.microsoft.com/office/drawing/2014/main" id="{77AB95BF-57D0-4E49-9EF2-408B47C8D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16">
            <a:extLst>
              <a:ext uri="{FF2B5EF4-FFF2-40B4-BE49-F238E27FC236}">
                <a16:creationId xmlns:a16="http://schemas.microsoft.com/office/drawing/2014/main" id="{1C520CBD-F82E-44E4-BDA5-128716AD7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8" name="Rectangle 18">
            <a:extLst>
              <a:ext uri="{FF2B5EF4-FFF2-40B4-BE49-F238E27FC236}">
                <a16:creationId xmlns:a16="http://schemas.microsoft.com/office/drawing/2014/main" id="{4618AE32-A526-42FC-A854-732740BD3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6786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0FBAD-B7CC-5FD3-96AD-6D37CAC2B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775" y="656168"/>
            <a:ext cx="7786254" cy="821264"/>
          </a:xfrm>
        </p:spPr>
        <p:txBody>
          <a:bodyPr>
            <a:normAutofit/>
          </a:bodyPr>
          <a:lstStyle/>
          <a:p>
            <a:r>
              <a:rPr lang="ro-RO" sz="4400" i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Waterfall versus Agile</a:t>
            </a:r>
            <a:endParaRPr lang="en-GB" sz="4400" i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9F91F-E1D9-DCE2-2301-E91E26347A0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84310" y="2666999"/>
            <a:ext cx="5781730" cy="3124201"/>
          </a:xfrm>
        </p:spPr>
        <p:txBody>
          <a:bodyPr>
            <a:normAutofit/>
          </a:bodyPr>
          <a:lstStyle/>
          <a:p>
            <a:r>
              <a:rPr lang="ro-RO" sz="22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en-GB" sz="2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DB4D2E-25FC-E024-4B6D-FA1718F87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775" y="1797534"/>
            <a:ext cx="10458450" cy="45506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E93F490-C7B3-EFB9-8095-D53081E2DA14}"/>
              </a:ext>
            </a:extLst>
          </p:cNvPr>
          <p:cNvSpPr txBox="1"/>
          <p:nvPr/>
        </p:nvSpPr>
        <p:spPr>
          <a:xfrm>
            <a:off x="4051558" y="6441969"/>
            <a:ext cx="43997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Sursa: </a:t>
            </a:r>
            <a:r>
              <a:rPr lang="ro-RO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4"/>
              </a:rPr>
              <a:t>Beck, 1999</a:t>
            </a:r>
            <a:r>
              <a:rPr lang="ro-RO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v. și </a:t>
            </a:r>
            <a:r>
              <a:rPr lang="ro-RO" i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5"/>
              </a:rPr>
              <a:t>Agile Manifesto</a:t>
            </a:r>
            <a:endParaRPr lang="en-GB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8271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20">
            <a:extLst>
              <a:ext uri="{FF2B5EF4-FFF2-40B4-BE49-F238E27FC236}">
                <a16:creationId xmlns:a16="http://schemas.microsoft.com/office/drawing/2014/main" id="{44CC594A-A820-450F-B363-C19201FCF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22">
            <a:extLst>
              <a:ext uri="{FF2B5EF4-FFF2-40B4-BE49-F238E27FC236}">
                <a16:creationId xmlns:a16="http://schemas.microsoft.com/office/drawing/2014/main" id="{59FAB3DA-E9ED-4574-ABCC-378BC0FF1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2C2C9B-C7BC-DE5C-44B7-2E721B10C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2103875"/>
          </a:xfrm>
        </p:spPr>
        <p:txBody>
          <a:bodyPr>
            <a:normAutofit/>
          </a:bodyPr>
          <a:lstStyle/>
          <a:p>
            <a:r>
              <a:rPr lang="ro-RO" sz="36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Fluxul specific abordării </a:t>
            </a:r>
            <a:r>
              <a:rPr lang="ro-RO" sz="3600" i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Agile</a:t>
            </a:r>
            <a:endParaRPr lang="en-GB" sz="3600" i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C64DF-6256-A20B-4244-CA52120B4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71" y="2653800"/>
            <a:ext cx="3084844" cy="3335519"/>
          </a:xfrm>
        </p:spPr>
        <p:txBody>
          <a:bodyPr>
            <a:normAutofit/>
          </a:bodyPr>
          <a:lstStyle/>
          <a:p>
            <a:r>
              <a:rPr lang="ro-RO" sz="150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en-GB" sz="1500" b="1" dirty="0">
              <a:solidFill>
                <a:srgbClr val="FFFF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7" name="Rectangle 24">
            <a:extLst>
              <a:ext uri="{FF2B5EF4-FFF2-40B4-BE49-F238E27FC236}">
                <a16:creationId xmlns:a16="http://schemas.microsoft.com/office/drawing/2014/main" id="{53B8D6B0-55D6-48DC-86D8-FD95D5F11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16" name="Picture 4">
            <a:extLst>
              <a:ext uri="{FF2B5EF4-FFF2-40B4-BE49-F238E27FC236}">
                <a16:creationId xmlns:a16="http://schemas.microsoft.com/office/drawing/2014/main" id="{7FBE27E0-96EB-E0B9-366D-0CB4F764CA2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2" b="1402"/>
          <a:stretch/>
        </p:blipFill>
        <p:spPr>
          <a:xfrm>
            <a:off x="4658949" y="640079"/>
            <a:ext cx="6780690" cy="57330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8A91507-56C5-0FE3-CE64-60CB8E8F72AF}"/>
              </a:ext>
            </a:extLst>
          </p:cNvPr>
          <p:cNvSpPr txBox="1"/>
          <p:nvPr/>
        </p:nvSpPr>
        <p:spPr>
          <a:xfrm>
            <a:off x="6670934" y="6373090"/>
            <a:ext cx="3101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Sursa: Hartson și Pyla, 2019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8919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E948B-BDA3-F99B-484E-B5B71346F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5056" y="328757"/>
            <a:ext cx="8442450" cy="1091045"/>
          </a:xfrm>
        </p:spPr>
        <p:txBody>
          <a:bodyPr>
            <a:normAutofit/>
          </a:bodyPr>
          <a:lstStyle/>
          <a:p>
            <a:pPr algn="ctr"/>
            <a:r>
              <a:rPr lang="en-GB" sz="36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funnel model</a:t>
            </a:r>
            <a:endParaRPr lang="en-GB" sz="3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1E38B7E-AA60-04D1-711F-7C6A0FF8EC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813338" y="1744795"/>
            <a:ext cx="6781798" cy="4582114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1F6CD3-547A-E34D-BFBC-C80080916324}"/>
              </a:ext>
            </a:extLst>
          </p:cNvPr>
          <p:cNvSpPr txBox="1"/>
          <p:nvPr/>
        </p:nvSpPr>
        <p:spPr>
          <a:xfrm>
            <a:off x="4876801" y="6467236"/>
            <a:ext cx="2835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</a:rPr>
              <a:t>Sursa: Hartson și Pyla, 2019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10942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43A1B-6B78-A7DD-D65A-B17DBF58D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609" y="764372"/>
            <a:ext cx="3173688" cy="5216013"/>
          </a:xfrm>
        </p:spPr>
        <p:txBody>
          <a:bodyPr>
            <a:normAutofit/>
          </a:bodyPr>
          <a:lstStyle/>
          <a:p>
            <a:pPr algn="l"/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Comparații și comentarii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7DE8C-990B-4E28-2AE3-3020071C6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0138" y="1474347"/>
            <a:ext cx="7086600" cy="5216013"/>
          </a:xfrm>
        </p:spPr>
        <p:txBody>
          <a:bodyPr anchor="ctr">
            <a:normAutofit/>
          </a:bodyPr>
          <a:lstStyle/>
          <a:p>
            <a:r>
              <a:rPr lang="ro-RO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Livrabile în cele două modele.</a:t>
            </a:r>
          </a:p>
          <a:p>
            <a:r>
              <a:rPr lang="ro-RO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Identificarea unor posibile corecții pe parcursul dezvoltării produsului/sistemului. </a:t>
            </a:r>
            <a:r>
              <a:rPr lang="ro-RO" sz="1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Agile</a:t>
            </a:r>
            <a:r>
              <a:rPr lang="ro-RO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este legat de rapiditate/schimbare pe parcursul unui proces.</a:t>
            </a:r>
          </a:p>
          <a:p>
            <a:r>
              <a:rPr lang="ro-RO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Evoluția divergențelor între ideile originale și înțelegerea modului în care acestea se schimbă.</a:t>
            </a:r>
          </a:p>
          <a:p>
            <a:r>
              <a:rPr lang="ro-RO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Caracteristici ale paradigmei </a:t>
            </a:r>
            <a:r>
              <a:rPr lang="ro-RO" sz="1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Agile: </a:t>
            </a:r>
            <a:r>
              <a:rPr lang="ro-RO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standardul </a:t>
            </a:r>
            <a:r>
              <a:rPr lang="ro-RO" sz="1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 facto </a:t>
            </a:r>
            <a:r>
              <a:rPr lang="ro-RO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 industrie, incrementală, iterativă, bazată pe teste, se livrează frecvent mici elemente funcționale, în mod tradițional nu a fost legată de </a:t>
            </a:r>
            <a:r>
              <a:rPr lang="ro-RO" sz="1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UX</a:t>
            </a:r>
            <a:r>
              <a:rPr lang="ro-RO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  <a:p>
            <a:r>
              <a:rPr lang="ro-RO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ro-RO" sz="1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Agile </a:t>
            </a:r>
            <a:r>
              <a:rPr lang="ro-RO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înseamnă mai mult decât rapiditate. Receptivitate la schimbări. Focus asupra produsului, nu a procesului.</a:t>
            </a:r>
          </a:p>
          <a:p>
            <a:r>
              <a:rPr lang="ro-RO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ro-RO" sz="1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Agile UX </a:t>
            </a:r>
            <a:r>
              <a:rPr lang="ro-RO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are nevoie și de rapiditate – nu cu focus unic. </a:t>
            </a:r>
          </a:p>
          <a:p>
            <a:r>
              <a:rPr lang="ro-RO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ro-RO" sz="1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Chunking </a:t>
            </a:r>
            <a:r>
              <a:rPr lang="ro-RO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relație client/UX/SE. 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Slide Zoom 4">
                <a:extLst>
                  <a:ext uri="{FF2B5EF4-FFF2-40B4-BE49-F238E27FC236}">
                    <a16:creationId xmlns:a16="http://schemas.microsoft.com/office/drawing/2014/main" id="{CC452B10-A7C0-EB7D-7A4C-B8838D37495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29310253"/>
                  </p:ext>
                </p:extLst>
              </p:nvPr>
            </p:nvGraphicFramePr>
            <p:xfrm>
              <a:off x="7915564" y="5892351"/>
              <a:ext cx="674254" cy="379268"/>
            </p:xfrm>
            <a:graphic>
              <a:graphicData uri="http://schemas.microsoft.com/office/powerpoint/2016/slidezoom">
                <pslz:sldZm>
                  <pslz:sldZmObj sldId="374" cId="823911282">
                    <pslz:zmPr id="{93B5D63A-84BF-4C56-A994-2DEF122A2128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74254" cy="37926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Slide Zoom 4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CC452B10-A7C0-EB7D-7A4C-B8838D37495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15564" y="5892351"/>
                <a:ext cx="674254" cy="37926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06878217"/>
      </p:ext>
    </p:extLst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230A27-1553-42F8-99D7-829868E13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72232D-B4D6-429F-B3D1-2D9891B85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bg2"/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7E948B-BDA3-F99B-484E-B5B71346F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030" y="963997"/>
            <a:ext cx="3569393" cy="4938361"/>
          </a:xfrm>
        </p:spPr>
        <p:txBody>
          <a:bodyPr anchor="ctr">
            <a:normAutofit/>
          </a:bodyPr>
          <a:lstStyle/>
          <a:p>
            <a:pPr algn="r"/>
            <a:r>
              <a:rPr lang="ro-RO" sz="4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Interacțiunea</a:t>
            </a:r>
            <a:br>
              <a:rPr lang="ro-RO" sz="4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o-RO" sz="4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client-UX-SE </a:t>
            </a:r>
            <a:endParaRPr lang="en-GB" sz="4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2CC3441-26B3-4381-B3DF-8AE3C288B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0251" y="2057399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DCA77-30E8-C3C3-B099-D6B9FFE2A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882" y="963507"/>
            <a:ext cx="6135097" cy="4938851"/>
          </a:xfrm>
        </p:spPr>
        <p:txBody>
          <a:bodyPr anchor="ctr">
            <a:normAutofit/>
          </a:bodyPr>
          <a:lstStyle/>
          <a:p>
            <a:r>
              <a:rPr lang="ro-RO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17E9CD-ABF0-7BCF-0540-A3F5B5021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0251" y="2057398"/>
            <a:ext cx="7039396" cy="27432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59C0948-C61F-6F8C-B9F0-26A4F8449182}"/>
              </a:ext>
            </a:extLst>
          </p:cNvPr>
          <p:cNvSpPr txBox="1"/>
          <p:nvPr/>
        </p:nvSpPr>
        <p:spPr>
          <a:xfrm>
            <a:off x="6707800" y="4775953"/>
            <a:ext cx="3101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Sursa: Hartson și Pyla, 2019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3911282"/>
      </p:ext>
    </p:extLst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bstract blurred public library with bookshelves">
            <a:extLst>
              <a:ext uri="{FF2B5EF4-FFF2-40B4-BE49-F238E27FC236}">
                <a16:creationId xmlns:a16="http://schemas.microsoft.com/office/drawing/2014/main" id="{EFA8825D-A74C-5EC5-040B-527F4D22C8D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42" r="35381" b="-1"/>
          <a:stretch/>
        </p:blipFill>
        <p:spPr>
          <a:xfrm>
            <a:off x="6892924" y="10"/>
            <a:ext cx="5299077" cy="6857990"/>
          </a:xfrm>
          <a:custGeom>
            <a:avLst/>
            <a:gdLst/>
            <a:ahLst/>
            <a:cxnLst/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727EDC-DF4A-652E-637E-577C77DEE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2916" y="725055"/>
            <a:ext cx="5260680" cy="683490"/>
          </a:xfrm>
        </p:spPr>
        <p:txBody>
          <a:bodyPr>
            <a:normAutofit fontScale="90000"/>
          </a:bodyPr>
          <a:lstStyle/>
          <a:p>
            <a:pPr algn="l"/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Articole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94F22-93AA-8A9C-CBD2-4BED7E908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2666999"/>
            <a:ext cx="6422350" cy="3124201"/>
          </a:xfrm>
        </p:spPr>
        <p:txBody>
          <a:bodyPr>
            <a:normAutofit/>
          </a:bodyPr>
          <a:lstStyle/>
          <a:p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4"/>
              </a:rPr>
              <a:t>Hindkers et al., 2022: </a:t>
            </a:r>
            <a:r>
              <a:rPr lang="en-GB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4"/>
              </a:rPr>
              <a:t>Approaches to manage the user experience process in Agile software</a:t>
            </a:r>
            <a:r>
              <a:rPr lang="ro-RO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4"/>
              </a:rPr>
              <a:t> </a:t>
            </a:r>
            <a:r>
              <a:rPr lang="en-GB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4"/>
              </a:rPr>
              <a:t>development: A systematic literature review</a:t>
            </a:r>
            <a:r>
              <a:rPr lang="ro-RO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4"/>
              </a:rPr>
              <a:t>. </a:t>
            </a:r>
            <a:endParaRPr lang="ro-RO" sz="20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5"/>
              </a:rPr>
              <a:t>Da Silva et al., 2019: </a:t>
            </a:r>
            <a:r>
              <a:rPr lang="en-GB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5"/>
              </a:rPr>
              <a:t>The evolution of agile UXD</a:t>
            </a:r>
            <a:r>
              <a:rPr lang="ro-RO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6"/>
              </a:rPr>
              <a:t>Alhammad &amp; Moreno, 2022: </a:t>
            </a:r>
            <a:r>
              <a:rPr lang="en-GB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6"/>
              </a:rPr>
              <a:t>Integrating User Experience into Agile</a:t>
            </a:r>
            <a:r>
              <a:rPr lang="ro-RO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6"/>
              </a:rPr>
              <a:t>.</a:t>
            </a:r>
            <a:endParaRPr lang="ro-RO" sz="20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ro-RO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.... 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articolele din 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7"/>
              </a:rPr>
              <a:t>folderul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pe grup</a:t>
            </a:r>
            <a:endParaRPr lang="ro-RO" sz="20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GB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5654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A15293D4D15E14792C01B7E44673E5E" ma:contentTypeVersion="4" ma:contentTypeDescription="Create a new document." ma:contentTypeScope="" ma:versionID="37ea4191f3194631469a0f75c4b18dde">
  <xsd:schema xmlns:xsd="http://www.w3.org/2001/XMLSchema" xmlns:xs="http://www.w3.org/2001/XMLSchema" xmlns:p="http://schemas.microsoft.com/office/2006/metadata/properties" xmlns:ns2="6ea603f4-8a4c-4125-8c3d-c3b4140172b4" targetNamespace="http://schemas.microsoft.com/office/2006/metadata/properties" ma:root="true" ma:fieldsID="8b48946b341a9e90e791dd9a4ba5b9ff" ns2:_="">
    <xsd:import namespace="6ea603f4-8a4c-4125-8c3d-c3b4140172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a603f4-8a4c-4125-8c3d-c3b4140172b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FBB55F3-B854-45DB-8863-16CE4F426BD8}"/>
</file>

<file path=customXml/itemProps2.xml><?xml version="1.0" encoding="utf-8"?>
<ds:datastoreItem xmlns:ds="http://schemas.openxmlformats.org/officeDocument/2006/customXml" ds:itemID="{10613669-6E99-44F2-8BFD-51AB50B6B34B}"/>
</file>

<file path=customXml/itemProps3.xml><?xml version="1.0" encoding="utf-8"?>
<ds:datastoreItem xmlns:ds="http://schemas.openxmlformats.org/officeDocument/2006/customXml" ds:itemID="{71B2CE6F-168A-4556-8D41-0E4909470AC2}"/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8695</TotalTime>
  <Words>257</Words>
  <Application>Microsoft Office PowerPoint</Application>
  <PresentationFormat>Widescreen</PresentationFormat>
  <Paragraphs>29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Calibri</vt:lpstr>
      <vt:lpstr>Calibri Light</vt:lpstr>
      <vt:lpstr>Courier New</vt:lpstr>
      <vt:lpstr>Tahoma</vt:lpstr>
      <vt:lpstr>Retrospect</vt:lpstr>
      <vt:lpstr>Experiența de utilizare și interacțiunea cu utilizatorul UX/UI Design</vt:lpstr>
      <vt:lpstr>9. Agile UXD. </vt:lpstr>
      <vt:lpstr>Waterfall versus Agile</vt:lpstr>
      <vt:lpstr>Fluxul specific abordării Agile</vt:lpstr>
      <vt:lpstr>The funnel model</vt:lpstr>
      <vt:lpstr>Comparații și comentarii</vt:lpstr>
      <vt:lpstr>Interacțiunea client-UX-SE </vt:lpstr>
      <vt:lpstr>Articole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Mihai Sorin Stupariu</dc:creator>
  <cp:lastModifiedBy>Mihai Sorin Stupariu</cp:lastModifiedBy>
  <cp:revision>502</cp:revision>
  <dcterms:created xsi:type="dcterms:W3CDTF">2023-02-16T13:01:46Z</dcterms:created>
  <dcterms:modified xsi:type="dcterms:W3CDTF">2024-05-29T13:26:07Z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0x0101008A15293D4D15E14792C01B7E44673E5E</vt:lpwstr>
  </property>
</Properties>
</file>